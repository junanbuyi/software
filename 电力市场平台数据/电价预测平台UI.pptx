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30"/>
  </p:notesMasterIdLst>
  <p:sldIdLst>
    <p:sldId id="256" r:id="rId3"/>
    <p:sldId id="266" r:id="rId4"/>
    <p:sldId id="258" r:id="rId5"/>
    <p:sldId id="270" r:id="rId6"/>
    <p:sldId id="259" r:id="rId7"/>
    <p:sldId id="267" r:id="rId8"/>
    <p:sldId id="269" r:id="rId9"/>
    <p:sldId id="265" r:id="rId10"/>
    <p:sldId id="272" r:id="rId11"/>
    <p:sldId id="273" r:id="rId12"/>
    <p:sldId id="274" r:id="rId13"/>
    <p:sldId id="287" r:id="rId14"/>
    <p:sldId id="288" r:id="rId15"/>
    <p:sldId id="286" r:id="rId16"/>
    <p:sldId id="290" r:id="rId17"/>
    <p:sldId id="291" r:id="rId18"/>
    <p:sldId id="292" r:id="rId19"/>
    <p:sldId id="293" r:id="rId20"/>
    <p:sldId id="275" r:id="rId21"/>
    <p:sldId id="285" r:id="rId22"/>
    <p:sldId id="276" r:id="rId23"/>
    <p:sldId id="281" r:id="rId24"/>
    <p:sldId id="280" r:id="rId25"/>
    <p:sldId id="283" r:id="rId26"/>
    <p:sldId id="282" r:id="rId27"/>
    <p:sldId id="289" r:id="rId28"/>
    <p:sldId id="284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9EFF"/>
    <a:srgbClr val="9CA3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945" autoAdjust="0"/>
  </p:normalViewPr>
  <p:slideViewPr>
    <p:cSldViewPr snapToGrid="0">
      <p:cViewPr varScale="1">
        <p:scale>
          <a:sx n="71" d="100"/>
          <a:sy n="71" d="100"/>
        </p:scale>
        <p:origin x="2170" y="2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Users\hyy\Desktop\marketcorecodecalshortterm2025\Case\ROTS%2044\Output\ou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200" b="1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  <a:r>
              <a:rPr lang="zh-CN" altLang="en-US"/>
              <a:t>电力电量平衡表单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200" b="1" i="0" u="none" strike="noStrike" kern="1200" baseline="0">
              <a:solidFill>
                <a:schemeClr val="tx1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Times New Roman" panose="02020603050405020304" charset="0"/>
            </a:defRPr>
          </a:pPr>
          <a:endParaRPr lang="en-US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LevelC_电力电量平衡表单!$A$4</c:f>
              <c:strCache>
                <c:ptCount val="1"/>
                <c:pt idx="0">
                  <c:v>火电功率</c:v>
                </c:pt>
              </c:strCache>
            </c:strRef>
          </c:tx>
          <c:spPr>
            <a:solidFill>
              <a:srgbClr val="FFA379"/>
            </a:solidFill>
            <a:ln>
              <a:noFill/>
            </a:ln>
            <a:effectLst/>
          </c:spPr>
          <c:invertIfNegative val="0"/>
          <c:val>
            <c:numRef>
              <c:f>LevelC_电力电量平衡表单!$B$4:$CS$4</c:f>
              <c:numCache>
                <c:formatCode>General</c:formatCode>
                <c:ptCount val="96"/>
                <c:pt idx="0">
                  <c:v>54.302462362</c:v>
                </c:pt>
                <c:pt idx="1">
                  <c:v>53.626591735557902</c:v>
                </c:pt>
                <c:pt idx="2">
                  <c:v>52.950721109115698</c:v>
                </c:pt>
                <c:pt idx="3">
                  <c:v>52.274850482673699</c:v>
                </c:pt>
                <c:pt idx="4">
                  <c:v>51.598979856231601</c:v>
                </c:pt>
                <c:pt idx="5">
                  <c:v>50.412669205789399</c:v>
                </c:pt>
                <c:pt idx="6">
                  <c:v>49.149792551747403</c:v>
                </c:pt>
                <c:pt idx="7">
                  <c:v>47.8869158977053</c:v>
                </c:pt>
                <c:pt idx="8">
                  <c:v>46.624039243663098</c:v>
                </c:pt>
                <c:pt idx="9">
                  <c:v>45.833730338294799</c:v>
                </c:pt>
                <c:pt idx="10">
                  <c:v>45.210210050105303</c:v>
                </c:pt>
                <c:pt idx="11">
                  <c:v>44.5866897619158</c:v>
                </c:pt>
                <c:pt idx="12">
                  <c:v>43.963169473726303</c:v>
                </c:pt>
                <c:pt idx="13">
                  <c:v>43.658762221368399</c:v>
                </c:pt>
                <c:pt idx="14">
                  <c:v>43.559499063473702</c:v>
                </c:pt>
                <c:pt idx="15">
                  <c:v>43.460235905578898</c:v>
                </c:pt>
                <c:pt idx="16">
                  <c:v>43.360972747684201</c:v>
                </c:pt>
                <c:pt idx="17">
                  <c:v>43.2785465239579</c:v>
                </c:pt>
                <c:pt idx="18">
                  <c:v>43.214487864778903</c:v>
                </c:pt>
                <c:pt idx="19">
                  <c:v>43.150429205599998</c:v>
                </c:pt>
                <c:pt idx="20">
                  <c:v>43.086370546421101</c:v>
                </c:pt>
                <c:pt idx="21">
                  <c:v>43.806339551915798</c:v>
                </c:pt>
                <c:pt idx="22">
                  <c:v>45.996360428673597</c:v>
                </c:pt>
                <c:pt idx="23">
                  <c:v>48.186381305431503</c:v>
                </c:pt>
                <c:pt idx="24">
                  <c:v>50.376402182189501</c:v>
                </c:pt>
                <c:pt idx="25">
                  <c:v>52.6211167551579</c:v>
                </c:pt>
                <c:pt idx="26">
                  <c:v>55.062728634484202</c:v>
                </c:pt>
                <c:pt idx="27">
                  <c:v>57.504340513810597</c:v>
                </c:pt>
                <c:pt idx="28">
                  <c:v>59.945952393136899</c:v>
                </c:pt>
                <c:pt idx="29">
                  <c:v>62.327643648084198</c:v>
                </c:pt>
                <c:pt idx="30">
                  <c:v>64.080168347052606</c:v>
                </c:pt>
                <c:pt idx="31">
                  <c:v>65.832693046021006</c:v>
                </c:pt>
                <c:pt idx="32">
                  <c:v>67.585217744989507</c:v>
                </c:pt>
                <c:pt idx="33">
                  <c:v>69.337742443957893</c:v>
                </c:pt>
                <c:pt idx="34">
                  <c:v>69.291297248863202</c:v>
                </c:pt>
                <c:pt idx="35">
                  <c:v>69.163080694947297</c:v>
                </c:pt>
                <c:pt idx="36">
                  <c:v>69.034864141031605</c:v>
                </c:pt>
                <c:pt idx="37">
                  <c:v>68.9066475871157</c:v>
                </c:pt>
                <c:pt idx="38">
                  <c:v>68.871349056</c:v>
                </c:pt>
                <c:pt idx="39">
                  <c:v>68.855612213894702</c:v>
                </c:pt>
                <c:pt idx="40">
                  <c:v>68.839875371789503</c:v>
                </c:pt>
                <c:pt idx="41">
                  <c:v>68.824138529684205</c:v>
                </c:pt>
                <c:pt idx="42">
                  <c:v>69.006227390989494</c:v>
                </c:pt>
                <c:pt idx="43">
                  <c:v>69.274864997536795</c:v>
                </c:pt>
                <c:pt idx="44">
                  <c:v>69.543502604084196</c:v>
                </c:pt>
                <c:pt idx="45">
                  <c:v>69.812140210631597</c:v>
                </c:pt>
                <c:pt idx="46">
                  <c:v>69.911833906842105</c:v>
                </c:pt>
                <c:pt idx="47">
                  <c:v>69.881570748947397</c:v>
                </c:pt>
                <c:pt idx="48">
                  <c:v>69.851307591052603</c:v>
                </c:pt>
                <c:pt idx="49">
                  <c:v>69.821044433157894</c:v>
                </c:pt>
                <c:pt idx="50">
                  <c:v>69.927623380526299</c:v>
                </c:pt>
                <c:pt idx="51">
                  <c:v>70.212097064736795</c:v>
                </c:pt>
                <c:pt idx="52">
                  <c:v>70.496570748947406</c:v>
                </c:pt>
                <c:pt idx="53">
                  <c:v>70.781044433157902</c:v>
                </c:pt>
                <c:pt idx="54">
                  <c:v>70.894141923641996</c:v>
                </c:pt>
                <c:pt idx="55">
                  <c:v>70.615522399894701</c:v>
                </c:pt>
                <c:pt idx="56">
                  <c:v>70.336902876147306</c:v>
                </c:pt>
                <c:pt idx="57">
                  <c:v>70.058283352399997</c:v>
                </c:pt>
                <c:pt idx="58">
                  <c:v>69.910873498463204</c:v>
                </c:pt>
                <c:pt idx="59">
                  <c:v>70.386709576126293</c:v>
                </c:pt>
                <c:pt idx="60">
                  <c:v>70.862545653789496</c:v>
                </c:pt>
                <c:pt idx="61">
                  <c:v>71.3383817314526</c:v>
                </c:pt>
                <c:pt idx="62">
                  <c:v>71.831077172736798</c:v>
                </c:pt>
                <c:pt idx="63">
                  <c:v>72.694678613684204</c:v>
                </c:pt>
                <c:pt idx="64">
                  <c:v>73.558280054631595</c:v>
                </c:pt>
                <c:pt idx="65">
                  <c:v>74.421881495578901</c:v>
                </c:pt>
                <c:pt idx="66">
                  <c:v>75.285482936526293</c:v>
                </c:pt>
                <c:pt idx="67">
                  <c:v>76.072458794063095</c:v>
                </c:pt>
                <c:pt idx="68">
                  <c:v>76.852136976989399</c:v>
                </c:pt>
                <c:pt idx="69">
                  <c:v>77.631815159915803</c:v>
                </c:pt>
                <c:pt idx="70">
                  <c:v>78.411493342842107</c:v>
                </c:pt>
                <c:pt idx="71">
                  <c:v>78.275935968420995</c:v>
                </c:pt>
                <c:pt idx="72">
                  <c:v>77.886146494736806</c:v>
                </c:pt>
                <c:pt idx="73">
                  <c:v>77.496357021052603</c:v>
                </c:pt>
                <c:pt idx="74">
                  <c:v>77.1065675473684</c:v>
                </c:pt>
                <c:pt idx="75">
                  <c:v>76.421256040421</c:v>
                </c:pt>
                <c:pt idx="76">
                  <c:v>75.578332782399997</c:v>
                </c:pt>
                <c:pt idx="77">
                  <c:v>74.735409524378994</c:v>
                </c:pt>
                <c:pt idx="78">
                  <c:v>73.892486266357807</c:v>
                </c:pt>
                <c:pt idx="79">
                  <c:v>73.027405970105207</c:v>
                </c:pt>
                <c:pt idx="80">
                  <c:v>72.142015055473706</c:v>
                </c:pt>
                <c:pt idx="81">
                  <c:v>71.256624140842106</c:v>
                </c:pt>
                <c:pt idx="82">
                  <c:v>70.371233226210506</c:v>
                </c:pt>
                <c:pt idx="83">
                  <c:v>69.015357396610597</c:v>
                </c:pt>
                <c:pt idx="84">
                  <c:v>66.927616143726297</c:v>
                </c:pt>
                <c:pt idx="85">
                  <c:v>64.839874890842097</c:v>
                </c:pt>
                <c:pt idx="86">
                  <c:v>62.752133637957897</c:v>
                </c:pt>
                <c:pt idx="87">
                  <c:v>60.708551136315798</c:v>
                </c:pt>
                <c:pt idx="88">
                  <c:v>58.790085096526397</c:v>
                </c:pt>
                <c:pt idx="89">
                  <c:v>56.871619056736897</c:v>
                </c:pt>
                <c:pt idx="90">
                  <c:v>54.953153016947297</c:v>
                </c:pt>
                <c:pt idx="91">
                  <c:v>53.011950135052601</c:v>
                </c:pt>
                <c:pt idx="92">
                  <c:v>50.919168305789398</c:v>
                </c:pt>
                <c:pt idx="93">
                  <c:v>48.826386476526203</c:v>
                </c:pt>
                <c:pt idx="94">
                  <c:v>46.733604647263199</c:v>
                </c:pt>
                <c:pt idx="95">
                  <c:v>44.640822817999997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B3-451D-8B29-0849DEB848C3}"/>
            </c:ext>
          </c:extLst>
        </c:ser>
        <c:ser>
          <c:idx val="1"/>
          <c:order val="1"/>
          <c:tx>
            <c:strRef>
              <c:f>LevelC_电力电量平衡表单!$A$5</c:f>
              <c:strCache>
                <c:ptCount val="1"/>
                <c:pt idx="0">
                  <c:v>库容式水电功率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val>
            <c:numRef>
              <c:f>LevelC_电力电量平衡表单!$B$5:$CS$5</c:f>
              <c:numCache>
                <c:formatCode>General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B3-451D-8B29-0849DEB848C3}"/>
            </c:ext>
          </c:extLst>
        </c:ser>
        <c:ser>
          <c:idx val="2"/>
          <c:order val="2"/>
          <c:tx>
            <c:strRef>
              <c:f>LevelC_电力电量平衡表单!$A$6</c:f>
              <c:strCache>
                <c:ptCount val="1"/>
                <c:pt idx="0">
                  <c:v>径流式水电功率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val>
            <c:numRef>
              <c:f>LevelC_电力电量平衡表单!$B$6:$CS$6</c:f>
              <c:numCache>
                <c:formatCode>General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8B3-451D-8B29-0849DEB848C3}"/>
            </c:ext>
          </c:extLst>
        </c:ser>
        <c:ser>
          <c:idx val="3"/>
          <c:order val="3"/>
          <c:tx>
            <c:strRef>
              <c:f>LevelC_电力电量平衡表单!$A$7</c:f>
              <c:strCache>
                <c:ptCount val="1"/>
                <c:pt idx="0">
                  <c:v>风电消纳功率</c:v>
                </c:pt>
              </c:strCache>
            </c:strRef>
          </c:tx>
          <c:spPr>
            <a:solidFill>
              <a:srgbClr val="70AD47"/>
            </a:solidFill>
            <a:ln>
              <a:noFill/>
            </a:ln>
            <a:effectLst/>
          </c:spPr>
          <c:invertIfNegative val="0"/>
          <c:val>
            <c:numRef>
              <c:f>LevelC_电力电量平衡表单!$B$7:$CS$7</c:f>
              <c:numCache>
                <c:formatCode>General</c:formatCode>
                <c:ptCount val="96"/>
                <c:pt idx="0">
                  <c:v>1.67</c:v>
                </c:pt>
                <c:pt idx="1">
                  <c:v>1.53684210526316</c:v>
                </c:pt>
                <c:pt idx="2">
                  <c:v>1.4036842105263201</c:v>
                </c:pt>
                <c:pt idx="3">
                  <c:v>1.27052631578947</c:v>
                </c:pt>
                <c:pt idx="4">
                  <c:v>1.13736842105263</c:v>
                </c:pt>
                <c:pt idx="5">
                  <c:v>1.6905263157894701</c:v>
                </c:pt>
                <c:pt idx="6">
                  <c:v>2.34663157894737</c:v>
                </c:pt>
                <c:pt idx="7">
                  <c:v>3.0027368421052598</c:v>
                </c:pt>
                <c:pt idx="8">
                  <c:v>3.6588421052631599</c:v>
                </c:pt>
                <c:pt idx="9">
                  <c:v>4.14136842105263</c:v>
                </c:pt>
                <c:pt idx="10">
                  <c:v>4.5626315789473697</c:v>
                </c:pt>
                <c:pt idx="11">
                  <c:v>4.9838947368420996</c:v>
                </c:pt>
                <c:pt idx="12">
                  <c:v>5.4051578947368499</c:v>
                </c:pt>
                <c:pt idx="13">
                  <c:v>5.6304210526315801</c:v>
                </c:pt>
                <c:pt idx="14">
                  <c:v>5.7296842105263197</c:v>
                </c:pt>
                <c:pt idx="15">
                  <c:v>5.8289473684210504</c:v>
                </c:pt>
                <c:pt idx="16">
                  <c:v>5.9282105263157803</c:v>
                </c:pt>
                <c:pt idx="17">
                  <c:v>6.10736842105264</c:v>
                </c:pt>
                <c:pt idx="18">
                  <c:v>6.3736842105263101</c:v>
                </c:pt>
                <c:pt idx="19">
                  <c:v>6.64</c:v>
                </c:pt>
                <c:pt idx="20">
                  <c:v>6.9063157894736902</c:v>
                </c:pt>
                <c:pt idx="21">
                  <c:v>7.3031578947368399</c:v>
                </c:pt>
                <c:pt idx="22">
                  <c:v>7.94473684210526</c:v>
                </c:pt>
                <c:pt idx="23">
                  <c:v>8.5863157894736801</c:v>
                </c:pt>
                <c:pt idx="24">
                  <c:v>9.22789473684211</c:v>
                </c:pt>
                <c:pt idx="25">
                  <c:v>9.7257894736842108</c:v>
                </c:pt>
                <c:pt idx="26">
                  <c:v>9.7064210526315797</c:v>
                </c:pt>
                <c:pt idx="27">
                  <c:v>9.6870526315789505</c:v>
                </c:pt>
                <c:pt idx="28">
                  <c:v>9.6676842105263194</c:v>
                </c:pt>
                <c:pt idx="29">
                  <c:v>9.64663157894738</c:v>
                </c:pt>
                <c:pt idx="30">
                  <c:v>9.6078947368421108</c:v>
                </c:pt>
                <c:pt idx="31">
                  <c:v>9.5691578947368505</c:v>
                </c:pt>
                <c:pt idx="32">
                  <c:v>9.5304210526315796</c:v>
                </c:pt>
                <c:pt idx="33">
                  <c:v>9.4916842105263193</c:v>
                </c:pt>
                <c:pt idx="34">
                  <c:v>9.5201052631578893</c:v>
                </c:pt>
                <c:pt idx="35">
                  <c:v>9.5515789473684301</c:v>
                </c:pt>
                <c:pt idx="36">
                  <c:v>9.5830526315789495</c:v>
                </c:pt>
                <c:pt idx="37">
                  <c:v>9.6145263157894796</c:v>
                </c:pt>
                <c:pt idx="38">
                  <c:v>9.3640000000000008</c:v>
                </c:pt>
                <c:pt idx="39">
                  <c:v>9.05410526315789</c:v>
                </c:pt>
                <c:pt idx="40">
                  <c:v>8.7442105263157899</c:v>
                </c:pt>
                <c:pt idx="41">
                  <c:v>8.4343157894736898</c:v>
                </c:pt>
                <c:pt idx="42">
                  <c:v>7.9661052631578997</c:v>
                </c:pt>
                <c:pt idx="43">
                  <c:v>7.4286315789473703</c:v>
                </c:pt>
                <c:pt idx="44">
                  <c:v>6.8911578947368497</c:v>
                </c:pt>
                <c:pt idx="45">
                  <c:v>6.3536842105263096</c:v>
                </c:pt>
                <c:pt idx="46">
                  <c:v>5.9393684210526203</c:v>
                </c:pt>
                <c:pt idx="47">
                  <c:v>5.61978947368421</c:v>
                </c:pt>
                <c:pt idx="48">
                  <c:v>5.3002105263157899</c:v>
                </c:pt>
                <c:pt idx="49">
                  <c:v>4.9806315789473601</c:v>
                </c:pt>
                <c:pt idx="50">
                  <c:v>4.5642105263157902</c:v>
                </c:pt>
                <c:pt idx="51">
                  <c:v>4.0218947368421096</c:v>
                </c:pt>
                <c:pt idx="52">
                  <c:v>3.47957894736843</c:v>
                </c:pt>
                <c:pt idx="53">
                  <c:v>2.9372631578947299</c:v>
                </c:pt>
                <c:pt idx="54">
                  <c:v>2.7132631578947399</c:v>
                </c:pt>
                <c:pt idx="55">
                  <c:v>3.21684210526315</c:v>
                </c:pt>
                <c:pt idx="56">
                  <c:v>3.72042105263158</c:v>
                </c:pt>
                <c:pt idx="57">
                  <c:v>4.2240000000000002</c:v>
                </c:pt>
                <c:pt idx="58">
                  <c:v>4.6067368421052599</c:v>
                </c:pt>
                <c:pt idx="59">
                  <c:v>4.4154736842105198</c:v>
                </c:pt>
                <c:pt idx="60">
                  <c:v>4.2242105263157903</c:v>
                </c:pt>
                <c:pt idx="61">
                  <c:v>4.0329473684210502</c:v>
                </c:pt>
                <c:pt idx="62">
                  <c:v>3.87305263157895</c:v>
                </c:pt>
                <c:pt idx="63">
                  <c:v>4.4032631578947301</c:v>
                </c:pt>
                <c:pt idx="64">
                  <c:v>4.9334736842105302</c:v>
                </c:pt>
                <c:pt idx="65">
                  <c:v>5.4636842105263197</c:v>
                </c:pt>
                <c:pt idx="66">
                  <c:v>5.9938947368421003</c:v>
                </c:pt>
                <c:pt idx="67">
                  <c:v>5.7902105263157901</c:v>
                </c:pt>
                <c:pt idx="68">
                  <c:v>5.5166315789473703</c:v>
                </c:pt>
                <c:pt idx="69">
                  <c:v>5.2430526315789399</c:v>
                </c:pt>
                <c:pt idx="70">
                  <c:v>4.9694736842105396</c:v>
                </c:pt>
                <c:pt idx="71">
                  <c:v>5.2245263157894799</c:v>
                </c:pt>
                <c:pt idx="72">
                  <c:v>5.6264210526315797</c:v>
                </c:pt>
                <c:pt idx="73">
                  <c:v>6.0283157894736696</c:v>
                </c:pt>
                <c:pt idx="74">
                  <c:v>6.4302105263157898</c:v>
                </c:pt>
                <c:pt idx="75">
                  <c:v>6.5921052631579</c:v>
                </c:pt>
                <c:pt idx="76">
                  <c:v>6.6260000000000003</c:v>
                </c:pt>
                <c:pt idx="77">
                  <c:v>6.6598947368421104</c:v>
                </c:pt>
                <c:pt idx="78">
                  <c:v>6.6937894736842098</c:v>
                </c:pt>
                <c:pt idx="79">
                  <c:v>6.6443157894736897</c:v>
                </c:pt>
                <c:pt idx="80">
                  <c:v>6.51842105263158</c:v>
                </c:pt>
                <c:pt idx="81">
                  <c:v>6.3925263157894703</c:v>
                </c:pt>
                <c:pt idx="82">
                  <c:v>6.2666315789473703</c:v>
                </c:pt>
                <c:pt idx="83">
                  <c:v>6.3737894736841998</c:v>
                </c:pt>
                <c:pt idx="84">
                  <c:v>6.8434736842105304</c:v>
                </c:pt>
                <c:pt idx="85">
                  <c:v>7.3131578947368396</c:v>
                </c:pt>
                <c:pt idx="86">
                  <c:v>7.7828421052631596</c:v>
                </c:pt>
                <c:pt idx="87">
                  <c:v>8.1028421052631501</c:v>
                </c:pt>
                <c:pt idx="88">
                  <c:v>7.9987368421052603</c:v>
                </c:pt>
                <c:pt idx="89">
                  <c:v>7.8946315789473598</c:v>
                </c:pt>
                <c:pt idx="90">
                  <c:v>7.7905263157894797</c:v>
                </c:pt>
                <c:pt idx="91">
                  <c:v>7.7091578947368502</c:v>
                </c:pt>
                <c:pt idx="92">
                  <c:v>7.7793684210526397</c:v>
                </c:pt>
                <c:pt idx="93">
                  <c:v>7.8495789473684301</c:v>
                </c:pt>
                <c:pt idx="94">
                  <c:v>7.9197894736842001</c:v>
                </c:pt>
                <c:pt idx="95">
                  <c:v>7.99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8B3-451D-8B29-0849DEB848C3}"/>
            </c:ext>
          </c:extLst>
        </c:ser>
        <c:ser>
          <c:idx val="4"/>
          <c:order val="4"/>
          <c:tx>
            <c:strRef>
              <c:f>LevelC_电力电量平衡表单!$A$8</c:f>
              <c:strCache>
                <c:ptCount val="1"/>
                <c:pt idx="0">
                  <c:v>光伏消纳功率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val>
            <c:numRef>
              <c:f>LevelC_电力电量平衡表单!$B$8:$CS$8</c:f>
              <c:numCache>
                <c:formatCode>General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1.0526315789473599E-3</c:v>
                </c:pt>
                <c:pt idx="26">
                  <c:v>5.8947368421052504E-3</c:v>
                </c:pt>
                <c:pt idx="27">
                  <c:v>1.0736842105263201E-2</c:v>
                </c:pt>
                <c:pt idx="28">
                  <c:v>1.5578947368421E-2</c:v>
                </c:pt>
                <c:pt idx="29">
                  <c:v>2.9263157894736901E-2</c:v>
                </c:pt>
                <c:pt idx="30">
                  <c:v>0.13578947368421099</c:v>
                </c:pt>
                <c:pt idx="31">
                  <c:v>0.24231578947368401</c:v>
                </c:pt>
                <c:pt idx="32">
                  <c:v>0.34884210526315801</c:v>
                </c:pt>
                <c:pt idx="33">
                  <c:v>0.45536842105263098</c:v>
                </c:pt>
                <c:pt idx="34">
                  <c:v>0.746</c:v>
                </c:pt>
                <c:pt idx="35">
                  <c:v>1.0449999999999999</c:v>
                </c:pt>
                <c:pt idx="36">
                  <c:v>1.3440000000000001</c:v>
                </c:pt>
                <c:pt idx="37">
                  <c:v>1.643</c:v>
                </c:pt>
                <c:pt idx="38">
                  <c:v>1.964</c:v>
                </c:pt>
                <c:pt idx="39">
                  <c:v>2.28963157894737</c:v>
                </c:pt>
                <c:pt idx="40">
                  <c:v>2.6152631578947299</c:v>
                </c:pt>
                <c:pt idx="41">
                  <c:v>2.9408947368420999</c:v>
                </c:pt>
                <c:pt idx="42">
                  <c:v>3.0863157894736801</c:v>
                </c:pt>
                <c:pt idx="43">
                  <c:v>3.1528947368421099</c:v>
                </c:pt>
                <c:pt idx="44">
                  <c:v>3.2194736842105298</c:v>
                </c:pt>
                <c:pt idx="45">
                  <c:v>3.2860526315789498</c:v>
                </c:pt>
                <c:pt idx="46">
                  <c:v>3.51273684210526</c:v>
                </c:pt>
                <c:pt idx="47">
                  <c:v>3.86257894736841</c:v>
                </c:pt>
                <c:pt idx="48">
                  <c:v>4.21242105263158</c:v>
                </c:pt>
                <c:pt idx="49">
                  <c:v>4.5622631578947397</c:v>
                </c:pt>
                <c:pt idx="50">
                  <c:v>4.8721052631578896</c:v>
                </c:pt>
                <c:pt idx="51">
                  <c:v>5.1299473684210497</c:v>
                </c:pt>
                <c:pt idx="52">
                  <c:v>5.3877894736842098</c:v>
                </c:pt>
                <c:pt idx="53">
                  <c:v>5.6456315789473699</c:v>
                </c:pt>
                <c:pt idx="54">
                  <c:v>5.6334210526315802</c:v>
                </c:pt>
                <c:pt idx="55">
                  <c:v>5.0039473684210503</c:v>
                </c:pt>
                <c:pt idx="56">
                  <c:v>4.3744736842105203</c:v>
                </c:pt>
                <c:pt idx="57">
                  <c:v>3.7450000000000001</c:v>
                </c:pt>
                <c:pt idx="58">
                  <c:v>3.21068421052632</c:v>
                </c:pt>
                <c:pt idx="59">
                  <c:v>3.1283684210526301</c:v>
                </c:pt>
                <c:pt idx="60">
                  <c:v>3.04605263157895</c:v>
                </c:pt>
                <c:pt idx="61">
                  <c:v>2.9637368421052699</c:v>
                </c:pt>
                <c:pt idx="62">
                  <c:v>2.8683684210526299</c:v>
                </c:pt>
                <c:pt idx="63">
                  <c:v>2.4858421052631501</c:v>
                </c:pt>
                <c:pt idx="64">
                  <c:v>2.10331578947368</c:v>
                </c:pt>
                <c:pt idx="65">
                  <c:v>1.72078947368422</c:v>
                </c:pt>
                <c:pt idx="66">
                  <c:v>1.3382631578947399</c:v>
                </c:pt>
                <c:pt idx="67">
                  <c:v>1.02757894736842</c:v>
                </c:pt>
                <c:pt idx="68">
                  <c:v>0.72373684210526301</c:v>
                </c:pt>
                <c:pt idx="69">
                  <c:v>0.41989473684210399</c:v>
                </c:pt>
                <c:pt idx="70">
                  <c:v>0.116052631578949</c:v>
                </c:pt>
                <c:pt idx="71">
                  <c:v>4.0526315789473702E-2</c:v>
                </c:pt>
                <c:pt idx="72">
                  <c:v>2.8421052631578899E-2</c:v>
                </c:pt>
                <c:pt idx="73">
                  <c:v>1.6315789473684301E-2</c:v>
                </c:pt>
                <c:pt idx="74">
                  <c:v>4.2105263157894797E-3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8B3-451D-8B29-0849DEB848C3}"/>
            </c:ext>
          </c:extLst>
        </c:ser>
        <c:ser>
          <c:idx val="5"/>
          <c:order val="5"/>
          <c:tx>
            <c:strRef>
              <c:f>LevelC_电力电量平衡表单!$A$9</c:f>
              <c:strCache>
                <c:ptCount val="1"/>
                <c:pt idx="0">
                  <c:v>抽水蓄能功率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val>
            <c:numRef>
              <c:f>LevelC_电力电量平衡表单!$B$9:$CS$9</c:f>
              <c:numCache>
                <c:formatCode>General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8B3-451D-8B29-0849DEB848C3}"/>
            </c:ext>
          </c:extLst>
        </c:ser>
        <c:ser>
          <c:idx val="6"/>
          <c:order val="6"/>
          <c:tx>
            <c:strRef>
              <c:f>LevelC_电力电量平衡表单!$A$10</c:f>
              <c:strCache>
                <c:ptCount val="1"/>
                <c:pt idx="0">
                  <c:v>电化学储能功率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val>
            <c:numRef>
              <c:f>LevelC_电力电量平衡表单!$B$10:$CS$10</c:f>
              <c:numCache>
                <c:formatCode>General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8B3-451D-8B29-0849DEB848C3}"/>
            </c:ext>
          </c:extLst>
        </c:ser>
        <c:ser>
          <c:idx val="7"/>
          <c:order val="7"/>
          <c:tx>
            <c:strRef>
              <c:f>LevelC_电力电量平衡表单!$A$11</c:f>
              <c:strCache>
                <c:ptCount val="1"/>
                <c:pt idx="0">
                  <c:v>燃气功率</c:v>
                </c:pt>
              </c:strCache>
            </c:strRef>
          </c:tx>
          <c:spPr>
            <a:solidFill>
              <a:srgbClr val="FF5E3D"/>
            </a:solidFill>
            <a:ln>
              <a:noFill/>
            </a:ln>
            <a:effectLst/>
          </c:spPr>
          <c:invertIfNegative val="0"/>
          <c:val>
            <c:numRef>
              <c:f>LevelC_电力电量平衡表单!$B$11:$CS$11</c:f>
              <c:numCache>
                <c:formatCode>General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28B3-451D-8B29-0849DEB848C3}"/>
            </c:ext>
          </c:extLst>
        </c:ser>
        <c:ser>
          <c:idx val="8"/>
          <c:order val="8"/>
          <c:tx>
            <c:strRef>
              <c:f>LevelC_电力电量平衡表单!$A$12</c:f>
              <c:strCache>
                <c:ptCount val="1"/>
                <c:pt idx="0">
                  <c:v>直流联络线功率</c:v>
                </c:pt>
              </c:strCache>
            </c:strRef>
          </c:tx>
          <c:spPr>
            <a:solidFill>
              <a:srgbClr val="D0CECE"/>
            </a:solidFill>
            <a:ln>
              <a:noFill/>
            </a:ln>
            <a:effectLst/>
          </c:spPr>
          <c:invertIfNegative val="0"/>
          <c:val>
            <c:numRef>
              <c:f>LevelC_电力电量平衡表单!$B$12:$CS$12</c:f>
              <c:numCache>
                <c:formatCode>General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8B3-451D-8B29-0849DEB848C3}"/>
            </c:ext>
          </c:extLst>
        </c:ser>
        <c:ser>
          <c:idx val="9"/>
          <c:order val="9"/>
          <c:tx>
            <c:strRef>
              <c:f>LevelC_电力电量平衡表单!$A$13</c:f>
              <c:strCache>
                <c:ptCount val="1"/>
                <c:pt idx="0">
                  <c:v>交流联络线功率</c:v>
                </c:pt>
              </c:strCache>
            </c:strRef>
          </c:tx>
          <c:spPr>
            <a:solidFill>
              <a:srgbClr val="D0CECE"/>
            </a:solidFill>
            <a:ln>
              <a:noFill/>
            </a:ln>
            <a:effectLst/>
          </c:spPr>
          <c:invertIfNegative val="0"/>
          <c:val>
            <c:numRef>
              <c:f>LevelC_电力电量平衡表单!$B$13:$CS$13</c:f>
              <c:numCache>
                <c:formatCode>General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28B3-451D-8B29-0849DEB848C3}"/>
            </c:ext>
          </c:extLst>
        </c:ser>
        <c:ser>
          <c:idx val="11"/>
          <c:order val="11"/>
          <c:tx>
            <c:strRef>
              <c:f>LevelC_电力电量平衡表单!$A$15</c:f>
              <c:strCache>
                <c:ptCount val="1"/>
                <c:pt idx="0">
                  <c:v>外送</c:v>
                </c:pt>
              </c:strCache>
            </c:strRef>
          </c:tx>
          <c:spPr>
            <a:solidFill>
              <a:srgbClr val="7F7F7F"/>
            </a:solidFill>
            <a:ln>
              <a:noFill/>
            </a:ln>
            <a:effectLst/>
          </c:spPr>
          <c:invertIfNegative val="0"/>
          <c:val>
            <c:numRef>
              <c:f>LevelC_电力电量平衡表单!$B$15:$CS$15</c:f>
              <c:numCache>
                <c:formatCode>General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8B3-451D-8B29-0849DEB848C3}"/>
            </c:ext>
          </c:extLst>
        </c:ser>
        <c:ser>
          <c:idx val="13"/>
          <c:order val="13"/>
          <c:tx>
            <c:strRef>
              <c:f>LevelC_电力电量平衡表单!$A$17</c:f>
              <c:strCache>
                <c:ptCount val="1"/>
                <c:pt idx="0">
                  <c:v>弃风功率</c:v>
                </c:pt>
              </c:strCache>
            </c:strRef>
          </c:tx>
          <c:spPr>
            <a:pattFill prst="wdUpDiag">
              <a:fgClr>
                <a:srgbClr val="70AD47"/>
              </a:fgClr>
              <a:bgClr>
                <a:srgbClr val="FFFFFF"/>
              </a:bgClr>
            </a:pattFill>
            <a:ln w="12700" cmpd="sng">
              <a:noFill/>
              <a:prstDash val="solid"/>
            </a:ln>
            <a:effectLst/>
            <a:sp3d contourW="12700"/>
          </c:spPr>
          <c:invertIfNegative val="0"/>
          <c:val>
            <c:numRef>
              <c:f>LevelC_电力电量平衡表单!$B$17:$CS$17</c:f>
              <c:numCache>
                <c:formatCode>General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28B3-451D-8B29-0849DEB848C3}"/>
            </c:ext>
          </c:extLst>
        </c:ser>
        <c:ser>
          <c:idx val="14"/>
          <c:order val="14"/>
          <c:tx>
            <c:strRef>
              <c:f>LevelC_电力电量平衡表单!$A$18</c:f>
              <c:strCache>
                <c:ptCount val="1"/>
                <c:pt idx="0">
                  <c:v>弃光功率</c:v>
                </c:pt>
              </c:strCache>
            </c:strRef>
          </c:tx>
          <c:spPr>
            <a:pattFill prst="wdUpDiag">
              <a:fgClr>
                <a:srgbClr val="FFC000"/>
              </a:fgClr>
              <a:bgClr>
                <a:srgbClr val="FFFFFF"/>
              </a:bgClr>
            </a:pattFill>
            <a:ln>
              <a:noFill/>
            </a:ln>
            <a:effectLst/>
          </c:spPr>
          <c:invertIfNegative val="0"/>
          <c:val>
            <c:numRef>
              <c:f>LevelC_电力电量平衡表单!$B$18:$CS$18</c:f>
              <c:numCache>
                <c:formatCode>General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8B3-451D-8B29-0849DEB848C3}"/>
            </c:ext>
          </c:extLst>
        </c:ser>
        <c:ser>
          <c:idx val="15"/>
          <c:order val="15"/>
          <c:tx>
            <c:strRef>
              <c:f>LevelC_电力电量平衡表单!$A$19</c:f>
              <c:strCache>
                <c:ptCount val="1"/>
                <c:pt idx="0">
                  <c:v>弃水功率</c:v>
                </c:pt>
              </c:strCache>
            </c:strRef>
          </c:tx>
          <c:spPr>
            <a:solidFill>
              <a:schemeClr val="accent4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val>
            <c:numRef>
              <c:f>LevelC_电力电量平衡表单!$B$19:$CS$19</c:f>
              <c:numCache>
                <c:formatCode>General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28B3-451D-8B29-0849DEB848C3}"/>
            </c:ext>
          </c:extLst>
        </c:ser>
        <c:ser>
          <c:idx val="16"/>
          <c:order val="16"/>
          <c:tx>
            <c:strRef>
              <c:f>LevelC_电力电量平衡表单!$A$20</c:f>
              <c:strCache>
                <c:ptCount val="1"/>
                <c:pt idx="0">
                  <c:v>切负荷功率</c:v>
                </c:pt>
              </c:strCache>
            </c:strRef>
          </c:tx>
          <c:spPr>
            <a:solidFill>
              <a:schemeClr val="accent5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val>
            <c:numRef>
              <c:f>LevelC_电力电量平衡表单!$B$20:$CS$20</c:f>
              <c:numCache>
                <c:formatCode>General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28B3-451D-8B29-0849DEB848C3}"/>
            </c:ext>
          </c:extLst>
        </c:ser>
        <c:ser>
          <c:idx val="17"/>
          <c:order val="17"/>
          <c:tx>
            <c:strRef>
              <c:f>LevelC_电力电量平衡表单!$A$21</c:f>
              <c:strCache>
                <c:ptCount val="1"/>
                <c:pt idx="0">
                  <c:v>增负荷功率</c:v>
                </c:pt>
              </c:strCache>
            </c:strRef>
          </c:tx>
          <c:spPr>
            <a:solidFill>
              <a:schemeClr val="accent6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val>
            <c:numRef>
              <c:f>LevelC_电力电量平衡表单!$B$21:$CS$21</c:f>
              <c:numCache>
                <c:formatCode>General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28B3-451D-8B29-0849DEB848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74879708"/>
        <c:axId val="645535607"/>
      </c:barChart>
      <c:lineChart>
        <c:grouping val="standard"/>
        <c:varyColors val="0"/>
        <c:ser>
          <c:idx val="10"/>
          <c:order val="10"/>
          <c:tx>
            <c:strRef>
              <c:f>LevelC_电力电量平衡表单!$A$14</c:f>
              <c:strCache>
                <c:ptCount val="1"/>
                <c:pt idx="0">
                  <c:v>负荷消耗功率</c:v>
                </c:pt>
              </c:strCache>
            </c:strRef>
          </c:tx>
          <c:spPr>
            <a:ln w="19050" cap="rnd">
              <a:solidFill>
                <a:srgbClr val="000000"/>
              </a:solidFill>
              <a:round/>
            </a:ln>
            <a:effectLst/>
          </c:spPr>
          <c:marker>
            <c:symbol val="none"/>
          </c:marker>
          <c:val>
            <c:numRef>
              <c:f>LevelC_电力电量平衡表单!$B$14:$CS$14</c:f>
              <c:numCache>
                <c:formatCode>General</c:formatCode>
                <c:ptCount val="96"/>
                <c:pt idx="0">
                  <c:v>55.972462362000002</c:v>
                </c:pt>
                <c:pt idx="1">
                  <c:v>55.163433840821099</c:v>
                </c:pt>
                <c:pt idx="2">
                  <c:v>54.354405319642098</c:v>
                </c:pt>
                <c:pt idx="3">
                  <c:v>53.545376798463103</c:v>
                </c:pt>
                <c:pt idx="4">
                  <c:v>52.7363482772842</c:v>
                </c:pt>
                <c:pt idx="5">
                  <c:v>52.103195521578897</c:v>
                </c:pt>
                <c:pt idx="6">
                  <c:v>51.496424130694798</c:v>
                </c:pt>
                <c:pt idx="7">
                  <c:v>50.889652739810501</c:v>
                </c:pt>
                <c:pt idx="8">
                  <c:v>50.282881348926303</c:v>
                </c:pt>
                <c:pt idx="9">
                  <c:v>49.975098759347397</c:v>
                </c:pt>
                <c:pt idx="10">
                  <c:v>49.7728416290526</c:v>
                </c:pt>
                <c:pt idx="11">
                  <c:v>49.570584498757903</c:v>
                </c:pt>
                <c:pt idx="12">
                  <c:v>49.368327368463099</c:v>
                </c:pt>
                <c:pt idx="13">
                  <c:v>49.289183274000003</c:v>
                </c:pt>
                <c:pt idx="14">
                  <c:v>49.289183274000003</c:v>
                </c:pt>
                <c:pt idx="15">
                  <c:v>49.289183274000003</c:v>
                </c:pt>
                <c:pt idx="16">
                  <c:v>49.289183274000003</c:v>
                </c:pt>
                <c:pt idx="17">
                  <c:v>49.385914945010498</c:v>
                </c:pt>
                <c:pt idx="18">
                  <c:v>49.588172075305202</c:v>
                </c:pt>
                <c:pt idx="19">
                  <c:v>49.790429205599999</c:v>
                </c:pt>
                <c:pt idx="20">
                  <c:v>49.992686335894803</c:v>
                </c:pt>
                <c:pt idx="21">
                  <c:v>51.109497446652597</c:v>
                </c:pt>
                <c:pt idx="22">
                  <c:v>53.941097270778897</c:v>
                </c:pt>
                <c:pt idx="23">
                  <c:v>56.772697094905197</c:v>
                </c:pt>
                <c:pt idx="24">
                  <c:v>59.604296919031597</c:v>
                </c:pt>
                <c:pt idx="25">
                  <c:v>62.347958860421102</c:v>
                </c:pt>
                <c:pt idx="26">
                  <c:v>64.775044423957894</c:v>
                </c:pt>
                <c:pt idx="27">
                  <c:v>67.2021299874948</c:v>
                </c:pt>
                <c:pt idx="28">
                  <c:v>69.629215551031606</c:v>
                </c:pt>
                <c:pt idx="29">
                  <c:v>72.003538384926301</c:v>
                </c:pt>
                <c:pt idx="30">
                  <c:v>73.823852557578903</c:v>
                </c:pt>
                <c:pt idx="31">
                  <c:v>75.644166730231504</c:v>
                </c:pt>
                <c:pt idx="32">
                  <c:v>77.464480902884205</c:v>
                </c:pt>
                <c:pt idx="33">
                  <c:v>79.284795075536806</c:v>
                </c:pt>
                <c:pt idx="34">
                  <c:v>79.557402512021099</c:v>
                </c:pt>
                <c:pt idx="35">
                  <c:v>79.759659642315796</c:v>
                </c:pt>
                <c:pt idx="36">
                  <c:v>79.961916772610493</c:v>
                </c:pt>
                <c:pt idx="37">
                  <c:v>80.164173902905205</c:v>
                </c:pt>
                <c:pt idx="38">
                  <c:v>80.199349056000003</c:v>
                </c:pt>
                <c:pt idx="39">
                  <c:v>80.199349056000003</c:v>
                </c:pt>
                <c:pt idx="40">
                  <c:v>80.199349056000003</c:v>
                </c:pt>
                <c:pt idx="41">
                  <c:v>80.199349056000003</c:v>
                </c:pt>
                <c:pt idx="42">
                  <c:v>80.058648443621095</c:v>
                </c:pt>
                <c:pt idx="43">
                  <c:v>79.856391313326299</c:v>
                </c:pt>
                <c:pt idx="44">
                  <c:v>79.654134183031502</c:v>
                </c:pt>
                <c:pt idx="45">
                  <c:v>79.451877052736805</c:v>
                </c:pt>
                <c:pt idx="46">
                  <c:v>79.363939169999995</c:v>
                </c:pt>
                <c:pt idx="47">
                  <c:v>79.363939169999995</c:v>
                </c:pt>
                <c:pt idx="48">
                  <c:v>79.363939169999995</c:v>
                </c:pt>
                <c:pt idx="49">
                  <c:v>79.363939169999995</c:v>
                </c:pt>
                <c:pt idx="50">
                  <c:v>79.363939169999995</c:v>
                </c:pt>
                <c:pt idx="51">
                  <c:v>79.363939169999995</c:v>
                </c:pt>
                <c:pt idx="52">
                  <c:v>79.363939169999995</c:v>
                </c:pt>
                <c:pt idx="53">
                  <c:v>79.363939169999995</c:v>
                </c:pt>
                <c:pt idx="54">
                  <c:v>79.240826134168401</c:v>
                </c:pt>
                <c:pt idx="55">
                  <c:v>78.836311873578893</c:v>
                </c:pt>
                <c:pt idx="56">
                  <c:v>78.431797612989499</c:v>
                </c:pt>
                <c:pt idx="57">
                  <c:v>78.027283352400005</c:v>
                </c:pt>
                <c:pt idx="58">
                  <c:v>77.728294551094805</c:v>
                </c:pt>
                <c:pt idx="59">
                  <c:v>77.930551681389503</c:v>
                </c:pt>
                <c:pt idx="60">
                  <c:v>78.1328088116842</c:v>
                </c:pt>
                <c:pt idx="61">
                  <c:v>78.335065941978897</c:v>
                </c:pt>
                <c:pt idx="62">
                  <c:v>78.572498225368406</c:v>
                </c:pt>
                <c:pt idx="63">
                  <c:v>79.583783876842105</c:v>
                </c:pt>
                <c:pt idx="64">
                  <c:v>80.595069528315804</c:v>
                </c:pt>
                <c:pt idx="65">
                  <c:v>81.606355179789404</c:v>
                </c:pt>
                <c:pt idx="66">
                  <c:v>82.617640831263202</c:v>
                </c:pt>
                <c:pt idx="67">
                  <c:v>82.890248267747396</c:v>
                </c:pt>
                <c:pt idx="68">
                  <c:v>83.092505398042107</c:v>
                </c:pt>
                <c:pt idx="69">
                  <c:v>83.294762528336804</c:v>
                </c:pt>
                <c:pt idx="70">
                  <c:v>83.497019658631601</c:v>
                </c:pt>
                <c:pt idx="71">
                  <c:v>83.540988600000006</c:v>
                </c:pt>
                <c:pt idx="72">
                  <c:v>83.540988600000006</c:v>
                </c:pt>
                <c:pt idx="73">
                  <c:v>83.540988600000006</c:v>
                </c:pt>
                <c:pt idx="74">
                  <c:v>83.540988600000006</c:v>
                </c:pt>
                <c:pt idx="75">
                  <c:v>83.013361303578904</c:v>
                </c:pt>
                <c:pt idx="76">
                  <c:v>82.204332782400002</c:v>
                </c:pt>
                <c:pt idx="77">
                  <c:v>81.395304261221099</c:v>
                </c:pt>
                <c:pt idx="78">
                  <c:v>80.586275740042097</c:v>
                </c:pt>
                <c:pt idx="79">
                  <c:v>79.671721759578901</c:v>
                </c:pt>
                <c:pt idx="80">
                  <c:v>78.660436108105202</c:v>
                </c:pt>
                <c:pt idx="81">
                  <c:v>77.649150456631503</c:v>
                </c:pt>
                <c:pt idx="82">
                  <c:v>76.637864805157903</c:v>
                </c:pt>
                <c:pt idx="83">
                  <c:v>75.389146870294795</c:v>
                </c:pt>
                <c:pt idx="84">
                  <c:v>73.771089827936805</c:v>
                </c:pt>
                <c:pt idx="85">
                  <c:v>72.153032785578901</c:v>
                </c:pt>
                <c:pt idx="86">
                  <c:v>70.534975743221096</c:v>
                </c:pt>
                <c:pt idx="87">
                  <c:v>68.811393241578898</c:v>
                </c:pt>
                <c:pt idx="88">
                  <c:v>66.7888219386316</c:v>
                </c:pt>
                <c:pt idx="89">
                  <c:v>64.766250635684202</c:v>
                </c:pt>
                <c:pt idx="90">
                  <c:v>62.743679332736903</c:v>
                </c:pt>
                <c:pt idx="91">
                  <c:v>60.721108029789399</c:v>
                </c:pt>
                <c:pt idx="92">
                  <c:v>58.6985367268421</c:v>
                </c:pt>
                <c:pt idx="93">
                  <c:v>56.675965423894702</c:v>
                </c:pt>
                <c:pt idx="94">
                  <c:v>54.653394120947397</c:v>
                </c:pt>
                <c:pt idx="95">
                  <c:v>52.630822817999999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0-28B3-451D-8B29-0849DEB848C3}"/>
            </c:ext>
          </c:extLst>
        </c:ser>
        <c:ser>
          <c:idx val="12"/>
          <c:order val="12"/>
          <c:tx>
            <c:strRef>
              <c:f>LevelC_电力电量平衡表单!$A$16</c:f>
              <c:strCache>
                <c:ptCount val="1"/>
                <c:pt idx="0">
                  <c:v>总负荷功率</c:v>
                </c:pt>
              </c:strCache>
            </c:strRef>
          </c:tx>
          <c:spPr>
            <a:ln w="19050" cap="rnd">
              <a:solidFill>
                <a:srgbClr val="000000"/>
              </a:solidFill>
              <a:round/>
            </a:ln>
            <a:effectLst/>
          </c:spPr>
          <c:marker>
            <c:symbol val="none"/>
          </c:marker>
          <c:val>
            <c:numRef>
              <c:f>LevelC_电力电量平衡表单!$B$16:$CS$16</c:f>
              <c:numCache>
                <c:formatCode>General</c:formatCode>
                <c:ptCount val="96"/>
                <c:pt idx="0">
                  <c:v>55.972462362000002</c:v>
                </c:pt>
                <c:pt idx="1">
                  <c:v>55.163433840821099</c:v>
                </c:pt>
                <c:pt idx="2">
                  <c:v>54.354405319642098</c:v>
                </c:pt>
                <c:pt idx="3">
                  <c:v>53.545376798463103</c:v>
                </c:pt>
                <c:pt idx="4">
                  <c:v>52.7363482772842</c:v>
                </c:pt>
                <c:pt idx="5">
                  <c:v>52.103195521578897</c:v>
                </c:pt>
                <c:pt idx="6">
                  <c:v>51.496424130694798</c:v>
                </c:pt>
                <c:pt idx="7">
                  <c:v>50.889652739810501</c:v>
                </c:pt>
                <c:pt idx="8">
                  <c:v>50.282881348926303</c:v>
                </c:pt>
                <c:pt idx="9">
                  <c:v>49.975098759347397</c:v>
                </c:pt>
                <c:pt idx="10">
                  <c:v>49.7728416290526</c:v>
                </c:pt>
                <c:pt idx="11">
                  <c:v>49.570584498757903</c:v>
                </c:pt>
                <c:pt idx="12">
                  <c:v>49.368327368463099</c:v>
                </c:pt>
                <c:pt idx="13">
                  <c:v>49.289183274000003</c:v>
                </c:pt>
                <c:pt idx="14">
                  <c:v>49.289183274000003</c:v>
                </c:pt>
                <c:pt idx="15">
                  <c:v>49.289183274000003</c:v>
                </c:pt>
                <c:pt idx="16">
                  <c:v>49.289183274000003</c:v>
                </c:pt>
                <c:pt idx="17">
                  <c:v>49.385914945010498</c:v>
                </c:pt>
                <c:pt idx="18">
                  <c:v>49.588172075305202</c:v>
                </c:pt>
                <c:pt idx="19">
                  <c:v>49.790429205599999</c:v>
                </c:pt>
                <c:pt idx="20">
                  <c:v>49.992686335894803</c:v>
                </c:pt>
                <c:pt idx="21">
                  <c:v>51.109497446652597</c:v>
                </c:pt>
                <c:pt idx="22">
                  <c:v>53.941097270778897</c:v>
                </c:pt>
                <c:pt idx="23">
                  <c:v>56.772697094905197</c:v>
                </c:pt>
                <c:pt idx="24">
                  <c:v>59.604296919031597</c:v>
                </c:pt>
                <c:pt idx="25">
                  <c:v>62.347958860421102</c:v>
                </c:pt>
                <c:pt idx="26">
                  <c:v>64.775044423957894</c:v>
                </c:pt>
                <c:pt idx="27">
                  <c:v>67.2021299874948</c:v>
                </c:pt>
                <c:pt idx="28">
                  <c:v>69.629215551031606</c:v>
                </c:pt>
                <c:pt idx="29">
                  <c:v>72.003538384926301</c:v>
                </c:pt>
                <c:pt idx="30">
                  <c:v>73.823852557578903</c:v>
                </c:pt>
                <c:pt idx="31">
                  <c:v>75.644166730231504</c:v>
                </c:pt>
                <c:pt idx="32">
                  <c:v>77.464480902884205</c:v>
                </c:pt>
                <c:pt idx="33">
                  <c:v>79.284795075536806</c:v>
                </c:pt>
                <c:pt idx="34">
                  <c:v>79.557402512021099</c:v>
                </c:pt>
                <c:pt idx="35">
                  <c:v>79.759659642315796</c:v>
                </c:pt>
                <c:pt idx="36">
                  <c:v>79.961916772610493</c:v>
                </c:pt>
                <c:pt idx="37">
                  <c:v>80.164173902905205</c:v>
                </c:pt>
                <c:pt idx="38">
                  <c:v>80.199349056000003</c:v>
                </c:pt>
                <c:pt idx="39">
                  <c:v>80.199349056000003</c:v>
                </c:pt>
                <c:pt idx="40">
                  <c:v>80.199349056000003</c:v>
                </c:pt>
                <c:pt idx="41">
                  <c:v>80.199349056000003</c:v>
                </c:pt>
                <c:pt idx="42">
                  <c:v>80.058648443621095</c:v>
                </c:pt>
                <c:pt idx="43">
                  <c:v>79.856391313326299</c:v>
                </c:pt>
                <c:pt idx="44">
                  <c:v>79.654134183031502</c:v>
                </c:pt>
                <c:pt idx="45">
                  <c:v>79.451877052736805</c:v>
                </c:pt>
                <c:pt idx="46">
                  <c:v>79.363939169999995</c:v>
                </c:pt>
                <c:pt idx="47">
                  <c:v>79.363939169999995</c:v>
                </c:pt>
                <c:pt idx="48">
                  <c:v>79.363939169999995</c:v>
                </c:pt>
                <c:pt idx="49">
                  <c:v>79.363939169999995</c:v>
                </c:pt>
                <c:pt idx="50">
                  <c:v>79.363939169999995</c:v>
                </c:pt>
                <c:pt idx="51">
                  <c:v>79.363939169999995</c:v>
                </c:pt>
                <c:pt idx="52">
                  <c:v>79.363939169999995</c:v>
                </c:pt>
                <c:pt idx="53">
                  <c:v>79.363939169999995</c:v>
                </c:pt>
                <c:pt idx="54">
                  <c:v>79.240826134168401</c:v>
                </c:pt>
                <c:pt idx="55">
                  <c:v>78.836311873578893</c:v>
                </c:pt>
                <c:pt idx="56">
                  <c:v>78.431797612989499</c:v>
                </c:pt>
                <c:pt idx="57">
                  <c:v>78.027283352400005</c:v>
                </c:pt>
                <c:pt idx="58">
                  <c:v>77.728294551094805</c:v>
                </c:pt>
                <c:pt idx="59">
                  <c:v>77.930551681389503</c:v>
                </c:pt>
                <c:pt idx="60">
                  <c:v>78.1328088116842</c:v>
                </c:pt>
                <c:pt idx="61">
                  <c:v>78.335065941978897</c:v>
                </c:pt>
                <c:pt idx="62">
                  <c:v>78.572498225368406</c:v>
                </c:pt>
                <c:pt idx="63">
                  <c:v>79.583783876842105</c:v>
                </c:pt>
                <c:pt idx="64">
                  <c:v>80.595069528315804</c:v>
                </c:pt>
                <c:pt idx="65">
                  <c:v>81.606355179789404</c:v>
                </c:pt>
                <c:pt idx="66">
                  <c:v>82.617640831263202</c:v>
                </c:pt>
                <c:pt idx="67">
                  <c:v>82.890248267747396</c:v>
                </c:pt>
                <c:pt idx="68">
                  <c:v>83.092505398042107</c:v>
                </c:pt>
                <c:pt idx="69">
                  <c:v>83.294762528336804</c:v>
                </c:pt>
                <c:pt idx="70">
                  <c:v>83.497019658631601</c:v>
                </c:pt>
                <c:pt idx="71">
                  <c:v>83.540988600000006</c:v>
                </c:pt>
                <c:pt idx="72">
                  <c:v>83.540988600000006</c:v>
                </c:pt>
                <c:pt idx="73">
                  <c:v>83.540988600000006</c:v>
                </c:pt>
                <c:pt idx="74">
                  <c:v>83.540988600000006</c:v>
                </c:pt>
                <c:pt idx="75">
                  <c:v>83.013361303578904</c:v>
                </c:pt>
                <c:pt idx="76">
                  <c:v>82.204332782400002</c:v>
                </c:pt>
                <c:pt idx="77">
                  <c:v>81.395304261221099</c:v>
                </c:pt>
                <c:pt idx="78">
                  <c:v>80.586275740042097</c:v>
                </c:pt>
                <c:pt idx="79">
                  <c:v>79.671721759578901</c:v>
                </c:pt>
                <c:pt idx="80">
                  <c:v>78.660436108105202</c:v>
                </c:pt>
                <c:pt idx="81">
                  <c:v>77.649150456631503</c:v>
                </c:pt>
                <c:pt idx="82">
                  <c:v>76.637864805157903</c:v>
                </c:pt>
                <c:pt idx="83">
                  <c:v>75.389146870294795</c:v>
                </c:pt>
                <c:pt idx="84">
                  <c:v>73.771089827936805</c:v>
                </c:pt>
                <c:pt idx="85">
                  <c:v>72.153032785578901</c:v>
                </c:pt>
                <c:pt idx="86">
                  <c:v>70.534975743221096</c:v>
                </c:pt>
                <c:pt idx="87">
                  <c:v>68.811393241578898</c:v>
                </c:pt>
                <c:pt idx="88">
                  <c:v>66.7888219386316</c:v>
                </c:pt>
                <c:pt idx="89">
                  <c:v>64.766250635684202</c:v>
                </c:pt>
                <c:pt idx="90">
                  <c:v>62.743679332736903</c:v>
                </c:pt>
                <c:pt idx="91">
                  <c:v>60.721108029789399</c:v>
                </c:pt>
                <c:pt idx="92">
                  <c:v>58.6985367268421</c:v>
                </c:pt>
                <c:pt idx="93">
                  <c:v>56.675965423894702</c:v>
                </c:pt>
                <c:pt idx="94">
                  <c:v>54.653394120947397</c:v>
                </c:pt>
                <c:pt idx="95">
                  <c:v>52.630822817999999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28B3-451D-8B29-0849DEB848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4879708"/>
        <c:axId val="645535607"/>
      </c:lineChart>
      <c:catAx>
        <c:axId val="74879708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1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lang="zh-CN" altLang="en-US"/>
                  <a:t>时段</a:t>
                </a:r>
                <a:r>
                  <a:rPr lang="en-US" altLang="zh-CN"/>
                  <a:t>/15min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0" vertOverflow="ellipsis" vert="horz" wrap="square" anchor="ctr" anchorCtr="1"/>
            <a:lstStyle/>
            <a:p>
              <a:pPr defTabSz="914400">
                <a:defRPr lang="zh-CN" sz="1000" b="0" i="0" u="none" strike="noStrike" kern="1200" baseline="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  <a:sym typeface="Times New Roman" panose="02020603050405020304" charset="0"/>
                </a:defRPr>
              </a:pPr>
              <a:endParaRPr lang="en-US" altLang="zh-CN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  <a:endParaRPr lang="zh-CN"/>
          </a:p>
        </c:txPr>
        <c:crossAx val="645535607"/>
        <c:crosses val="autoZero"/>
        <c:auto val="1"/>
        <c:lblAlgn val="ctr"/>
        <c:lblOffset val="100"/>
        <c:noMultiLvlLbl val="0"/>
      </c:catAx>
      <c:valAx>
        <c:axId val="6455356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1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lang="zh-CN" altLang="en-US"/>
                  <a:t>功率</a:t>
                </a:r>
                <a:r>
                  <a:rPr lang="en-US" altLang="zh-CN"/>
                  <a:t>/100MW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0" vertOverflow="ellipsis" vert="horz" wrap="square" anchor="ctr" anchorCtr="1"/>
            <a:lstStyle/>
            <a:p>
              <a:pPr defTabSz="914400">
                <a:defRPr lang="zh-CN" sz="1000" b="0" i="0" u="none" strike="noStrike" kern="1200" baseline="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  <a:sym typeface="Times New Roman" panose="02020603050405020304" charset="0"/>
                </a:defRPr>
              </a:pPr>
              <a:endParaRPr lang="en-US" alt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  <a:endParaRPr lang="zh-CN"/>
          </a:p>
        </c:txPr>
        <c:crossAx val="748797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1000" b="1" i="0" u="none" strike="noStrike" kern="1200" baseline="0">
              <a:solidFill>
                <a:schemeClr val="tx1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Times New Roman" panose="02020603050405020304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  <a:endParaRPr lang="zh-CN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9B2D3-82B4-B6D5-218A-92E36EBE0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CC7B5E7-BA9D-140A-60DA-CD08F8EDCF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A8A52A-98F0-C9AF-8159-9354BD8A7F2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303DAAD-E896-13EA-F2B0-E4E4E1BDEC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58D3E9D-327D-422C-D223-1DE3242717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22B761-514D-8B7E-B439-3A525F6E7DA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396A81-2323-C65B-701F-98329F9419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25687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68976-61C5-77C1-5779-DD4BD3E65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DD733F-E3B4-8886-E06D-E3D0E4C588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FAFCFA-9124-2F4A-0848-F83792B9DF1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51E77AE-124C-D2D1-D79C-409932812C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1B92F7A-57EF-0865-0554-2358726FB6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点击查看后的页面切换为数据集展示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0789A-8C15-59B1-FF30-1E63EC2DC26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D6AE13-FCEC-956A-13A5-7E9B3C63BA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86623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ED4FC-5455-C6ED-102E-2A5BA8C99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EA10E3A-3C01-92BD-1609-59EE90859F3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D6DBBE-8F11-7FA4-1CE8-925BDB3844A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8CB15CB-64CB-A4F9-3E3D-0C807C819D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D32D8C5-4288-E802-28AC-48916F2A68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8C98D3-65F7-CE03-09AC-B836DC118DD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C02054-DD82-FFAC-FC40-B312A8F59F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19151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E4746-CC0B-00B9-642A-F42B2C3B7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AE7831-9AB9-4995-D021-56620AFFFC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A80B70-2E37-6F1C-021F-18DBF4138A2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87ADC83-470C-B8D5-824C-5A7AE2B1D5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997BBDE-4741-AC33-9004-610AA15B24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日前确定 日前概率 周前确定 周前概率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6DC14-DEFC-5ECA-A3CE-B985076778C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FADB78-ED81-D47D-5E53-2B027AA2FA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20463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A7D02-AEA6-0230-BA94-BC8E99414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1BDB76D-130A-7173-DCD3-A368A16928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C0A7A-A120-9E0D-0BD6-257D897BDA1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124C960-CADA-480A-D5FF-77BC43C8DE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BD468C0-BFB0-2438-7560-9EEDEBB6CF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点击查看后有一个表格可以修改方案里内容，并保存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932A3-F000-04DE-8BCA-26BC8F9823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0D02E-BB6C-C077-B207-7F80D3F358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58394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0E6C6-6BF4-4CDF-DBBA-B6A4CFDD6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E23FBD5-CEFE-41D6-7DE7-E4C175A38AD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1B424A-BBC2-01CA-CA0C-814A626CA69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0916B61-BDB7-AE8D-4276-1DEAFF15F6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F9AB1C0-1E8B-99A9-2368-ACABF20C0F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rtl="0" fontAlgn="ctr"/>
            <a:r>
              <a:rPr lang="zh-CN" altLang="zh-CN" sz="1400" b="0" i="0" u="none" strike="noStrike" kern="120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数据集</a:t>
            </a:r>
            <a:r>
              <a:rPr lang="en-US" altLang="zh-CN" sz="1400" b="0" i="0" u="none" strike="noStrike" kern="1200" dirty="0" err="1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名称</a:t>
            </a:r>
            <a:r>
              <a:rPr lang="en-US" altLang="zh-CN" sz="1400" b="0" i="0" u="none" strike="noStrike" kern="120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zh-CN" sz="1400" b="0" i="0" u="none" strike="noStrike" kern="120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类型</a:t>
            </a:r>
            <a:r>
              <a:rPr lang="en-US" altLang="zh-CN" sz="1400" b="0" i="0" u="none" strike="noStrike" kern="120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zh-CN" sz="1400" b="0" i="0" u="none" strike="noStrike" kern="120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预测时间段</a:t>
            </a:r>
            <a:r>
              <a:rPr lang="en-US" altLang="zh-CN" sz="1400" b="0" i="0" u="none" strike="noStrike" kern="120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zh-CN" sz="1400" b="0" i="0" u="none" strike="noStrike" kern="120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描述</a:t>
            </a:r>
            <a:r>
              <a:rPr lang="en-US" altLang="zh-CN" sz="1400" b="0" i="0" u="none" strike="noStrike" kern="120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400" b="0" i="0" u="none" strike="noStrike" kern="120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都有下拉框可以修改</a:t>
            </a:r>
            <a:endParaRPr lang="zh-CN" altLang="zh-CN" sz="14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392650-958B-7DC3-FC27-335AD09BF3A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212F4F-0BDE-9AB7-A0DC-28E655A7EE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08735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AFF2D-1142-8395-BA3B-47D7B53D5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ABA40BA-9AF5-C667-1731-B897899E06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A49682-A34A-9204-6F1B-173B5FA4EEF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0FC8116-AE98-E8B5-F4CF-5E3B52B5C4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700CA22-961A-51F5-D3F3-3D69C2065C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数据集 类型 的表头可以筛选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D5D1B7-4F1C-0457-0673-C5419F29084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C4E78-8758-30E1-99F4-98EF60D739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664239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33917-8C25-09F3-5312-B1741199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3E2CECE-347E-211D-E00A-8477D475858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7BF58D-DDB9-0D69-27A0-C212E86A32F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C322E85-31F8-20FD-76AF-C7EA51A3CA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6654C2F-8568-727B-7591-7200534FE6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UnitThermalPlants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进入后有所有企业的信息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点击一个企业后可看到详细信息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如何设计此页面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91CAA1-CF40-AA29-7135-247BBD2EFD8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122C4-7F72-6E95-76BC-995D899A58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5415209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42630-D80E-7924-59F2-A5FA08F93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C8E4260-4AF1-F23B-9C82-137FBA64C2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C7E59E-34F0-FBA5-D427-7D35BD46B5A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29C90FE-85FE-6415-D41D-950FC9774C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6ACB4B7-429E-61E4-7EFB-5F4963E74B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UnitThermalGenerators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进入后有所有企业的信息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点击一个企业后可看到详细信息，读机组详细信息表，看这家公司下面有哪些机组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燃料转换成文字，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1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是煤，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2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是气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可以就按如图展示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23331C-5A31-9C68-40C9-37A2D2830B0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116295-2D78-DB4F-FBF8-5FF1F3D451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6130338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8550C-249E-12D4-8C62-574A7337F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E28048-52FD-7AE6-B980-39B162C189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E8E499-69B9-1DFF-AB0C-DE0370DACC8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4CBEEC9-425C-297A-5B21-1849EC5861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FA666A7-0528-3F25-34E5-AB282F4FBD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竞价策略历史数据一天版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.xlsx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，分散于表格里不同变量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市场披露交易历史信息 总体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如何设计此页面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1FF946-8904-D4CF-CA1A-79EACCC63FC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BCAF15-9633-9F53-7B8C-3F7E44EF6A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206046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6CDA2-211D-8B04-24B8-809A699B8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3DA5ABC-7E9D-984E-D4B1-17933EED199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A9161E-D313-E54F-A8C9-35A3C4BE8E0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52C4F34-5E73-6743-85A8-E571D9FA69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FDBE824-43BB-A64E-D9A6-6FEBCFF69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MarDayAheadUnitQuotes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MarAucillaryUnitQuotes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市场披露交易历史信息 历史报价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现货市场里原始表格类似左表，改为用右表表示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1F3FB-0A9B-90A8-11E5-7E8E8CE0977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F115C-E0D3-5E4C-25F7-E96A78A539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7576055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BA5F8-A4AF-63C6-12F4-4B4746A78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1F628D2-B843-D868-B70F-5C1FD0946D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715F5F-5413-D1E2-342B-97844ADB182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2C5A6A0-F43C-5426-D45E-DFB95BD1D2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3FC079E-BF95-D7B2-50DF-CDB92BF7F8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LevelC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_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机组电能量市场中标结果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LevelC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_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机组辅助服务市场中标结果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市场披露交易历史信息 历史中标结果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本页面如何设计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如果本页面内容过多，就把历史详情改为历史申报和历史结果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880D5-4F61-D51E-D44A-CFECCF0BCF0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2BABE-05C5-3A39-ABC6-BC2DC3A11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0632677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E1FA0-5DB5-BF23-5A6E-47C8B270B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5A27E61-3491-A8BA-53B5-BF3D972418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8D93E2-F0A9-0A3C-4EA5-F671391A97D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1D30E01-07F5-9131-5BBB-F7B3A72F40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7CC9CF7-70D9-68C4-7EB5-642543D26C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电价预测 信息披露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横坐标展示一天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96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节点的，其他图相同，不是按图中第几天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DB3C6D-87E5-ED7D-BF21-3E0BBA39C08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079B67-D587-7632-6189-7DC7EA5CB6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917772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1AD48-CD42-1683-5CE6-6595D5309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F05146-EAF5-964F-BFF1-3576E5397F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E86385-1D51-5772-B9FD-A27326D80B0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BA68826-DEAB-356C-2214-6CDD1D2353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5105AA0-BD3B-0BC6-1A2F-8862CCE17F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电价预测 信息披露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6BDF8-CAD0-9EAC-F3E0-53B9BDB6C1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964341-2B23-ED67-BE4A-195AA53E4B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086237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87139-018A-58AD-2779-AD7F98629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DEC198B-6C7C-FAC3-4BF4-FFD9120ECE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C12CFF-28ED-D9AB-ED08-E3DBD4428DA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CAAA6E7-464E-45CF-9836-43B0B07803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80E4102-9923-065A-BBAF-7813726504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电价预测 信息披露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DBD221-49DA-7EB5-F3BB-C8E573CB05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F888C-9473-E8C6-18CB-CC23536A3F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6149175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ECB9B-E164-E02F-B273-0380B9D45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D453414-5266-CA68-56DA-08BC6D2E4D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B38B98-7EED-EA25-110E-5964BD12E97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912F864-B19F-C2FA-23B4-DF55A0BBDF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89A54A1-3A3E-69C7-B5C7-AF404EA2BC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电价预测 信息披露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2F7C98-BA2F-EAF1-8C3C-58C0D4263D7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F867B-7814-7FA9-2CAF-C9C2CFEA2A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919348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E9364-F8D1-DB23-A1A0-C7F9F2BAE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7FDA4B9-70A5-C298-0AE8-6ED1310A1C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9A22E-0F45-6981-394E-F584A35AEBA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0978665-139E-0128-906A-03701817E5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9C18080-BD0B-26AA-B7D7-268768A444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电价预测 信息披露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BF5D67-6875-5797-FF8F-5381EC82A19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1394F7-E06A-4248-3877-7422406C88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882691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FD6FF-D43C-BC53-B984-FE7A012F3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4D3ED6-9767-5B6E-2A15-F4191ECFBC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72BA34-E4D2-7F29-0DAF-0419FF9ADC9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EB18296-C4CC-1C60-BACA-AE82B06FA4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0293D66-2106-F3A3-971B-C6B730F690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UnitThermalPlants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点击可进入市场主体的报价页面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6E763-E9E8-0426-14F6-CA3CC1C541D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9B3DE-1E50-3EDF-B2C3-72511DA4D2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74734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32142-5DB9-C127-B407-1DDC41D71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24F0A9-F9D3-8767-1D75-68BD2561866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F6321E-D635-DAE4-0498-2B2A014C2A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FEA7D96-417A-64FE-FE76-B31DD3D68F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8E289C8-DA20-2855-0826-D42D5491B2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MarDayAheadUnitQuotes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MarAucillaryUnitQuotes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机组</a:t>
            </a:r>
            <a:r>
              <a:rPr lang="zh-CN" altLang="en-US" sz="1400" b="0" dirty="0">
                <a:solidFill>
                  <a:srgbClr val="333333"/>
                </a:solidFill>
                <a:latin typeface="Noto Sans SC"/>
                <a:ea typeface="Noto Sans SC"/>
              </a:rPr>
              <a:t>处可以切换该市场主体下其他机组</a:t>
            </a:r>
            <a:br>
              <a:rPr lang="en-US" altLang="zh-CN" sz="1400" b="0" dirty="0">
                <a:solidFill>
                  <a:srgbClr val="333333"/>
                </a:solidFill>
                <a:latin typeface="Noto Sans SC"/>
                <a:ea typeface="Noto Sans SC"/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有每个主体具体报价页面，初始都是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0</a:t>
            </a:r>
          </a:p>
          <a:p>
            <a:pPr indent="0" algn="l">
              <a:lnSpc>
                <a:spcPct val="100000"/>
              </a:lnSpc>
            </a:pPr>
            <a:r>
              <a:rPr lang="zh-CN" altLang="en-US" sz="1400" b="0" dirty="0">
                <a:solidFill>
                  <a:srgbClr val="333333"/>
                </a:solidFill>
                <a:latin typeface="Noto Sans SC"/>
                <a:ea typeface="Noto Sans SC"/>
              </a:rPr>
              <a:t>提交电能量的申报会形成报价曲线显示</a:t>
            </a:r>
            <a:endParaRPr lang="en-US" altLang="zh-CN" sz="1400" b="0" dirty="0">
              <a:solidFill>
                <a:srgbClr val="333333"/>
              </a:solidFill>
              <a:latin typeface="Noto Sans SC"/>
              <a:ea typeface="Noto Sans SC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具体排版你可以组织下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DF3C97-8B2B-460D-C735-F5BF54C4962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CD0DF-DBFC-60E3-B7B5-921416DEA7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898051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46E14-4FCE-0BBF-90D6-EA7E9047B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534BF49-862D-A1C8-B22D-11F6431C36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0EA445-D48C-E346-C015-C22E0CD123F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8B7AFC9-6E1C-8885-1819-EF9540408D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6B97868-FFCE-D009-B88E-6C190ACE58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LevelA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_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电能量市场出清总览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用标签或横向表格形式，不同市场主体数量可用图表。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加报价结果评价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红字内容改用左右两个饼状图呈现，一个是数，一个是装机容量，不在表格里另外呈现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681D8-D340-CE00-044C-B75F973DBF4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6C6C78-9269-22D4-4C24-CA2974B294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1900996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6E8FE-EA40-525A-EF11-F1E5ECB89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452987-F928-AD6D-BE55-ABCFBE604C7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42986D-784D-F600-AF99-43F05A3DFB6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545CE0C-FF65-B3D8-0B3F-F3F8165540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9FD9850-C2FB-AF11-C2FD-05F3803DC9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LevelC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_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电能量市场出清电价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E9E47-DB74-9FF6-F07E-4D1ED80AC8A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9C213-724C-2275-187B-744CE742DB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5977514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E9A8E-419A-D8CF-D1BD-B5CE548A7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9D1995E-6F38-656F-C49C-D2DCF68E1A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78640F-0B84-D3DC-69F0-574CB557225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C382C87-BAB4-4F33-B867-13768D2B57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83F6D76-2AD3-F27D-3D9D-BE294DB7D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LevelA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_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辅助服务市场出清总览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7885A-7A04-0AA1-8AAD-16E11896F01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2F88FD-5209-E30F-5D34-004F1AD67C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819671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524CF-6086-1F62-C518-D6CCD34D5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0899A2F-D84C-7223-D6AE-FA665075E3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A1F6F3-EB94-723D-7A98-3519FC88F01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04550FB-21E7-46E8-5146-5BBB864022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80A4534-BE7E-EBF7-FF88-915DDF9487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LevelC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_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辅助服务市场出清电价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2D417A-11EF-3941-45F2-D015FF833DC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34F7ED-C287-43A3-D0C5-444A81F565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224696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444E2-9F87-709C-2164-7BC8CA330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EAE420E-A786-62D6-772C-295BB1A2F9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9F4D06-500F-0CAB-D97A-3258561F1C9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39AABDD-464A-FFA5-215A-1195D62C46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7731D1C-CB99-9A78-545E-25F2434266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LevelC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_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电力电量平衡表单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我后面删一些不需要的图例项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AE5A4-C889-25E5-726F-8FEEF9D30F4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0839FB-CE17-D19E-F10C-8EA4BCA33A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305415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26A38-6126-413A-BC00-B199CCCE3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8798B1-C9A1-CA10-E897-7BDED15367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8A5AC1-C9AE-379B-8B35-18243363713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A02B23D-D9A4-2269-279B-AB3B18BF44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0AE1558-DA69-7630-DC3C-1E94D06B41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LevelB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_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火电厂电能量市场收益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LevelB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_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火电厂辅助服务市场收益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67B611-A9D2-1819-DA88-F0CF7BBBA57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10510F-03EA-B5D6-11DB-F7FE999D2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737207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A7DFC-3F07-0201-0045-B9BFCAD0E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0D6CBB6-C552-69C3-1813-492480AA8F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3E4D54-3AEE-C568-FC49-55F3CE42820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457454C-3490-5AB6-ED41-54F1D9E639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297DE7B-AA1E-1BD4-D169-A3AA0CDAFE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LevelC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_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机组电能量市场中标结果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LevelC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_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机组辅助服务市场中标结果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机组前可写死公司名称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理性报价结果和自主报价结果除了数据一模一样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3B942F-A460-2771-C512-13CB17DC551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ED9531-ACFC-147B-C7B6-0121DF58EF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86942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8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11" Type="http://schemas.openxmlformats.org/officeDocument/2006/relationships/image" Target="../media/image17.png"/><Relationship Id="rId5" Type="http://schemas.openxmlformats.org/officeDocument/2006/relationships/image" Target="../media/image21.png"/><Relationship Id="rId10" Type="http://schemas.openxmlformats.org/officeDocument/2006/relationships/image" Target="../media/image12.svg"/><Relationship Id="rId4" Type="http://schemas.openxmlformats.org/officeDocument/2006/relationships/image" Target="../media/image20.sv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11" Type="http://schemas.openxmlformats.org/officeDocument/2006/relationships/image" Target="../media/image17.png"/><Relationship Id="rId5" Type="http://schemas.openxmlformats.org/officeDocument/2006/relationships/image" Target="../media/image21.png"/><Relationship Id="rId10" Type="http://schemas.openxmlformats.org/officeDocument/2006/relationships/image" Target="../media/image12.svg"/><Relationship Id="rId4" Type="http://schemas.openxmlformats.org/officeDocument/2006/relationships/image" Target="../media/image20.sv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svg"/><Relationship Id="rId11" Type="http://schemas.openxmlformats.org/officeDocument/2006/relationships/image" Target="../media/image17.png"/><Relationship Id="rId5" Type="http://schemas.openxmlformats.org/officeDocument/2006/relationships/image" Target="../media/image23.png"/><Relationship Id="rId10" Type="http://schemas.openxmlformats.org/officeDocument/2006/relationships/image" Target="../media/image22.svg"/><Relationship Id="rId4" Type="http://schemas.openxmlformats.org/officeDocument/2006/relationships/image" Target="../media/image10.sv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svg"/><Relationship Id="rId11" Type="http://schemas.openxmlformats.org/officeDocument/2006/relationships/image" Target="../media/image17.png"/><Relationship Id="rId5" Type="http://schemas.openxmlformats.org/officeDocument/2006/relationships/image" Target="../media/image25.png"/><Relationship Id="rId10" Type="http://schemas.openxmlformats.org/officeDocument/2006/relationships/image" Target="../media/image22.svg"/><Relationship Id="rId4" Type="http://schemas.openxmlformats.org/officeDocument/2006/relationships/image" Target="../media/image6.sv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svg"/><Relationship Id="rId11" Type="http://schemas.openxmlformats.org/officeDocument/2006/relationships/image" Target="../media/image17.png"/><Relationship Id="rId5" Type="http://schemas.openxmlformats.org/officeDocument/2006/relationships/image" Target="../media/image25.png"/><Relationship Id="rId10" Type="http://schemas.openxmlformats.org/officeDocument/2006/relationships/image" Target="../media/image22.svg"/><Relationship Id="rId4" Type="http://schemas.openxmlformats.org/officeDocument/2006/relationships/image" Target="../media/image6.sv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5.png"/><Relationship Id="rId7" Type="http://schemas.openxmlformats.org/officeDocument/2006/relationships/image" Target="../media/image21.png"/><Relationship Id="rId12" Type="http://schemas.openxmlformats.org/officeDocument/2006/relationships/image" Target="../media/image2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11" Type="http://schemas.openxmlformats.org/officeDocument/2006/relationships/image" Target="../media/image27.png"/><Relationship Id="rId5" Type="http://schemas.openxmlformats.org/officeDocument/2006/relationships/image" Target="../media/image9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11" Type="http://schemas.openxmlformats.org/officeDocument/2006/relationships/image" Target="../media/image17.png"/><Relationship Id="rId5" Type="http://schemas.openxmlformats.org/officeDocument/2006/relationships/image" Target="../media/image9.png"/><Relationship Id="rId10" Type="http://schemas.openxmlformats.org/officeDocument/2006/relationships/image" Target="../media/image8.svg"/><Relationship Id="rId4" Type="http://schemas.openxmlformats.org/officeDocument/2006/relationships/image" Target="../media/image6.svg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11" Type="http://schemas.openxmlformats.org/officeDocument/2006/relationships/image" Target="../media/image17.png"/><Relationship Id="rId5" Type="http://schemas.openxmlformats.org/officeDocument/2006/relationships/image" Target="../media/image9.png"/><Relationship Id="rId10" Type="http://schemas.openxmlformats.org/officeDocument/2006/relationships/image" Target="../media/image8.svg"/><Relationship Id="rId4" Type="http://schemas.openxmlformats.org/officeDocument/2006/relationships/image" Target="../media/image6.svg"/><Relationship Id="rId9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11" Type="http://schemas.openxmlformats.org/officeDocument/2006/relationships/image" Target="../media/image9.png"/><Relationship Id="rId5" Type="http://schemas.openxmlformats.org/officeDocument/2006/relationships/image" Target="../media/image21.png"/><Relationship Id="rId10" Type="http://schemas.openxmlformats.org/officeDocument/2006/relationships/image" Target="../media/image30.svg"/><Relationship Id="rId4" Type="http://schemas.openxmlformats.org/officeDocument/2006/relationships/image" Target="../media/image6.svg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11" Type="http://schemas.openxmlformats.org/officeDocument/2006/relationships/image" Target="../media/image9.png"/><Relationship Id="rId5" Type="http://schemas.openxmlformats.org/officeDocument/2006/relationships/image" Target="../media/image21.png"/><Relationship Id="rId10" Type="http://schemas.openxmlformats.org/officeDocument/2006/relationships/image" Target="../media/image30.svg"/><Relationship Id="rId4" Type="http://schemas.openxmlformats.org/officeDocument/2006/relationships/image" Target="../media/image6.svg"/><Relationship Id="rId9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11" Type="http://schemas.openxmlformats.org/officeDocument/2006/relationships/image" Target="../media/image9.png"/><Relationship Id="rId5" Type="http://schemas.openxmlformats.org/officeDocument/2006/relationships/image" Target="../media/image21.png"/><Relationship Id="rId10" Type="http://schemas.openxmlformats.org/officeDocument/2006/relationships/image" Target="../media/image30.svg"/><Relationship Id="rId4" Type="http://schemas.openxmlformats.org/officeDocument/2006/relationships/image" Target="../media/image6.svg"/><Relationship Id="rId9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11" Type="http://schemas.openxmlformats.org/officeDocument/2006/relationships/image" Target="../media/image17.png"/><Relationship Id="rId5" Type="http://schemas.openxmlformats.org/officeDocument/2006/relationships/image" Target="../media/image21.png"/><Relationship Id="rId10" Type="http://schemas.openxmlformats.org/officeDocument/2006/relationships/image" Target="../media/image20.svg"/><Relationship Id="rId4" Type="http://schemas.openxmlformats.org/officeDocument/2006/relationships/image" Target="../media/image6.svg"/><Relationship Id="rId9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11" Type="http://schemas.openxmlformats.org/officeDocument/2006/relationships/image" Target="../media/image17.png"/><Relationship Id="rId5" Type="http://schemas.openxmlformats.org/officeDocument/2006/relationships/image" Target="../media/image21.png"/><Relationship Id="rId10" Type="http://schemas.openxmlformats.org/officeDocument/2006/relationships/image" Target="../media/image20.svg"/><Relationship Id="rId4" Type="http://schemas.openxmlformats.org/officeDocument/2006/relationships/image" Target="../media/image6.svg"/><Relationship Id="rId9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11" Type="http://schemas.openxmlformats.org/officeDocument/2006/relationships/image" Target="../media/image17.png"/><Relationship Id="rId5" Type="http://schemas.openxmlformats.org/officeDocument/2006/relationships/image" Target="../media/image21.png"/><Relationship Id="rId10" Type="http://schemas.openxmlformats.org/officeDocument/2006/relationships/image" Target="../media/image20.svg"/><Relationship Id="rId4" Type="http://schemas.openxmlformats.org/officeDocument/2006/relationships/image" Target="../media/image6.svg"/><Relationship Id="rId9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11" Type="http://schemas.openxmlformats.org/officeDocument/2006/relationships/image" Target="../media/image17.png"/><Relationship Id="rId5" Type="http://schemas.openxmlformats.org/officeDocument/2006/relationships/image" Target="../media/image21.png"/><Relationship Id="rId10" Type="http://schemas.openxmlformats.org/officeDocument/2006/relationships/image" Target="../media/image20.svg"/><Relationship Id="rId4" Type="http://schemas.openxmlformats.org/officeDocument/2006/relationships/image" Target="../media/image6.svg"/><Relationship Id="rId9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11" Type="http://schemas.openxmlformats.org/officeDocument/2006/relationships/image" Target="../media/image17.png"/><Relationship Id="rId5" Type="http://schemas.openxmlformats.org/officeDocument/2006/relationships/image" Target="../media/image21.png"/><Relationship Id="rId10" Type="http://schemas.openxmlformats.org/officeDocument/2006/relationships/image" Target="../media/image20.svg"/><Relationship Id="rId4" Type="http://schemas.openxmlformats.org/officeDocument/2006/relationships/image" Target="../media/image6.svg"/><Relationship Id="rId9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11" Type="http://schemas.openxmlformats.org/officeDocument/2006/relationships/image" Target="../media/image17.png"/><Relationship Id="rId5" Type="http://schemas.openxmlformats.org/officeDocument/2006/relationships/image" Target="../media/image21.png"/><Relationship Id="rId10" Type="http://schemas.openxmlformats.org/officeDocument/2006/relationships/image" Target="../media/image24.svg"/><Relationship Id="rId4" Type="http://schemas.openxmlformats.org/officeDocument/2006/relationships/image" Target="../media/image10.svg"/><Relationship Id="rId9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11" Type="http://schemas.openxmlformats.org/officeDocument/2006/relationships/image" Target="../media/image17.png"/><Relationship Id="rId5" Type="http://schemas.openxmlformats.org/officeDocument/2006/relationships/image" Target="../media/image21.png"/><Relationship Id="rId10" Type="http://schemas.openxmlformats.org/officeDocument/2006/relationships/image" Target="../media/image24.svg"/><Relationship Id="rId4" Type="http://schemas.openxmlformats.org/officeDocument/2006/relationships/image" Target="../media/image10.svg"/><Relationship Id="rId9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11" Type="http://schemas.openxmlformats.org/officeDocument/2006/relationships/image" Target="../media/image17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10.svg"/><Relationship Id="rId9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11" Type="http://schemas.openxmlformats.org/officeDocument/2006/relationships/image" Target="../media/image17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10.svg"/><Relationship Id="rId9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11" Type="http://schemas.openxmlformats.org/officeDocument/2006/relationships/image" Target="../media/image17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10.svg"/><Relationship Id="rId9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11" Type="http://schemas.openxmlformats.org/officeDocument/2006/relationships/image" Target="../media/image17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10.svg"/><Relationship Id="rId9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8.svg"/><Relationship Id="rId3" Type="http://schemas.openxmlformats.org/officeDocument/2006/relationships/chart" Target="../charts/chart1.xml"/><Relationship Id="rId7" Type="http://schemas.openxmlformats.org/officeDocument/2006/relationships/image" Target="../media/image22.sv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11" Type="http://schemas.openxmlformats.org/officeDocument/2006/relationships/image" Target="../media/image26.svg"/><Relationship Id="rId5" Type="http://schemas.openxmlformats.org/officeDocument/2006/relationships/image" Target="../media/image10.svg"/><Relationship Id="rId10" Type="http://schemas.openxmlformats.org/officeDocument/2006/relationships/image" Target="../media/image25.png"/><Relationship Id="rId4" Type="http://schemas.openxmlformats.org/officeDocument/2006/relationships/image" Target="../media/image9.png"/><Relationship Id="rId9" Type="http://schemas.openxmlformats.org/officeDocument/2006/relationships/image" Target="../media/image6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11" Type="http://schemas.openxmlformats.org/officeDocument/2006/relationships/image" Target="../media/image17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10.svg"/><Relationship Id="rId9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11" Type="http://schemas.openxmlformats.org/officeDocument/2006/relationships/image" Target="../media/image17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10.svg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286000" y="1016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2286000" y="1651000"/>
            <a:ext cx="762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请选择您要使用的平台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540000"/>
            <a:ext cx="457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2997200" y="2921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016000" y="37338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电价</a:t>
            </a:r>
            <a:r>
              <a:rPr lang="en-US" sz="1800" b="1" i="0" u="none" strike="noStrike" dirty="0" err="1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预测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604000" y="2540000"/>
            <a:ext cx="457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85200" y="29210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604000" y="37338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电力市场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2FD17-06B2-E914-B8BA-D91A89F48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CF0181E-CA1E-FBE1-36D6-AB7D768530B0}"/>
              </a:ext>
            </a:extLst>
          </p:cNvPr>
          <p:cNvSpPr/>
          <p:nvPr/>
        </p:nvSpPr>
        <p:spPr>
          <a:xfrm>
            <a:off x="508000" y="203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电价预测</a:t>
            </a:r>
            <a:r>
              <a:rPr lang="en-US" sz="1800" b="1" i="0" u="none" strike="noStrike" dirty="0" err="1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lang="en-US" sz="1100" dirty="0"/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405FBC23-A59E-0C25-E402-DE5F99C0803D}"/>
              </a:ext>
            </a:extLst>
          </p:cNvPr>
          <p:cNvCxnSpPr/>
          <p:nvPr/>
        </p:nvCxnSpPr>
        <p:spPr>
          <a:xfrm rot="-3906">
            <a:off x="508004" y="704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CC31A989-1C63-93C0-2D2A-7D161805A327}"/>
              </a:ext>
            </a:extLst>
          </p:cNvPr>
          <p:cNvSpPr/>
          <p:nvPr/>
        </p:nvSpPr>
        <p:spPr>
          <a:xfrm>
            <a:off x="508000" y="914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lang="en-US" sz="1100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EF8E9A76-6E56-779C-9CA0-E87AAF9AFAB7}"/>
              </a:ext>
            </a:extLst>
          </p:cNvPr>
          <p:cNvSpPr/>
          <p:nvPr/>
        </p:nvSpPr>
        <p:spPr>
          <a:xfrm>
            <a:off x="464624" y="1320800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62891EEF-08F8-F0C4-F195-3448EEA1F0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" y="2463800"/>
            <a:ext cx="203200" cy="203200"/>
          </a:xfrm>
          <a:prstGeom prst="rect">
            <a:avLst/>
          </a:prstGeom>
        </p:spPr>
      </p:pic>
      <p:sp>
        <p:nvSpPr>
          <p:cNvPr id="11" name="AutoShape 11">
            <a:extLst>
              <a:ext uri="{FF2B5EF4-FFF2-40B4-BE49-F238E27FC236}">
                <a16:creationId xmlns:a16="http://schemas.microsoft.com/office/drawing/2014/main" id="{604E64E5-A7D7-8B67-8106-B62391F7A800}"/>
              </a:ext>
            </a:extLst>
          </p:cNvPr>
          <p:cNvSpPr/>
          <p:nvPr/>
        </p:nvSpPr>
        <p:spPr>
          <a:xfrm>
            <a:off x="965200" y="24130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模型管理</a:t>
            </a:r>
            <a:endParaRPr lang="en-US" sz="1100" dirty="0"/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49763009-F5BB-7A26-93B5-D468C8464A22}"/>
              </a:ext>
            </a:extLst>
          </p:cNvPr>
          <p:cNvCxnSpPr>
            <a:cxnSpLocks/>
          </p:cNvCxnSpPr>
          <p:nvPr/>
        </p:nvCxnSpPr>
        <p:spPr>
          <a:xfrm>
            <a:off x="1990706" y="942109"/>
            <a:ext cx="20461" cy="796287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>
            <a:extLst>
              <a:ext uri="{FF2B5EF4-FFF2-40B4-BE49-F238E27FC236}">
                <a16:creationId xmlns:a16="http://schemas.microsoft.com/office/drawing/2014/main" id="{56697579-7CD5-09D3-9338-12860F1A998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90392509-F0EA-B947-9991-C45541D543E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65711152-0CE4-08D6-B04F-45A2F621A72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03946674-DF12-04BF-1A91-E49993481A9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883F6426-6686-76A9-3ED0-2F4E09967B81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95631CA2-85C1-9918-F9D7-BE1FE67108CD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17A0799B-6E28-BC3E-89AE-F2C963EB697A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598E801F-32B8-B614-326D-D940213B5A8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82E4E72A-5908-2865-F7BF-D9350BD4984B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1E9E312E-642D-4DB9-0B24-D341660605B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3D1FC5AC-C525-9F13-735F-F1B71CEB9B9A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831E4FB1-D5C5-B4F8-1DFE-A687A900158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EBAA7413-97DC-EF22-CF19-61B2AA3F1E3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02BA3C4A-82AF-DB47-E2E5-94B09A8A0EF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E2C3A76E-CA33-04B8-0574-D32157027D4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FD81452E-1B26-7D0A-8102-2E4972BD60DB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9" name="AutoShape 32">
            <a:extLst>
              <a:ext uri="{FF2B5EF4-FFF2-40B4-BE49-F238E27FC236}">
                <a16:creationId xmlns:a16="http://schemas.microsoft.com/office/drawing/2014/main" id="{E0FB20E6-67EB-3646-14F7-B833A4DA6CF9}"/>
              </a:ext>
            </a:extLst>
          </p:cNvPr>
          <p:cNvSpPr/>
          <p:nvPr/>
        </p:nvSpPr>
        <p:spPr>
          <a:xfrm>
            <a:off x="8734102" y="1026160"/>
            <a:ext cx="1128712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300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模型</a:t>
            </a:r>
            <a:r>
              <a:rPr lang="zh-CN" altLang="en-US" sz="13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选择</a:t>
            </a:r>
            <a:endParaRPr lang="en-US" sz="1100" dirty="0"/>
          </a:p>
        </p:txBody>
      </p:sp>
      <p:sp>
        <p:nvSpPr>
          <p:cNvPr id="20" name="AutoShape 33">
            <a:extLst>
              <a:ext uri="{FF2B5EF4-FFF2-40B4-BE49-F238E27FC236}">
                <a16:creationId xmlns:a16="http://schemas.microsoft.com/office/drawing/2014/main" id="{5D45AD78-43FE-77EE-D48C-5E624072C20C}"/>
              </a:ext>
            </a:extLst>
          </p:cNvPr>
          <p:cNvSpPr/>
          <p:nvPr/>
        </p:nvSpPr>
        <p:spPr>
          <a:xfrm>
            <a:off x="9577088" y="977900"/>
            <a:ext cx="1054479" cy="3556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2" name="AutoShape 34">
            <a:extLst>
              <a:ext uri="{FF2B5EF4-FFF2-40B4-BE49-F238E27FC236}">
                <a16:creationId xmlns:a16="http://schemas.microsoft.com/office/drawing/2014/main" id="{D9114E67-8781-EE5F-5161-45CE198388F7}"/>
              </a:ext>
            </a:extLst>
          </p:cNvPr>
          <p:cNvSpPr/>
          <p:nvPr/>
        </p:nvSpPr>
        <p:spPr>
          <a:xfrm>
            <a:off x="10837466" y="977900"/>
            <a:ext cx="846534" cy="355600"/>
          </a:xfrm>
          <a:prstGeom prst="roundRect">
            <a:avLst>
              <a:gd name="adj" fmla="val 14285"/>
            </a:avLst>
          </a:prstGeom>
          <a:solidFill>
            <a:srgbClr val="409E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1300" b="1" dirty="0">
                <a:solidFill>
                  <a:srgbClr val="FFFFFF"/>
                </a:solidFill>
                <a:latin typeface="Noto Sans SC"/>
                <a:ea typeface="Noto Sans SC"/>
              </a:rPr>
              <a:t>预测</a:t>
            </a:r>
            <a:endParaRPr sz="1300" b="1" dirty="0">
              <a:solidFill>
                <a:srgbClr val="FFFFFF"/>
              </a:solidFill>
              <a:latin typeface="Noto Sans SC"/>
              <a:ea typeface="Noto Sans SC"/>
            </a:endParaRPr>
          </a:p>
        </p:txBody>
      </p:sp>
      <p:sp>
        <p:nvSpPr>
          <p:cNvPr id="48" name="AutoShape 32">
            <a:extLst>
              <a:ext uri="{FF2B5EF4-FFF2-40B4-BE49-F238E27FC236}">
                <a16:creationId xmlns:a16="http://schemas.microsoft.com/office/drawing/2014/main" id="{68E634E2-C767-086B-1A14-6A217707DCDA}"/>
              </a:ext>
            </a:extLst>
          </p:cNvPr>
          <p:cNvSpPr/>
          <p:nvPr/>
        </p:nvSpPr>
        <p:spPr>
          <a:xfrm>
            <a:off x="4434279" y="1013460"/>
            <a:ext cx="1128712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300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类型</a:t>
            </a:r>
            <a:r>
              <a:rPr lang="zh-CN" altLang="en-US" sz="13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选择</a:t>
            </a:r>
            <a:endParaRPr lang="en-US" sz="1100" dirty="0"/>
          </a:p>
        </p:txBody>
      </p:sp>
      <p:sp>
        <p:nvSpPr>
          <p:cNvPr id="54" name="AutoShape 33">
            <a:extLst>
              <a:ext uri="{FF2B5EF4-FFF2-40B4-BE49-F238E27FC236}">
                <a16:creationId xmlns:a16="http://schemas.microsoft.com/office/drawing/2014/main" id="{638A4864-2E44-42C4-6F72-797ACAAD2C8C}"/>
              </a:ext>
            </a:extLst>
          </p:cNvPr>
          <p:cNvSpPr/>
          <p:nvPr/>
        </p:nvSpPr>
        <p:spPr>
          <a:xfrm>
            <a:off x="5277265" y="965200"/>
            <a:ext cx="1054479" cy="3556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r>
              <a:rPr lang="zh-CN" altLang="en-US" dirty="0"/>
              <a:t>周前确定</a:t>
            </a:r>
            <a:endParaRPr dirty="0"/>
          </a:p>
        </p:txBody>
      </p:sp>
      <p:sp>
        <p:nvSpPr>
          <p:cNvPr id="55" name="AutoShape 32">
            <a:extLst>
              <a:ext uri="{FF2B5EF4-FFF2-40B4-BE49-F238E27FC236}">
                <a16:creationId xmlns:a16="http://schemas.microsoft.com/office/drawing/2014/main" id="{59A5A180-4571-7556-361D-72C903477DC2}"/>
              </a:ext>
            </a:extLst>
          </p:cNvPr>
          <p:cNvSpPr/>
          <p:nvPr/>
        </p:nvSpPr>
        <p:spPr>
          <a:xfrm>
            <a:off x="2188052" y="1013460"/>
            <a:ext cx="1128712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300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数据集</a:t>
            </a:r>
            <a:r>
              <a:rPr lang="zh-CN" altLang="en-US" sz="13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选择</a:t>
            </a:r>
            <a:endParaRPr lang="en-US" sz="1100" dirty="0"/>
          </a:p>
        </p:txBody>
      </p:sp>
      <p:sp>
        <p:nvSpPr>
          <p:cNvPr id="78" name="AutoShape 33">
            <a:extLst>
              <a:ext uri="{FF2B5EF4-FFF2-40B4-BE49-F238E27FC236}">
                <a16:creationId xmlns:a16="http://schemas.microsoft.com/office/drawing/2014/main" id="{4BB86AFC-7B24-F8B3-E365-9380C2C94A4B}"/>
              </a:ext>
            </a:extLst>
          </p:cNvPr>
          <p:cNvSpPr/>
          <p:nvPr/>
        </p:nvSpPr>
        <p:spPr>
          <a:xfrm>
            <a:off x="3173901" y="965200"/>
            <a:ext cx="1054479" cy="3556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87" name="Picture 8">
            <a:extLst>
              <a:ext uri="{FF2B5EF4-FFF2-40B4-BE49-F238E27FC236}">
                <a16:creationId xmlns:a16="http://schemas.microsoft.com/office/drawing/2014/main" id="{EBECDF3C-C2D2-C683-D8F4-5495329FDF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1440873"/>
            <a:ext cx="203200" cy="203200"/>
          </a:xfrm>
          <a:prstGeom prst="rect">
            <a:avLst/>
          </a:prstGeom>
        </p:spPr>
      </p:pic>
      <p:sp>
        <p:nvSpPr>
          <p:cNvPr id="188" name="AutoShape 9">
            <a:extLst>
              <a:ext uri="{FF2B5EF4-FFF2-40B4-BE49-F238E27FC236}">
                <a16:creationId xmlns:a16="http://schemas.microsoft.com/office/drawing/2014/main" id="{E8BE04B0-6A7C-4DFF-36C6-29D96A5ECE1A}"/>
              </a:ext>
            </a:extLst>
          </p:cNvPr>
          <p:cNvSpPr/>
          <p:nvPr/>
        </p:nvSpPr>
        <p:spPr>
          <a:xfrm>
            <a:off x="965200" y="13900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首页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pic>
        <p:nvPicPr>
          <p:cNvPr id="189" name="Picture 6">
            <a:extLst>
              <a:ext uri="{FF2B5EF4-FFF2-40B4-BE49-F238E27FC236}">
                <a16:creationId xmlns:a16="http://schemas.microsoft.com/office/drawing/2014/main" id="{C849F52C-FBA1-AA4F-E5ED-7EB0EB76D4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" y="1930400"/>
            <a:ext cx="203200" cy="203200"/>
          </a:xfrm>
          <a:prstGeom prst="rect">
            <a:avLst/>
          </a:prstGeom>
        </p:spPr>
      </p:pic>
      <p:sp>
        <p:nvSpPr>
          <p:cNvPr id="190" name="AutoShape 7">
            <a:extLst>
              <a:ext uri="{FF2B5EF4-FFF2-40B4-BE49-F238E27FC236}">
                <a16:creationId xmlns:a16="http://schemas.microsoft.com/office/drawing/2014/main" id="{7C831F57-3A57-B00F-19BD-46988411C9C9}"/>
              </a:ext>
            </a:extLst>
          </p:cNvPr>
          <p:cNvSpPr/>
          <p:nvPr/>
        </p:nvSpPr>
        <p:spPr>
          <a:xfrm>
            <a:off x="965200" y="18796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dirty="0" err="1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数据管理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pic>
        <p:nvPicPr>
          <p:cNvPr id="191" name="Picture 12">
            <a:extLst>
              <a:ext uri="{FF2B5EF4-FFF2-40B4-BE49-F238E27FC236}">
                <a16:creationId xmlns:a16="http://schemas.microsoft.com/office/drawing/2014/main" id="{481B6269-CA5C-761C-5C96-CD982507AE1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" y="2971800"/>
            <a:ext cx="203200" cy="203200"/>
          </a:xfrm>
          <a:prstGeom prst="rect">
            <a:avLst/>
          </a:prstGeom>
        </p:spPr>
      </p:pic>
      <p:sp>
        <p:nvSpPr>
          <p:cNvPr id="192" name="AutoShape 13">
            <a:extLst>
              <a:ext uri="{FF2B5EF4-FFF2-40B4-BE49-F238E27FC236}">
                <a16:creationId xmlns:a16="http://schemas.microsoft.com/office/drawing/2014/main" id="{6CA979D9-499D-F2AA-60E3-9B672C6BA819}"/>
              </a:ext>
            </a:extLst>
          </p:cNvPr>
          <p:cNvSpPr/>
          <p:nvPr/>
        </p:nvSpPr>
        <p:spPr>
          <a:xfrm>
            <a:off x="965200" y="29210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预测</a:t>
            </a:r>
            <a:endParaRPr lang="en-US" sz="1100" dirty="0"/>
          </a:p>
        </p:txBody>
      </p:sp>
      <p:sp>
        <p:nvSpPr>
          <p:cNvPr id="7" name="AutoShape 13">
            <a:extLst>
              <a:ext uri="{FF2B5EF4-FFF2-40B4-BE49-F238E27FC236}">
                <a16:creationId xmlns:a16="http://schemas.microsoft.com/office/drawing/2014/main" id="{7B804098-21C8-42A9-6050-F1AC7E4017DE}"/>
              </a:ext>
            </a:extLst>
          </p:cNvPr>
          <p:cNvSpPr/>
          <p:nvPr/>
        </p:nvSpPr>
        <p:spPr>
          <a:xfrm>
            <a:off x="965200" y="3389321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评分管理</a:t>
            </a:r>
            <a:endParaRPr lang="en-US" sz="1100" dirty="0"/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80D2D216-D334-B4F2-8D88-2AEF50A0FDC4}"/>
              </a:ext>
            </a:extLst>
          </p:cNvPr>
          <p:cNvSpPr/>
          <p:nvPr/>
        </p:nvSpPr>
        <p:spPr>
          <a:xfrm>
            <a:off x="2039248" y="3829104"/>
            <a:ext cx="9644752" cy="2959623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8">
            <a:extLst>
              <a:ext uri="{FF2B5EF4-FFF2-40B4-BE49-F238E27FC236}">
                <a16:creationId xmlns:a16="http://schemas.microsoft.com/office/drawing/2014/main" id="{8A9B3CD4-BE4D-F7C8-F750-26AEBB944892}"/>
              </a:ext>
            </a:extLst>
          </p:cNvPr>
          <p:cNvSpPr/>
          <p:nvPr/>
        </p:nvSpPr>
        <p:spPr>
          <a:xfrm>
            <a:off x="2502483" y="3993326"/>
            <a:ext cx="3978063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天气</a:t>
            </a:r>
            <a:endParaRPr lang="en-US" sz="1100" dirty="0"/>
          </a:p>
        </p:txBody>
      </p:sp>
      <p:sp>
        <p:nvSpPr>
          <p:cNvPr id="13" name="AutoShape 9">
            <a:extLst>
              <a:ext uri="{FF2B5EF4-FFF2-40B4-BE49-F238E27FC236}">
                <a16:creationId xmlns:a16="http://schemas.microsoft.com/office/drawing/2014/main" id="{3C0F1DFA-8F57-0400-2A08-434989E201C1}"/>
              </a:ext>
            </a:extLst>
          </p:cNvPr>
          <p:cNvSpPr/>
          <p:nvPr/>
        </p:nvSpPr>
        <p:spPr>
          <a:xfrm>
            <a:off x="5440108" y="5143629"/>
            <a:ext cx="158327" cy="125664"/>
          </a:xfrm>
          <a:prstGeom prst="roundRect">
            <a:avLst>
              <a:gd name="adj" fmla="val 0"/>
            </a:avLst>
          </a:prstGeom>
          <a:solidFill>
            <a:srgbClr val="409E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0">
            <a:extLst>
              <a:ext uri="{FF2B5EF4-FFF2-40B4-BE49-F238E27FC236}">
                <a16:creationId xmlns:a16="http://schemas.microsoft.com/office/drawing/2014/main" id="{11EF54AF-9343-A7BD-9E64-C8E2D06A1B92}"/>
              </a:ext>
            </a:extLst>
          </p:cNvPr>
          <p:cNvSpPr/>
          <p:nvPr/>
        </p:nvSpPr>
        <p:spPr>
          <a:xfrm>
            <a:off x="5703986" y="5101741"/>
            <a:ext cx="870798" cy="16755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温度</a:t>
            </a:r>
            <a:endParaRPr lang="en-US" sz="1100" dirty="0"/>
          </a:p>
        </p:txBody>
      </p:sp>
      <p:sp>
        <p:nvSpPr>
          <p:cNvPr id="15" name="AutoShape 11">
            <a:extLst>
              <a:ext uri="{FF2B5EF4-FFF2-40B4-BE49-F238E27FC236}">
                <a16:creationId xmlns:a16="http://schemas.microsoft.com/office/drawing/2014/main" id="{E8EFA870-9370-DC38-7D04-1FE91FCE064F}"/>
              </a:ext>
            </a:extLst>
          </p:cNvPr>
          <p:cNvSpPr/>
          <p:nvPr/>
        </p:nvSpPr>
        <p:spPr>
          <a:xfrm>
            <a:off x="6980193" y="5124878"/>
            <a:ext cx="158328" cy="125664"/>
          </a:xfrm>
          <a:prstGeom prst="roundRect">
            <a:avLst>
              <a:gd name="adj" fmla="val 0"/>
            </a:avLst>
          </a:prstGeom>
          <a:solidFill>
            <a:srgbClr val="FFC000">
              <a:alpha val="100000"/>
            </a:srgbClr>
          </a:solidFill>
          <a:ln w="12700" cap="flat" cmpd="sng">
            <a:solidFill>
              <a:srgbClr val="FFC000">
                <a:alpha val="100000"/>
              </a:srgbClr>
            </a:solidFill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2">
            <a:extLst>
              <a:ext uri="{FF2B5EF4-FFF2-40B4-BE49-F238E27FC236}">
                <a16:creationId xmlns:a16="http://schemas.microsoft.com/office/drawing/2014/main" id="{D469074A-9E63-86E4-4B02-99F7E4DC5248}"/>
              </a:ext>
            </a:extLst>
          </p:cNvPr>
          <p:cNvSpPr/>
          <p:nvPr/>
        </p:nvSpPr>
        <p:spPr>
          <a:xfrm>
            <a:off x="6815976" y="5126215"/>
            <a:ext cx="1170995" cy="16755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r>
              <a:rPr lang="zh-CN" altLang="en-US" sz="1300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风速</a:t>
            </a:r>
            <a:endParaRPr lang="en-US" altLang="zh-CN" sz="1100" dirty="0"/>
          </a:p>
        </p:txBody>
      </p:sp>
      <p:sp>
        <p:nvSpPr>
          <p:cNvPr id="18" name="AutoShape 16">
            <a:extLst>
              <a:ext uri="{FF2B5EF4-FFF2-40B4-BE49-F238E27FC236}">
                <a16:creationId xmlns:a16="http://schemas.microsoft.com/office/drawing/2014/main" id="{E8CD5562-6FC6-3853-73BA-5884D1206D00}"/>
              </a:ext>
            </a:extLst>
          </p:cNvPr>
          <p:cNvSpPr/>
          <p:nvPr/>
        </p:nvSpPr>
        <p:spPr>
          <a:xfrm>
            <a:off x="2357158" y="5256184"/>
            <a:ext cx="853155" cy="16755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rgbClr val="666666"/>
                </a:solidFill>
                <a:latin typeface="Noto Sans SC"/>
                <a:ea typeface="Noto Sans SC"/>
                <a:sym typeface="Noto Sans SC"/>
              </a:rPr>
              <a:t>温度（℃）</a:t>
            </a:r>
            <a:endParaRPr lang="en-US" sz="1100" dirty="0"/>
          </a:p>
        </p:txBody>
      </p:sp>
      <p:cxnSp>
        <p:nvCxnSpPr>
          <p:cNvPr id="29" name="Connector 17">
            <a:extLst>
              <a:ext uri="{FF2B5EF4-FFF2-40B4-BE49-F238E27FC236}">
                <a16:creationId xmlns:a16="http://schemas.microsoft.com/office/drawing/2014/main" id="{79F72D5D-2974-7114-5981-D76303B97D7A}"/>
              </a:ext>
            </a:extLst>
          </p:cNvPr>
          <p:cNvCxnSpPr>
            <a:cxnSpLocks/>
          </p:cNvCxnSpPr>
          <p:nvPr/>
        </p:nvCxnSpPr>
        <p:spPr>
          <a:xfrm>
            <a:off x="2537447" y="6581034"/>
            <a:ext cx="8971862" cy="41888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CCC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" name="Connector 18">
            <a:extLst>
              <a:ext uri="{FF2B5EF4-FFF2-40B4-BE49-F238E27FC236}">
                <a16:creationId xmlns:a16="http://schemas.microsoft.com/office/drawing/2014/main" id="{3DB8B30A-1603-62D0-CC86-FE376B5B2B40}"/>
              </a:ext>
            </a:extLst>
          </p:cNvPr>
          <p:cNvCxnSpPr>
            <a:cxnSpLocks/>
          </p:cNvCxnSpPr>
          <p:nvPr/>
        </p:nvCxnSpPr>
        <p:spPr>
          <a:xfrm rot="5365623">
            <a:off x="2022913" y="6064393"/>
            <a:ext cx="1047201" cy="1319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CCC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19">
            <a:extLst>
              <a:ext uri="{FF2B5EF4-FFF2-40B4-BE49-F238E27FC236}">
                <a16:creationId xmlns:a16="http://schemas.microsoft.com/office/drawing/2014/main" id="{FDCEB781-1709-4F55-FD11-B5A58EE658D1}"/>
              </a:ext>
            </a:extLst>
          </p:cNvPr>
          <p:cNvSpPr/>
          <p:nvPr/>
        </p:nvSpPr>
        <p:spPr>
          <a:xfrm>
            <a:off x="2748550" y="6622922"/>
            <a:ext cx="527757" cy="16755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 dirty="0">
                <a:solidFill>
                  <a:srgbClr val="8C8C8C"/>
                </a:solidFill>
                <a:latin typeface="Noto Sans SC"/>
                <a:ea typeface="Noto Sans SC"/>
                <a:cs typeface="Noto Sans SC"/>
                <a:sym typeface="Noto Sans SC"/>
              </a:rPr>
              <a:t>12-21</a:t>
            </a:r>
            <a:endParaRPr lang="en-US" sz="1100" dirty="0"/>
          </a:p>
        </p:txBody>
      </p:sp>
      <p:sp>
        <p:nvSpPr>
          <p:cNvPr id="35" name="AutoShape 20">
            <a:extLst>
              <a:ext uri="{FF2B5EF4-FFF2-40B4-BE49-F238E27FC236}">
                <a16:creationId xmlns:a16="http://schemas.microsoft.com/office/drawing/2014/main" id="{EA549CF1-9C93-A27B-5DDE-B167D52C6209}"/>
              </a:ext>
            </a:extLst>
          </p:cNvPr>
          <p:cNvSpPr/>
          <p:nvPr/>
        </p:nvSpPr>
        <p:spPr>
          <a:xfrm>
            <a:off x="4120717" y="6622922"/>
            <a:ext cx="527757" cy="16755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 dirty="0">
                <a:solidFill>
                  <a:srgbClr val="8C8C8C"/>
                </a:solidFill>
                <a:latin typeface="Noto Sans SC"/>
                <a:ea typeface="Noto Sans SC"/>
                <a:cs typeface="Noto Sans SC"/>
                <a:sym typeface="Noto Sans SC"/>
              </a:rPr>
              <a:t>12-22</a:t>
            </a:r>
            <a:endParaRPr lang="en-US" sz="1100" dirty="0"/>
          </a:p>
        </p:txBody>
      </p:sp>
      <p:sp>
        <p:nvSpPr>
          <p:cNvPr id="36" name="AutoShape 21">
            <a:extLst>
              <a:ext uri="{FF2B5EF4-FFF2-40B4-BE49-F238E27FC236}">
                <a16:creationId xmlns:a16="http://schemas.microsoft.com/office/drawing/2014/main" id="{02E1A95D-43FE-4118-6EBC-36B83129BA1C}"/>
              </a:ext>
            </a:extLst>
          </p:cNvPr>
          <p:cNvSpPr/>
          <p:nvPr/>
        </p:nvSpPr>
        <p:spPr>
          <a:xfrm>
            <a:off x="5492884" y="6622922"/>
            <a:ext cx="527757" cy="16755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 dirty="0">
                <a:solidFill>
                  <a:srgbClr val="8C8C8C"/>
                </a:solidFill>
                <a:latin typeface="Noto Sans SC"/>
                <a:ea typeface="Noto Sans SC"/>
                <a:cs typeface="Noto Sans SC"/>
                <a:sym typeface="Noto Sans SC"/>
              </a:rPr>
              <a:t>12-23</a:t>
            </a:r>
            <a:endParaRPr lang="en-US" sz="1100" dirty="0"/>
          </a:p>
        </p:txBody>
      </p:sp>
      <p:sp>
        <p:nvSpPr>
          <p:cNvPr id="45" name="AutoShape 22">
            <a:extLst>
              <a:ext uri="{FF2B5EF4-FFF2-40B4-BE49-F238E27FC236}">
                <a16:creationId xmlns:a16="http://schemas.microsoft.com/office/drawing/2014/main" id="{35C3367C-764B-9A60-0865-9269C178C4AC}"/>
              </a:ext>
            </a:extLst>
          </p:cNvPr>
          <p:cNvSpPr/>
          <p:nvPr/>
        </p:nvSpPr>
        <p:spPr>
          <a:xfrm>
            <a:off x="6865051" y="6622922"/>
            <a:ext cx="527757" cy="16755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 dirty="0">
                <a:solidFill>
                  <a:srgbClr val="8C8C8C"/>
                </a:solidFill>
                <a:latin typeface="Noto Sans SC"/>
                <a:ea typeface="Noto Sans SC"/>
                <a:cs typeface="Noto Sans SC"/>
                <a:sym typeface="Noto Sans SC"/>
              </a:rPr>
              <a:t>12-24</a:t>
            </a:r>
            <a:endParaRPr lang="en-US" sz="1100" dirty="0"/>
          </a:p>
        </p:txBody>
      </p:sp>
      <p:sp>
        <p:nvSpPr>
          <p:cNvPr id="47" name="AutoShape 23">
            <a:extLst>
              <a:ext uri="{FF2B5EF4-FFF2-40B4-BE49-F238E27FC236}">
                <a16:creationId xmlns:a16="http://schemas.microsoft.com/office/drawing/2014/main" id="{BD34FAC8-4CBE-8B17-62BD-BB8F8710A308}"/>
              </a:ext>
            </a:extLst>
          </p:cNvPr>
          <p:cNvSpPr/>
          <p:nvPr/>
        </p:nvSpPr>
        <p:spPr>
          <a:xfrm>
            <a:off x="8237218" y="6622922"/>
            <a:ext cx="527757" cy="16755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 dirty="0">
                <a:solidFill>
                  <a:srgbClr val="8C8C8C"/>
                </a:solidFill>
                <a:latin typeface="Noto Sans SC"/>
                <a:ea typeface="Noto Sans SC"/>
                <a:cs typeface="Noto Sans SC"/>
                <a:sym typeface="Noto Sans SC"/>
              </a:rPr>
              <a:t>12-25</a:t>
            </a:r>
            <a:endParaRPr lang="en-US" sz="1100" dirty="0"/>
          </a:p>
        </p:txBody>
      </p:sp>
      <p:sp>
        <p:nvSpPr>
          <p:cNvPr id="79" name="AutoShape 24">
            <a:extLst>
              <a:ext uri="{FF2B5EF4-FFF2-40B4-BE49-F238E27FC236}">
                <a16:creationId xmlns:a16="http://schemas.microsoft.com/office/drawing/2014/main" id="{9285F41B-DB1B-B015-1D8E-BA5BA6A78EB9}"/>
              </a:ext>
            </a:extLst>
          </p:cNvPr>
          <p:cNvSpPr/>
          <p:nvPr/>
        </p:nvSpPr>
        <p:spPr>
          <a:xfrm>
            <a:off x="9609386" y="6622922"/>
            <a:ext cx="527757" cy="16755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 dirty="0">
                <a:solidFill>
                  <a:srgbClr val="8C8C8C"/>
                </a:solidFill>
                <a:latin typeface="Noto Sans SC"/>
                <a:ea typeface="Noto Sans SC"/>
                <a:cs typeface="Noto Sans SC"/>
                <a:sym typeface="Noto Sans SC"/>
              </a:rPr>
              <a:t>12-26</a:t>
            </a:r>
            <a:endParaRPr lang="en-US" sz="1100" dirty="0"/>
          </a:p>
        </p:txBody>
      </p:sp>
      <p:sp>
        <p:nvSpPr>
          <p:cNvPr id="80" name="AutoShape 25">
            <a:extLst>
              <a:ext uri="{FF2B5EF4-FFF2-40B4-BE49-F238E27FC236}">
                <a16:creationId xmlns:a16="http://schemas.microsoft.com/office/drawing/2014/main" id="{CA7E2094-9014-7CEE-F883-9675A522F664}"/>
              </a:ext>
            </a:extLst>
          </p:cNvPr>
          <p:cNvSpPr/>
          <p:nvPr/>
        </p:nvSpPr>
        <p:spPr>
          <a:xfrm>
            <a:off x="10981553" y="6622922"/>
            <a:ext cx="527757" cy="16755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 dirty="0">
                <a:solidFill>
                  <a:srgbClr val="8C8C8C"/>
                </a:solidFill>
                <a:latin typeface="Noto Sans SC"/>
                <a:ea typeface="Noto Sans SC"/>
                <a:cs typeface="Noto Sans SC"/>
                <a:sym typeface="Noto Sans SC"/>
              </a:rPr>
              <a:t>12-27</a:t>
            </a:r>
            <a:endParaRPr lang="en-US" sz="1100" dirty="0"/>
          </a:p>
        </p:txBody>
      </p:sp>
      <p:cxnSp>
        <p:nvCxnSpPr>
          <p:cNvPr id="81" name="Connector 26">
            <a:extLst>
              <a:ext uri="{FF2B5EF4-FFF2-40B4-BE49-F238E27FC236}">
                <a16:creationId xmlns:a16="http://schemas.microsoft.com/office/drawing/2014/main" id="{074127E5-EF20-E02E-08AD-93E189CC2E99}"/>
              </a:ext>
            </a:extLst>
          </p:cNvPr>
          <p:cNvCxnSpPr>
            <a:cxnSpLocks/>
          </p:cNvCxnSpPr>
          <p:nvPr/>
        </p:nvCxnSpPr>
        <p:spPr>
          <a:xfrm rot="20858847">
            <a:off x="2840536" y="5738031"/>
            <a:ext cx="1293811" cy="1047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09E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2" name="Connector 27">
            <a:extLst>
              <a:ext uri="{FF2B5EF4-FFF2-40B4-BE49-F238E27FC236}">
                <a16:creationId xmlns:a16="http://schemas.microsoft.com/office/drawing/2014/main" id="{9FBA0A08-8B2D-E65B-0E95-BFA9604D93C9}"/>
              </a:ext>
            </a:extLst>
          </p:cNvPr>
          <p:cNvCxnSpPr>
            <a:cxnSpLocks/>
          </p:cNvCxnSpPr>
          <p:nvPr/>
        </p:nvCxnSpPr>
        <p:spPr>
          <a:xfrm rot="296636">
            <a:off x="4117584" y="5685679"/>
            <a:ext cx="1378496" cy="1047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09E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3" name="Connector 28">
            <a:extLst>
              <a:ext uri="{FF2B5EF4-FFF2-40B4-BE49-F238E27FC236}">
                <a16:creationId xmlns:a16="http://schemas.microsoft.com/office/drawing/2014/main" id="{15843F55-604C-794B-EB91-C4C326094BD9}"/>
              </a:ext>
            </a:extLst>
          </p:cNvPr>
          <p:cNvCxnSpPr>
            <a:cxnSpLocks/>
          </p:cNvCxnSpPr>
          <p:nvPr/>
        </p:nvCxnSpPr>
        <p:spPr>
          <a:xfrm rot="20914409">
            <a:off x="5480344" y="5633311"/>
            <a:ext cx="1397309" cy="1047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09E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8" name="Connector 29">
            <a:extLst>
              <a:ext uri="{FF2B5EF4-FFF2-40B4-BE49-F238E27FC236}">
                <a16:creationId xmlns:a16="http://schemas.microsoft.com/office/drawing/2014/main" id="{06721BDF-FBDF-AB5C-1718-5D93AA1275BE}"/>
              </a:ext>
            </a:extLst>
          </p:cNvPr>
          <p:cNvCxnSpPr>
            <a:cxnSpLocks/>
          </p:cNvCxnSpPr>
          <p:nvPr/>
        </p:nvCxnSpPr>
        <p:spPr>
          <a:xfrm rot="459717">
            <a:off x="6857983" y="5607140"/>
            <a:ext cx="1386366" cy="1047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09E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7" name="Connector 30">
            <a:extLst>
              <a:ext uri="{FF2B5EF4-FFF2-40B4-BE49-F238E27FC236}">
                <a16:creationId xmlns:a16="http://schemas.microsoft.com/office/drawing/2014/main" id="{AEE5C10B-DDC2-CCA5-B014-6381213E8DF9}"/>
              </a:ext>
            </a:extLst>
          </p:cNvPr>
          <p:cNvCxnSpPr>
            <a:cxnSpLocks/>
          </p:cNvCxnSpPr>
          <p:nvPr/>
        </p:nvCxnSpPr>
        <p:spPr>
          <a:xfrm rot="296636">
            <a:off x="8234085" y="5738039"/>
            <a:ext cx="1378496" cy="1047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09E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8" name="Connector 31">
            <a:extLst>
              <a:ext uri="{FF2B5EF4-FFF2-40B4-BE49-F238E27FC236}">
                <a16:creationId xmlns:a16="http://schemas.microsoft.com/office/drawing/2014/main" id="{87662312-851E-79CD-4D2E-D9721B0F62E2}"/>
              </a:ext>
            </a:extLst>
          </p:cNvPr>
          <p:cNvCxnSpPr>
            <a:cxnSpLocks/>
          </p:cNvCxnSpPr>
          <p:nvPr/>
        </p:nvCxnSpPr>
        <p:spPr>
          <a:xfrm rot="21335983">
            <a:off x="9607865" y="5753743"/>
            <a:ext cx="1375271" cy="1047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09E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15" name="Connector 32">
            <a:extLst>
              <a:ext uri="{FF2B5EF4-FFF2-40B4-BE49-F238E27FC236}">
                <a16:creationId xmlns:a16="http://schemas.microsoft.com/office/drawing/2014/main" id="{090B910C-DFB7-BB33-2393-6104F7C0D21B}"/>
              </a:ext>
            </a:extLst>
          </p:cNvPr>
          <p:cNvCxnSpPr>
            <a:cxnSpLocks/>
          </p:cNvCxnSpPr>
          <p:nvPr/>
        </p:nvCxnSpPr>
        <p:spPr>
          <a:xfrm rot="21385353">
            <a:off x="2853277" y="6130735"/>
            <a:ext cx="1268333" cy="1047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C0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16" name="Connector 33">
            <a:extLst>
              <a:ext uri="{FF2B5EF4-FFF2-40B4-BE49-F238E27FC236}">
                <a16:creationId xmlns:a16="http://schemas.microsoft.com/office/drawing/2014/main" id="{A446791A-1716-0CCC-4962-50C30B9DF756}"/>
              </a:ext>
            </a:extLst>
          </p:cNvPr>
          <p:cNvCxnSpPr>
            <a:cxnSpLocks/>
          </p:cNvCxnSpPr>
          <p:nvPr/>
        </p:nvCxnSpPr>
        <p:spPr>
          <a:xfrm rot="21401835">
            <a:off x="4119956" y="6078376"/>
            <a:ext cx="1373753" cy="1047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C0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17" name="Connector 34">
            <a:extLst>
              <a:ext uri="{FF2B5EF4-FFF2-40B4-BE49-F238E27FC236}">
                <a16:creationId xmlns:a16="http://schemas.microsoft.com/office/drawing/2014/main" id="{B628C022-D16F-4FF4-2BED-DAB51645D294}"/>
              </a:ext>
            </a:extLst>
          </p:cNvPr>
          <p:cNvCxnSpPr>
            <a:cxnSpLocks/>
          </p:cNvCxnSpPr>
          <p:nvPr/>
        </p:nvCxnSpPr>
        <p:spPr>
          <a:xfrm rot="21401835">
            <a:off x="5492124" y="6026016"/>
            <a:ext cx="1373753" cy="1047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C0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18" name="Connector 35">
            <a:extLst>
              <a:ext uri="{FF2B5EF4-FFF2-40B4-BE49-F238E27FC236}">
                <a16:creationId xmlns:a16="http://schemas.microsoft.com/office/drawing/2014/main" id="{4BD434C4-08C2-2B14-ABC0-2972D0F093E1}"/>
              </a:ext>
            </a:extLst>
          </p:cNvPr>
          <p:cNvCxnSpPr>
            <a:cxnSpLocks/>
          </p:cNvCxnSpPr>
          <p:nvPr/>
        </p:nvCxnSpPr>
        <p:spPr>
          <a:xfrm rot="198058">
            <a:off x="6863530" y="6036491"/>
            <a:ext cx="1375271" cy="1047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C0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19" name="Connector 36">
            <a:extLst>
              <a:ext uri="{FF2B5EF4-FFF2-40B4-BE49-F238E27FC236}">
                <a16:creationId xmlns:a16="http://schemas.microsoft.com/office/drawing/2014/main" id="{95F72987-2FFA-5D27-4DE3-9EEA6997A556}"/>
              </a:ext>
            </a:extLst>
          </p:cNvPr>
          <p:cNvCxnSpPr>
            <a:cxnSpLocks/>
          </p:cNvCxnSpPr>
          <p:nvPr/>
        </p:nvCxnSpPr>
        <p:spPr>
          <a:xfrm rot="165112">
            <a:off x="8236109" y="6104559"/>
            <a:ext cx="1374449" cy="1047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C0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20" name="Connector 37">
            <a:extLst>
              <a:ext uri="{FF2B5EF4-FFF2-40B4-BE49-F238E27FC236}">
                <a16:creationId xmlns:a16="http://schemas.microsoft.com/office/drawing/2014/main" id="{3515DF58-9D15-23DC-1694-DEB78F38E7A0}"/>
              </a:ext>
            </a:extLst>
          </p:cNvPr>
          <p:cNvCxnSpPr>
            <a:cxnSpLocks/>
          </p:cNvCxnSpPr>
          <p:nvPr/>
        </p:nvCxnSpPr>
        <p:spPr>
          <a:xfrm rot="21434815">
            <a:off x="9608910" y="6115028"/>
            <a:ext cx="1373182" cy="1047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C0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54" name="AutoShape 44">
            <a:extLst>
              <a:ext uri="{FF2B5EF4-FFF2-40B4-BE49-F238E27FC236}">
                <a16:creationId xmlns:a16="http://schemas.microsoft.com/office/drawing/2014/main" id="{70D047D2-2E8B-4662-2BC9-6FA9BB24EC11}"/>
              </a:ext>
            </a:extLst>
          </p:cNvPr>
          <p:cNvSpPr/>
          <p:nvPr/>
        </p:nvSpPr>
        <p:spPr>
          <a:xfrm>
            <a:off x="2084727" y="5495003"/>
            <a:ext cx="395817" cy="16755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000" dirty="0">
                <a:solidFill>
                  <a:srgbClr val="AAAAAA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r>
              <a:rPr lang="en-US" sz="1000" b="0" i="0" u="none" strike="noStrike" dirty="0">
                <a:solidFill>
                  <a:srgbClr val="AAAAAA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endParaRPr lang="en-US" sz="1100" dirty="0"/>
          </a:p>
        </p:txBody>
      </p:sp>
      <p:sp>
        <p:nvSpPr>
          <p:cNvPr id="155" name="AutoShape 45">
            <a:extLst>
              <a:ext uri="{FF2B5EF4-FFF2-40B4-BE49-F238E27FC236}">
                <a16:creationId xmlns:a16="http://schemas.microsoft.com/office/drawing/2014/main" id="{621F4454-5EEA-1FF7-59A6-0801E66627C0}"/>
              </a:ext>
            </a:extLst>
          </p:cNvPr>
          <p:cNvSpPr/>
          <p:nvPr/>
        </p:nvSpPr>
        <p:spPr>
          <a:xfrm>
            <a:off x="2084727" y="5840580"/>
            <a:ext cx="395817" cy="16755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000" dirty="0">
                <a:solidFill>
                  <a:srgbClr val="AAAAAA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r>
              <a:rPr lang="en-US" sz="1000" b="0" i="0" u="none" strike="noStrike" dirty="0">
                <a:solidFill>
                  <a:srgbClr val="AAAAAA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endParaRPr lang="en-US" sz="1100" dirty="0"/>
          </a:p>
        </p:txBody>
      </p:sp>
      <p:sp>
        <p:nvSpPr>
          <p:cNvPr id="158" name="AutoShape 46">
            <a:extLst>
              <a:ext uri="{FF2B5EF4-FFF2-40B4-BE49-F238E27FC236}">
                <a16:creationId xmlns:a16="http://schemas.microsoft.com/office/drawing/2014/main" id="{ACCCEE00-29D7-26B3-E38E-E29555231886}"/>
              </a:ext>
            </a:extLst>
          </p:cNvPr>
          <p:cNvSpPr/>
          <p:nvPr/>
        </p:nvSpPr>
        <p:spPr>
          <a:xfrm>
            <a:off x="2084727" y="6186156"/>
            <a:ext cx="395817" cy="16755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000" dirty="0">
                <a:solidFill>
                  <a:srgbClr val="AAAAAA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r>
              <a:rPr lang="en-US" sz="1000" b="0" i="0" u="none" strike="noStrike" dirty="0">
                <a:solidFill>
                  <a:srgbClr val="AAAAAA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endParaRPr lang="en-US" sz="1100" dirty="0"/>
          </a:p>
        </p:txBody>
      </p:sp>
      <p:sp>
        <p:nvSpPr>
          <p:cNvPr id="168" name="AutoShape 47">
            <a:extLst>
              <a:ext uri="{FF2B5EF4-FFF2-40B4-BE49-F238E27FC236}">
                <a16:creationId xmlns:a16="http://schemas.microsoft.com/office/drawing/2014/main" id="{9CC59C89-42AA-5AEE-CEA7-A6250F11D941}"/>
              </a:ext>
            </a:extLst>
          </p:cNvPr>
          <p:cNvSpPr/>
          <p:nvPr/>
        </p:nvSpPr>
        <p:spPr>
          <a:xfrm>
            <a:off x="2084727" y="6531733"/>
            <a:ext cx="395817" cy="16755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000" b="0" i="0" u="none" strike="noStrike" dirty="0">
                <a:solidFill>
                  <a:srgbClr val="AAAAAA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endParaRPr lang="en-US" sz="1100" dirty="0"/>
          </a:p>
        </p:txBody>
      </p:sp>
      <p:cxnSp>
        <p:nvCxnSpPr>
          <p:cNvPr id="170" name="Connector 18">
            <a:extLst>
              <a:ext uri="{FF2B5EF4-FFF2-40B4-BE49-F238E27FC236}">
                <a16:creationId xmlns:a16="http://schemas.microsoft.com/office/drawing/2014/main" id="{CA087711-A90E-E072-3C5C-63DC2FFB22FC}"/>
              </a:ext>
            </a:extLst>
          </p:cNvPr>
          <p:cNvCxnSpPr>
            <a:cxnSpLocks/>
          </p:cNvCxnSpPr>
          <p:nvPr/>
        </p:nvCxnSpPr>
        <p:spPr>
          <a:xfrm rot="5365623">
            <a:off x="10986552" y="6092674"/>
            <a:ext cx="1047201" cy="1319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CCC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1" name="AutoShape 44">
            <a:extLst>
              <a:ext uri="{FF2B5EF4-FFF2-40B4-BE49-F238E27FC236}">
                <a16:creationId xmlns:a16="http://schemas.microsoft.com/office/drawing/2014/main" id="{F352FD65-1598-F76A-AF4C-D20625E225D3}"/>
              </a:ext>
            </a:extLst>
          </p:cNvPr>
          <p:cNvSpPr/>
          <p:nvPr/>
        </p:nvSpPr>
        <p:spPr>
          <a:xfrm>
            <a:off x="11279140" y="5479098"/>
            <a:ext cx="395817" cy="16755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000" dirty="0">
                <a:solidFill>
                  <a:srgbClr val="AAAAAA"/>
                </a:solidFill>
                <a:latin typeface="Noto Sans SC"/>
                <a:ea typeface="Noto Sans SC"/>
                <a:cs typeface="Noto Sans SC"/>
                <a:sym typeface="Noto Sans SC"/>
              </a:rPr>
              <a:t>9</a:t>
            </a:r>
            <a:endParaRPr lang="en-US" sz="1100" dirty="0"/>
          </a:p>
        </p:txBody>
      </p:sp>
      <p:sp>
        <p:nvSpPr>
          <p:cNvPr id="172" name="AutoShape 45">
            <a:extLst>
              <a:ext uri="{FF2B5EF4-FFF2-40B4-BE49-F238E27FC236}">
                <a16:creationId xmlns:a16="http://schemas.microsoft.com/office/drawing/2014/main" id="{CC6AF2C0-4874-4B0B-32BB-DDD63D0C532F}"/>
              </a:ext>
            </a:extLst>
          </p:cNvPr>
          <p:cNvSpPr/>
          <p:nvPr/>
        </p:nvSpPr>
        <p:spPr>
          <a:xfrm>
            <a:off x="11279140" y="5824675"/>
            <a:ext cx="395817" cy="16755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000" dirty="0">
                <a:solidFill>
                  <a:srgbClr val="AAAAAA"/>
                </a:solidFill>
                <a:latin typeface="Noto Sans SC"/>
                <a:ea typeface="Noto Sans SC"/>
                <a:cs typeface="Noto Sans SC"/>
                <a:sym typeface="Noto Sans SC"/>
              </a:rPr>
              <a:t>6</a:t>
            </a:r>
            <a:endParaRPr lang="en-US" sz="1100" dirty="0"/>
          </a:p>
        </p:txBody>
      </p:sp>
      <p:sp>
        <p:nvSpPr>
          <p:cNvPr id="173" name="AutoShape 46">
            <a:extLst>
              <a:ext uri="{FF2B5EF4-FFF2-40B4-BE49-F238E27FC236}">
                <a16:creationId xmlns:a16="http://schemas.microsoft.com/office/drawing/2014/main" id="{AE36290D-A314-015B-1304-8BB60C7B43F5}"/>
              </a:ext>
            </a:extLst>
          </p:cNvPr>
          <p:cNvSpPr/>
          <p:nvPr/>
        </p:nvSpPr>
        <p:spPr>
          <a:xfrm>
            <a:off x="11279140" y="6170251"/>
            <a:ext cx="395817" cy="16755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000" dirty="0">
                <a:solidFill>
                  <a:srgbClr val="AAAAAA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 dirty="0"/>
          </a:p>
        </p:txBody>
      </p:sp>
      <p:sp>
        <p:nvSpPr>
          <p:cNvPr id="185" name="AutoShape 47">
            <a:extLst>
              <a:ext uri="{FF2B5EF4-FFF2-40B4-BE49-F238E27FC236}">
                <a16:creationId xmlns:a16="http://schemas.microsoft.com/office/drawing/2014/main" id="{0DA56F97-4729-97EB-87A2-DAA23ED1CC29}"/>
              </a:ext>
            </a:extLst>
          </p:cNvPr>
          <p:cNvSpPr/>
          <p:nvPr/>
        </p:nvSpPr>
        <p:spPr>
          <a:xfrm>
            <a:off x="11279140" y="6515828"/>
            <a:ext cx="395817" cy="16755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000" b="0" i="0" u="none" strike="noStrike" dirty="0">
                <a:solidFill>
                  <a:srgbClr val="AAAAAA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endParaRPr lang="en-US" sz="1100" dirty="0"/>
          </a:p>
        </p:txBody>
      </p:sp>
      <p:sp>
        <p:nvSpPr>
          <p:cNvPr id="186" name="AutoShape 16">
            <a:extLst>
              <a:ext uri="{FF2B5EF4-FFF2-40B4-BE49-F238E27FC236}">
                <a16:creationId xmlns:a16="http://schemas.microsoft.com/office/drawing/2014/main" id="{577BEEC1-68F9-0773-34E1-D64DA50E539A}"/>
              </a:ext>
            </a:extLst>
          </p:cNvPr>
          <p:cNvSpPr/>
          <p:nvPr/>
        </p:nvSpPr>
        <p:spPr>
          <a:xfrm>
            <a:off x="10859300" y="5204169"/>
            <a:ext cx="913888" cy="23333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rgbClr val="666666"/>
                </a:solidFill>
                <a:latin typeface="Noto Sans SC"/>
                <a:ea typeface="Noto Sans SC"/>
              </a:rPr>
              <a:t>风速（</a:t>
            </a:r>
            <a:r>
              <a:rPr lang="en-US" altLang="zh-CN" sz="1100" dirty="0">
                <a:solidFill>
                  <a:srgbClr val="666666"/>
                </a:solidFill>
                <a:latin typeface="Noto Sans SC"/>
                <a:ea typeface="Noto Sans SC"/>
              </a:rPr>
              <a:t>m/s</a:t>
            </a:r>
            <a:r>
              <a:rPr lang="zh-CN" altLang="en-US" sz="1100" dirty="0">
                <a:solidFill>
                  <a:srgbClr val="666666"/>
                </a:solidFill>
                <a:latin typeface="Noto Sans SC"/>
                <a:ea typeface="Noto Sans SC"/>
              </a:rPr>
              <a:t>）</a:t>
            </a:r>
            <a:endParaRPr lang="en-US" sz="1100" dirty="0">
              <a:solidFill>
                <a:srgbClr val="666666"/>
              </a:solidFill>
              <a:latin typeface="Noto Sans SC"/>
              <a:ea typeface="Noto Sans SC"/>
            </a:endParaRPr>
          </a:p>
        </p:txBody>
      </p:sp>
      <p:grpSp>
        <p:nvGrpSpPr>
          <p:cNvPr id="217" name="组合 216">
            <a:extLst>
              <a:ext uri="{FF2B5EF4-FFF2-40B4-BE49-F238E27FC236}">
                <a16:creationId xmlns:a16="http://schemas.microsoft.com/office/drawing/2014/main" id="{38244993-EE36-48CA-DDF4-B81C80B98BAD}"/>
              </a:ext>
            </a:extLst>
          </p:cNvPr>
          <p:cNvGrpSpPr/>
          <p:nvPr/>
        </p:nvGrpSpPr>
        <p:grpSpPr>
          <a:xfrm>
            <a:off x="2039247" y="1447800"/>
            <a:ext cx="7496919" cy="2292595"/>
            <a:chOff x="2039248" y="1447800"/>
            <a:chExt cx="9728450" cy="2292595"/>
          </a:xfrm>
        </p:grpSpPr>
        <p:sp>
          <p:nvSpPr>
            <p:cNvPr id="46" name="AutoShape 7">
              <a:extLst>
                <a:ext uri="{FF2B5EF4-FFF2-40B4-BE49-F238E27FC236}">
                  <a16:creationId xmlns:a16="http://schemas.microsoft.com/office/drawing/2014/main" id="{EAC8ED13-AB4A-1953-D2DD-71B3ECAC5A3B}"/>
                </a:ext>
              </a:extLst>
            </p:cNvPr>
            <p:cNvSpPr/>
            <p:nvPr/>
          </p:nvSpPr>
          <p:spPr>
            <a:xfrm>
              <a:off x="2039248" y="1447800"/>
              <a:ext cx="9644752" cy="2292595"/>
            </a:xfrm>
            <a:prstGeom prst="roundRect">
              <a:avLst>
                <a:gd name="adj" fmla="val 4444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E5E6EB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9" name="AutoShape 8">
              <a:extLst>
                <a:ext uri="{FF2B5EF4-FFF2-40B4-BE49-F238E27FC236}">
                  <a16:creationId xmlns:a16="http://schemas.microsoft.com/office/drawing/2014/main" id="{157451E3-1CAB-C9B9-BEC5-1B1BE7236886}"/>
                </a:ext>
              </a:extLst>
            </p:cNvPr>
            <p:cNvSpPr/>
            <p:nvPr/>
          </p:nvSpPr>
          <p:spPr>
            <a:xfrm>
              <a:off x="2502484" y="1612022"/>
              <a:ext cx="2672096" cy="267578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 dirty="0" err="1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预测结果</a:t>
              </a:r>
              <a:endParaRPr lang="en-US" sz="1100" dirty="0"/>
            </a:p>
          </p:txBody>
        </p:sp>
        <p:sp>
          <p:nvSpPr>
            <p:cNvPr id="50" name="AutoShape 9">
              <a:extLst>
                <a:ext uri="{FF2B5EF4-FFF2-40B4-BE49-F238E27FC236}">
                  <a16:creationId xmlns:a16="http://schemas.microsoft.com/office/drawing/2014/main" id="{269DCF33-21D6-CFAE-A29B-B481E0DD04DC}"/>
                </a:ext>
              </a:extLst>
            </p:cNvPr>
            <p:cNvSpPr/>
            <p:nvPr/>
          </p:nvSpPr>
          <p:spPr>
            <a:xfrm>
              <a:off x="5403696" y="1988830"/>
              <a:ext cx="158327" cy="125664"/>
            </a:xfrm>
            <a:prstGeom prst="roundRect">
              <a:avLst>
                <a:gd name="adj" fmla="val 0"/>
              </a:avLst>
            </a:prstGeom>
            <a:solidFill>
              <a:srgbClr val="409EFF">
                <a:alpha val="100000"/>
              </a:srgbClr>
            </a:solidFill>
            <a:ln w="12700" cap="flat" cmpd="sng">
              <a:solidFill>
                <a:srgbClr val="409EFF">
                  <a:alpha val="100000"/>
                </a:srgbClr>
              </a:solidFill>
              <a:prstDash val="solid"/>
              <a:round/>
            </a:ln>
          </p:spPr>
          <p:txBody>
            <a:bodyPr vert="horz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1" name="AutoShape 10">
              <a:extLst>
                <a:ext uri="{FF2B5EF4-FFF2-40B4-BE49-F238E27FC236}">
                  <a16:creationId xmlns:a16="http://schemas.microsoft.com/office/drawing/2014/main" id="{7CE3A528-2E75-A3DB-BB5D-3735C1C025E7}"/>
                </a:ext>
              </a:extLst>
            </p:cNvPr>
            <p:cNvSpPr/>
            <p:nvPr/>
          </p:nvSpPr>
          <p:spPr>
            <a:xfrm>
              <a:off x="5667574" y="1946942"/>
              <a:ext cx="1127259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300" b="0" i="0" u="none" strike="noStrike" dirty="0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电价实际值</a:t>
              </a:r>
              <a:endParaRPr lang="en-US" sz="1100" dirty="0"/>
            </a:p>
          </p:txBody>
        </p:sp>
        <p:sp>
          <p:nvSpPr>
            <p:cNvPr id="52" name="AutoShape 11">
              <a:extLst>
                <a:ext uri="{FF2B5EF4-FFF2-40B4-BE49-F238E27FC236}">
                  <a16:creationId xmlns:a16="http://schemas.microsoft.com/office/drawing/2014/main" id="{88B31703-D9A4-0A17-8357-4D91DA31050C}"/>
                </a:ext>
              </a:extLst>
            </p:cNvPr>
            <p:cNvSpPr/>
            <p:nvPr/>
          </p:nvSpPr>
          <p:spPr>
            <a:xfrm>
              <a:off x="6985214" y="1969168"/>
              <a:ext cx="158327" cy="125664"/>
            </a:xfrm>
            <a:prstGeom prst="roundRect">
              <a:avLst>
                <a:gd name="adj" fmla="val 0"/>
              </a:avLst>
            </a:prstGeom>
            <a:solidFill>
              <a:srgbClr val="FFC000">
                <a:alpha val="100000"/>
              </a:srgbClr>
            </a:solidFill>
            <a:ln w="12700" cap="flat" cmpd="sng">
              <a:solidFill>
                <a:srgbClr val="FFC000">
                  <a:alpha val="100000"/>
                </a:srgbClr>
              </a:solidFill>
              <a:prstDash val="solid"/>
              <a:round/>
            </a:ln>
          </p:spPr>
          <p:txBody>
            <a:bodyPr vert="horz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3" name="AutoShape 12">
              <a:extLst>
                <a:ext uri="{FF2B5EF4-FFF2-40B4-BE49-F238E27FC236}">
                  <a16:creationId xmlns:a16="http://schemas.microsoft.com/office/drawing/2014/main" id="{03E36750-5496-5CB0-6E06-9A2FC0075462}"/>
                </a:ext>
              </a:extLst>
            </p:cNvPr>
            <p:cNvSpPr/>
            <p:nvPr/>
          </p:nvSpPr>
          <p:spPr>
            <a:xfrm>
              <a:off x="7126058" y="1952191"/>
              <a:ext cx="1170995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r>
                <a:rPr lang="en-US" altLang="zh-CN" sz="1300" dirty="0">
                  <a:solidFill>
                    <a:srgbClr val="6B72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tcn</a:t>
              </a:r>
              <a:r>
                <a:rPr lang="zh-CN" altLang="en-US" sz="1300" dirty="0">
                  <a:solidFill>
                    <a:srgbClr val="6B72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周前</a:t>
              </a:r>
              <a:endParaRPr lang="en-US" altLang="zh-CN" sz="1100" dirty="0"/>
            </a:p>
          </p:txBody>
        </p:sp>
        <p:sp>
          <p:nvSpPr>
            <p:cNvPr id="56" name="AutoShape 16">
              <a:extLst>
                <a:ext uri="{FF2B5EF4-FFF2-40B4-BE49-F238E27FC236}">
                  <a16:creationId xmlns:a16="http://schemas.microsoft.com/office/drawing/2014/main" id="{BDD2C293-7AE1-DC00-D960-334D54EBA318}"/>
                </a:ext>
              </a:extLst>
            </p:cNvPr>
            <p:cNvSpPr/>
            <p:nvPr/>
          </p:nvSpPr>
          <p:spPr>
            <a:xfrm>
              <a:off x="2395698" y="2050909"/>
              <a:ext cx="1266718" cy="176818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100" b="0" i="0" u="none" strike="noStrike" dirty="0" err="1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电价</a:t>
              </a:r>
              <a:r>
                <a:rPr lang="en-US" sz="1100" b="0" i="0" u="none" strike="noStrike" dirty="0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(元/kWh)</a:t>
              </a:r>
              <a:endParaRPr lang="en-US" sz="1100" dirty="0"/>
            </a:p>
          </p:txBody>
        </p:sp>
        <p:cxnSp>
          <p:nvCxnSpPr>
            <p:cNvPr id="57" name="Connector 17">
              <a:extLst>
                <a:ext uri="{FF2B5EF4-FFF2-40B4-BE49-F238E27FC236}">
                  <a16:creationId xmlns:a16="http://schemas.microsoft.com/office/drawing/2014/main" id="{D80F00A2-1423-A5FF-0081-0CA254487407}"/>
                </a:ext>
              </a:extLst>
            </p:cNvPr>
            <p:cNvCxnSpPr>
              <a:cxnSpLocks/>
            </p:cNvCxnSpPr>
            <p:nvPr/>
          </p:nvCxnSpPr>
          <p:spPr>
            <a:xfrm>
              <a:off x="2501035" y="3426235"/>
              <a:ext cx="8971862" cy="41888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CCCC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Connector 18">
              <a:extLst>
                <a:ext uri="{FF2B5EF4-FFF2-40B4-BE49-F238E27FC236}">
                  <a16:creationId xmlns:a16="http://schemas.microsoft.com/office/drawing/2014/main" id="{15C1932A-CB2E-72AD-2541-70874E984E94}"/>
                </a:ext>
              </a:extLst>
            </p:cNvPr>
            <p:cNvCxnSpPr>
              <a:cxnSpLocks/>
            </p:cNvCxnSpPr>
            <p:nvPr/>
          </p:nvCxnSpPr>
          <p:spPr>
            <a:xfrm rot="5365623">
              <a:off x="10942948" y="2949943"/>
              <a:ext cx="1047201" cy="13194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CCCC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9" name="AutoShape 19">
              <a:extLst>
                <a:ext uri="{FF2B5EF4-FFF2-40B4-BE49-F238E27FC236}">
                  <a16:creationId xmlns:a16="http://schemas.microsoft.com/office/drawing/2014/main" id="{BE7F24A6-ABA8-615A-F696-E9F8606BCB14}"/>
                </a:ext>
              </a:extLst>
            </p:cNvPr>
            <p:cNvSpPr/>
            <p:nvPr/>
          </p:nvSpPr>
          <p:spPr>
            <a:xfrm>
              <a:off x="2712138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12-21</a:t>
              </a:r>
              <a:endParaRPr lang="en-US" sz="1100" dirty="0"/>
            </a:p>
          </p:txBody>
        </p:sp>
        <p:sp>
          <p:nvSpPr>
            <p:cNvPr id="60" name="AutoShape 20">
              <a:extLst>
                <a:ext uri="{FF2B5EF4-FFF2-40B4-BE49-F238E27FC236}">
                  <a16:creationId xmlns:a16="http://schemas.microsoft.com/office/drawing/2014/main" id="{E4FAA942-A8D6-54E6-4BAC-7D53EBF0536D}"/>
                </a:ext>
              </a:extLst>
            </p:cNvPr>
            <p:cNvSpPr/>
            <p:nvPr/>
          </p:nvSpPr>
          <p:spPr>
            <a:xfrm>
              <a:off x="4084305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12-22</a:t>
              </a:r>
              <a:endParaRPr lang="en-US" sz="1100" dirty="0"/>
            </a:p>
          </p:txBody>
        </p:sp>
        <p:sp>
          <p:nvSpPr>
            <p:cNvPr id="61" name="AutoShape 21">
              <a:extLst>
                <a:ext uri="{FF2B5EF4-FFF2-40B4-BE49-F238E27FC236}">
                  <a16:creationId xmlns:a16="http://schemas.microsoft.com/office/drawing/2014/main" id="{C96F300C-6E94-9B5E-AAC6-E09689FC15DF}"/>
                </a:ext>
              </a:extLst>
            </p:cNvPr>
            <p:cNvSpPr/>
            <p:nvPr/>
          </p:nvSpPr>
          <p:spPr>
            <a:xfrm>
              <a:off x="5456472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12-23</a:t>
              </a:r>
              <a:endParaRPr lang="en-US" sz="1100" dirty="0"/>
            </a:p>
          </p:txBody>
        </p:sp>
        <p:sp>
          <p:nvSpPr>
            <p:cNvPr id="62" name="AutoShape 22">
              <a:extLst>
                <a:ext uri="{FF2B5EF4-FFF2-40B4-BE49-F238E27FC236}">
                  <a16:creationId xmlns:a16="http://schemas.microsoft.com/office/drawing/2014/main" id="{56BF1C6B-10FA-058C-AE4B-D29DA088604B}"/>
                </a:ext>
              </a:extLst>
            </p:cNvPr>
            <p:cNvSpPr/>
            <p:nvPr/>
          </p:nvSpPr>
          <p:spPr>
            <a:xfrm>
              <a:off x="6828639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12-24</a:t>
              </a:r>
              <a:endParaRPr lang="en-US" sz="1100" dirty="0"/>
            </a:p>
          </p:txBody>
        </p:sp>
        <p:sp>
          <p:nvSpPr>
            <p:cNvPr id="63" name="AutoShape 23">
              <a:extLst>
                <a:ext uri="{FF2B5EF4-FFF2-40B4-BE49-F238E27FC236}">
                  <a16:creationId xmlns:a16="http://schemas.microsoft.com/office/drawing/2014/main" id="{077AE0A2-1658-87E0-1B73-B03E2D706267}"/>
                </a:ext>
              </a:extLst>
            </p:cNvPr>
            <p:cNvSpPr/>
            <p:nvPr/>
          </p:nvSpPr>
          <p:spPr>
            <a:xfrm>
              <a:off x="8200806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12-25</a:t>
              </a:r>
              <a:endParaRPr lang="en-US" sz="1100" dirty="0"/>
            </a:p>
          </p:txBody>
        </p:sp>
        <p:sp>
          <p:nvSpPr>
            <p:cNvPr id="64" name="AutoShape 24">
              <a:extLst>
                <a:ext uri="{FF2B5EF4-FFF2-40B4-BE49-F238E27FC236}">
                  <a16:creationId xmlns:a16="http://schemas.microsoft.com/office/drawing/2014/main" id="{FAD88E6A-700D-F10D-AEC1-A29B3C6A087B}"/>
                </a:ext>
              </a:extLst>
            </p:cNvPr>
            <p:cNvSpPr/>
            <p:nvPr/>
          </p:nvSpPr>
          <p:spPr>
            <a:xfrm>
              <a:off x="9572974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12-26</a:t>
              </a:r>
              <a:endParaRPr lang="en-US" sz="1100" dirty="0"/>
            </a:p>
          </p:txBody>
        </p:sp>
        <p:sp>
          <p:nvSpPr>
            <p:cNvPr id="65" name="AutoShape 25">
              <a:extLst>
                <a:ext uri="{FF2B5EF4-FFF2-40B4-BE49-F238E27FC236}">
                  <a16:creationId xmlns:a16="http://schemas.microsoft.com/office/drawing/2014/main" id="{06D37385-DAD1-0C54-EB7C-BC1FAC00CFBA}"/>
                </a:ext>
              </a:extLst>
            </p:cNvPr>
            <p:cNvSpPr/>
            <p:nvPr/>
          </p:nvSpPr>
          <p:spPr>
            <a:xfrm>
              <a:off x="10945141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12-27</a:t>
              </a:r>
              <a:endParaRPr lang="en-US" sz="1100" dirty="0"/>
            </a:p>
          </p:txBody>
        </p:sp>
        <p:cxnSp>
          <p:nvCxnSpPr>
            <p:cNvPr id="66" name="Connector 26">
              <a:extLst>
                <a:ext uri="{FF2B5EF4-FFF2-40B4-BE49-F238E27FC236}">
                  <a16:creationId xmlns:a16="http://schemas.microsoft.com/office/drawing/2014/main" id="{4A3AA1A9-A186-5E41-2748-48098F8EEF29}"/>
                </a:ext>
              </a:extLst>
            </p:cNvPr>
            <p:cNvCxnSpPr>
              <a:cxnSpLocks/>
            </p:cNvCxnSpPr>
            <p:nvPr/>
          </p:nvCxnSpPr>
          <p:spPr>
            <a:xfrm rot="20858847">
              <a:off x="2804124" y="2583232"/>
              <a:ext cx="1293811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67" name="Connector 27">
              <a:extLst>
                <a:ext uri="{FF2B5EF4-FFF2-40B4-BE49-F238E27FC236}">
                  <a16:creationId xmlns:a16="http://schemas.microsoft.com/office/drawing/2014/main" id="{F7BE94A9-6153-6CCC-9A72-7D6EA2673091}"/>
                </a:ext>
              </a:extLst>
            </p:cNvPr>
            <p:cNvCxnSpPr>
              <a:cxnSpLocks/>
            </p:cNvCxnSpPr>
            <p:nvPr/>
          </p:nvCxnSpPr>
          <p:spPr>
            <a:xfrm rot="296636">
              <a:off x="4081172" y="2530880"/>
              <a:ext cx="137849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68" name="Connector 28">
              <a:extLst>
                <a:ext uri="{FF2B5EF4-FFF2-40B4-BE49-F238E27FC236}">
                  <a16:creationId xmlns:a16="http://schemas.microsoft.com/office/drawing/2014/main" id="{E3D28643-10A3-34A2-AC4A-BD72C325E128}"/>
                </a:ext>
              </a:extLst>
            </p:cNvPr>
            <p:cNvCxnSpPr>
              <a:cxnSpLocks/>
            </p:cNvCxnSpPr>
            <p:nvPr/>
          </p:nvCxnSpPr>
          <p:spPr>
            <a:xfrm rot="20914409">
              <a:off x="5443932" y="2478512"/>
              <a:ext cx="1397309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69" name="Connector 29">
              <a:extLst>
                <a:ext uri="{FF2B5EF4-FFF2-40B4-BE49-F238E27FC236}">
                  <a16:creationId xmlns:a16="http://schemas.microsoft.com/office/drawing/2014/main" id="{8C5E1977-ACDD-7337-A690-BE2CC8F66689}"/>
                </a:ext>
              </a:extLst>
            </p:cNvPr>
            <p:cNvCxnSpPr>
              <a:cxnSpLocks/>
            </p:cNvCxnSpPr>
            <p:nvPr/>
          </p:nvCxnSpPr>
          <p:spPr>
            <a:xfrm rot="459717">
              <a:off x="6821571" y="2452341"/>
              <a:ext cx="138636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70" name="Connector 30">
              <a:extLst>
                <a:ext uri="{FF2B5EF4-FFF2-40B4-BE49-F238E27FC236}">
                  <a16:creationId xmlns:a16="http://schemas.microsoft.com/office/drawing/2014/main" id="{FB94B754-47F6-D41B-96A2-17D70C39EA07}"/>
                </a:ext>
              </a:extLst>
            </p:cNvPr>
            <p:cNvCxnSpPr>
              <a:cxnSpLocks/>
            </p:cNvCxnSpPr>
            <p:nvPr/>
          </p:nvCxnSpPr>
          <p:spPr>
            <a:xfrm rot="296636">
              <a:off x="8197673" y="2583240"/>
              <a:ext cx="137849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71" name="Connector 31">
              <a:extLst>
                <a:ext uri="{FF2B5EF4-FFF2-40B4-BE49-F238E27FC236}">
                  <a16:creationId xmlns:a16="http://schemas.microsoft.com/office/drawing/2014/main" id="{87ED3A55-DA5B-B3B0-5E21-F3DAE963F0E9}"/>
                </a:ext>
              </a:extLst>
            </p:cNvPr>
            <p:cNvCxnSpPr>
              <a:cxnSpLocks/>
            </p:cNvCxnSpPr>
            <p:nvPr/>
          </p:nvCxnSpPr>
          <p:spPr>
            <a:xfrm rot="21335983">
              <a:off x="9571453" y="2598944"/>
              <a:ext cx="1375271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72" name="Connector 32">
              <a:extLst>
                <a:ext uri="{FF2B5EF4-FFF2-40B4-BE49-F238E27FC236}">
                  <a16:creationId xmlns:a16="http://schemas.microsoft.com/office/drawing/2014/main" id="{8C5BF3E1-EE9C-084B-3396-C2F16FAA9BFE}"/>
                </a:ext>
              </a:extLst>
            </p:cNvPr>
            <p:cNvCxnSpPr>
              <a:cxnSpLocks/>
            </p:cNvCxnSpPr>
            <p:nvPr/>
          </p:nvCxnSpPr>
          <p:spPr>
            <a:xfrm rot="21385353">
              <a:off x="2816865" y="2975936"/>
              <a:ext cx="1268333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FFC000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73" name="Connector 33">
              <a:extLst>
                <a:ext uri="{FF2B5EF4-FFF2-40B4-BE49-F238E27FC236}">
                  <a16:creationId xmlns:a16="http://schemas.microsoft.com/office/drawing/2014/main" id="{3BDD1449-2C34-815D-94D7-6CD2D561DED3}"/>
                </a:ext>
              </a:extLst>
            </p:cNvPr>
            <p:cNvCxnSpPr>
              <a:cxnSpLocks/>
            </p:cNvCxnSpPr>
            <p:nvPr/>
          </p:nvCxnSpPr>
          <p:spPr>
            <a:xfrm rot="21401835">
              <a:off x="4083544" y="2923577"/>
              <a:ext cx="1373753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FFC000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74" name="Connector 34">
              <a:extLst>
                <a:ext uri="{FF2B5EF4-FFF2-40B4-BE49-F238E27FC236}">
                  <a16:creationId xmlns:a16="http://schemas.microsoft.com/office/drawing/2014/main" id="{3E743233-D2EF-63A4-24AB-72827DB15A02}"/>
                </a:ext>
              </a:extLst>
            </p:cNvPr>
            <p:cNvCxnSpPr>
              <a:cxnSpLocks/>
            </p:cNvCxnSpPr>
            <p:nvPr/>
          </p:nvCxnSpPr>
          <p:spPr>
            <a:xfrm rot="21401835">
              <a:off x="5455712" y="2871217"/>
              <a:ext cx="1373753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FFC000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75" name="Connector 35">
              <a:extLst>
                <a:ext uri="{FF2B5EF4-FFF2-40B4-BE49-F238E27FC236}">
                  <a16:creationId xmlns:a16="http://schemas.microsoft.com/office/drawing/2014/main" id="{4658CB7D-37AB-408C-FE25-4AB80D9A95B3}"/>
                </a:ext>
              </a:extLst>
            </p:cNvPr>
            <p:cNvCxnSpPr>
              <a:cxnSpLocks/>
            </p:cNvCxnSpPr>
            <p:nvPr/>
          </p:nvCxnSpPr>
          <p:spPr>
            <a:xfrm rot="198058">
              <a:off x="6827118" y="2881692"/>
              <a:ext cx="1375271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FFC000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76" name="Connector 36">
              <a:extLst>
                <a:ext uri="{FF2B5EF4-FFF2-40B4-BE49-F238E27FC236}">
                  <a16:creationId xmlns:a16="http://schemas.microsoft.com/office/drawing/2014/main" id="{8849DD92-1FBA-D19C-158E-9198BFA13B6F}"/>
                </a:ext>
              </a:extLst>
            </p:cNvPr>
            <p:cNvCxnSpPr>
              <a:cxnSpLocks/>
            </p:cNvCxnSpPr>
            <p:nvPr/>
          </p:nvCxnSpPr>
          <p:spPr>
            <a:xfrm rot="165112">
              <a:off x="8199697" y="2949760"/>
              <a:ext cx="1374449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FFC000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77" name="Connector 37">
              <a:extLst>
                <a:ext uri="{FF2B5EF4-FFF2-40B4-BE49-F238E27FC236}">
                  <a16:creationId xmlns:a16="http://schemas.microsoft.com/office/drawing/2014/main" id="{BA691A19-C1C7-142D-5F1A-742F74D65E19}"/>
                </a:ext>
              </a:extLst>
            </p:cNvPr>
            <p:cNvCxnSpPr>
              <a:cxnSpLocks/>
            </p:cNvCxnSpPr>
            <p:nvPr/>
          </p:nvCxnSpPr>
          <p:spPr>
            <a:xfrm rot="21434815">
              <a:off x="9572498" y="2960229"/>
              <a:ext cx="1373182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FFC000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84" name="AutoShape 44">
              <a:extLst>
                <a:ext uri="{FF2B5EF4-FFF2-40B4-BE49-F238E27FC236}">
                  <a16:creationId xmlns:a16="http://schemas.microsoft.com/office/drawing/2014/main" id="{10B79239-75D8-A504-B829-B17BF206D333}"/>
                </a:ext>
              </a:extLst>
            </p:cNvPr>
            <p:cNvSpPr/>
            <p:nvPr/>
          </p:nvSpPr>
          <p:spPr>
            <a:xfrm>
              <a:off x="11021484" y="2284828"/>
              <a:ext cx="572710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400</a:t>
              </a: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00</a:t>
              </a:r>
              <a:endParaRPr lang="en-US" sz="1100" dirty="0"/>
            </a:p>
          </p:txBody>
        </p:sp>
        <p:sp>
          <p:nvSpPr>
            <p:cNvPr id="85" name="AutoShape 45">
              <a:extLst>
                <a:ext uri="{FF2B5EF4-FFF2-40B4-BE49-F238E27FC236}">
                  <a16:creationId xmlns:a16="http://schemas.microsoft.com/office/drawing/2014/main" id="{D939FBD6-2BB6-83DA-6B98-9CBEFE5ED4BD}"/>
                </a:ext>
              </a:extLst>
            </p:cNvPr>
            <p:cNvSpPr/>
            <p:nvPr/>
          </p:nvSpPr>
          <p:spPr>
            <a:xfrm>
              <a:off x="11021484" y="2630405"/>
              <a:ext cx="572710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300</a:t>
              </a: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00</a:t>
              </a:r>
              <a:endParaRPr lang="en-US" sz="1100" dirty="0"/>
            </a:p>
          </p:txBody>
        </p:sp>
        <p:sp>
          <p:nvSpPr>
            <p:cNvPr id="86" name="AutoShape 46">
              <a:extLst>
                <a:ext uri="{FF2B5EF4-FFF2-40B4-BE49-F238E27FC236}">
                  <a16:creationId xmlns:a16="http://schemas.microsoft.com/office/drawing/2014/main" id="{FA950087-B171-EFCE-04E6-0762D6366523}"/>
                </a:ext>
              </a:extLst>
            </p:cNvPr>
            <p:cNvSpPr/>
            <p:nvPr/>
          </p:nvSpPr>
          <p:spPr>
            <a:xfrm>
              <a:off x="11021484" y="2975981"/>
              <a:ext cx="572710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2</a:t>
              </a: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0000</a:t>
              </a:r>
              <a:endParaRPr lang="en-US" sz="1100" dirty="0"/>
            </a:p>
          </p:txBody>
        </p:sp>
        <p:sp>
          <p:nvSpPr>
            <p:cNvPr id="87" name="AutoShape 47">
              <a:extLst>
                <a:ext uri="{FF2B5EF4-FFF2-40B4-BE49-F238E27FC236}">
                  <a16:creationId xmlns:a16="http://schemas.microsoft.com/office/drawing/2014/main" id="{DDCB04A2-91DC-E194-49B0-22CE80F7E9B0}"/>
                </a:ext>
              </a:extLst>
            </p:cNvPr>
            <p:cNvSpPr/>
            <p:nvPr/>
          </p:nvSpPr>
          <p:spPr>
            <a:xfrm>
              <a:off x="11021484" y="3321558"/>
              <a:ext cx="572710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10000</a:t>
              </a:r>
              <a:endParaRPr lang="en-US" sz="1100" dirty="0"/>
            </a:p>
          </p:txBody>
        </p:sp>
        <p:cxnSp>
          <p:nvCxnSpPr>
            <p:cNvPr id="193" name="Connector 18">
              <a:extLst>
                <a:ext uri="{FF2B5EF4-FFF2-40B4-BE49-F238E27FC236}">
                  <a16:creationId xmlns:a16="http://schemas.microsoft.com/office/drawing/2014/main" id="{755E09AD-B543-D34F-0E95-4BC35AF41793}"/>
                </a:ext>
              </a:extLst>
            </p:cNvPr>
            <p:cNvCxnSpPr>
              <a:cxnSpLocks/>
            </p:cNvCxnSpPr>
            <p:nvPr/>
          </p:nvCxnSpPr>
          <p:spPr>
            <a:xfrm rot="5365623">
              <a:off x="1991309" y="2893681"/>
              <a:ext cx="1047201" cy="13194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CCCC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4" name="AutoShape 44">
              <a:extLst>
                <a:ext uri="{FF2B5EF4-FFF2-40B4-BE49-F238E27FC236}">
                  <a16:creationId xmlns:a16="http://schemas.microsoft.com/office/drawing/2014/main" id="{5F3BB848-528E-B63C-878B-6159821580B9}"/>
                </a:ext>
              </a:extLst>
            </p:cNvPr>
            <p:cNvSpPr/>
            <p:nvPr/>
          </p:nvSpPr>
          <p:spPr>
            <a:xfrm>
              <a:off x="2053123" y="2324291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3</a:t>
              </a: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00</a:t>
              </a:r>
              <a:endParaRPr lang="en-US" sz="1100" dirty="0"/>
            </a:p>
          </p:txBody>
        </p:sp>
        <p:sp>
          <p:nvSpPr>
            <p:cNvPr id="195" name="AutoShape 45">
              <a:extLst>
                <a:ext uri="{FF2B5EF4-FFF2-40B4-BE49-F238E27FC236}">
                  <a16:creationId xmlns:a16="http://schemas.microsoft.com/office/drawing/2014/main" id="{11BD935F-0C38-AB26-7893-46BB22000647}"/>
                </a:ext>
              </a:extLst>
            </p:cNvPr>
            <p:cNvSpPr/>
            <p:nvPr/>
          </p:nvSpPr>
          <p:spPr>
            <a:xfrm>
              <a:off x="2053123" y="2669868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2</a:t>
              </a: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00</a:t>
              </a:r>
              <a:endParaRPr lang="en-US" sz="1100" dirty="0"/>
            </a:p>
          </p:txBody>
        </p:sp>
        <p:sp>
          <p:nvSpPr>
            <p:cNvPr id="196" name="AutoShape 46">
              <a:extLst>
                <a:ext uri="{FF2B5EF4-FFF2-40B4-BE49-F238E27FC236}">
                  <a16:creationId xmlns:a16="http://schemas.microsoft.com/office/drawing/2014/main" id="{01BB74AE-7D27-E3E5-A57C-E32552F02205}"/>
                </a:ext>
              </a:extLst>
            </p:cNvPr>
            <p:cNvSpPr/>
            <p:nvPr/>
          </p:nvSpPr>
          <p:spPr>
            <a:xfrm>
              <a:off x="2053123" y="3015444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1</a:t>
              </a: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00</a:t>
              </a:r>
              <a:endParaRPr lang="en-US" sz="1100" dirty="0"/>
            </a:p>
          </p:txBody>
        </p:sp>
        <p:sp>
          <p:nvSpPr>
            <p:cNvPr id="197" name="AutoShape 47">
              <a:extLst>
                <a:ext uri="{FF2B5EF4-FFF2-40B4-BE49-F238E27FC236}">
                  <a16:creationId xmlns:a16="http://schemas.microsoft.com/office/drawing/2014/main" id="{F72CDC80-9F03-CE6A-B2CB-7D2644153D81}"/>
                </a:ext>
              </a:extLst>
            </p:cNvPr>
            <p:cNvSpPr/>
            <p:nvPr/>
          </p:nvSpPr>
          <p:spPr>
            <a:xfrm>
              <a:off x="2053123" y="3361021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</a:t>
              </a:r>
              <a:endParaRPr lang="en-US" sz="1100" dirty="0"/>
            </a:p>
          </p:txBody>
        </p:sp>
        <p:cxnSp>
          <p:nvCxnSpPr>
            <p:cNvPr id="198" name="Connector 32">
              <a:extLst>
                <a:ext uri="{FF2B5EF4-FFF2-40B4-BE49-F238E27FC236}">
                  <a16:creationId xmlns:a16="http://schemas.microsoft.com/office/drawing/2014/main" id="{A51E180E-2106-2CBF-E198-38643F397662}"/>
                </a:ext>
              </a:extLst>
            </p:cNvPr>
            <p:cNvCxnSpPr>
              <a:cxnSpLocks/>
            </p:cNvCxnSpPr>
            <p:nvPr/>
          </p:nvCxnSpPr>
          <p:spPr>
            <a:xfrm rot="21385353">
              <a:off x="2812151" y="2740974"/>
              <a:ext cx="1268333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FF0000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99" name="Connector 33">
              <a:extLst>
                <a:ext uri="{FF2B5EF4-FFF2-40B4-BE49-F238E27FC236}">
                  <a16:creationId xmlns:a16="http://schemas.microsoft.com/office/drawing/2014/main" id="{E406D53A-D93B-CD83-A986-4D9FE3DEC56A}"/>
                </a:ext>
              </a:extLst>
            </p:cNvPr>
            <p:cNvCxnSpPr>
              <a:cxnSpLocks/>
            </p:cNvCxnSpPr>
            <p:nvPr/>
          </p:nvCxnSpPr>
          <p:spPr>
            <a:xfrm rot="21401835">
              <a:off x="4078830" y="2688615"/>
              <a:ext cx="1373753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FF0000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200" name="Connector 34">
              <a:extLst>
                <a:ext uri="{FF2B5EF4-FFF2-40B4-BE49-F238E27FC236}">
                  <a16:creationId xmlns:a16="http://schemas.microsoft.com/office/drawing/2014/main" id="{172CD2C1-70BE-34A7-EE7D-A810D11A68C5}"/>
                </a:ext>
              </a:extLst>
            </p:cNvPr>
            <p:cNvCxnSpPr>
              <a:cxnSpLocks/>
            </p:cNvCxnSpPr>
            <p:nvPr/>
          </p:nvCxnSpPr>
          <p:spPr>
            <a:xfrm rot="21401835">
              <a:off x="5450998" y="2636255"/>
              <a:ext cx="1373753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FF0000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201" name="Connector 35">
              <a:extLst>
                <a:ext uri="{FF2B5EF4-FFF2-40B4-BE49-F238E27FC236}">
                  <a16:creationId xmlns:a16="http://schemas.microsoft.com/office/drawing/2014/main" id="{3BD56E02-D619-EE0A-BD02-5A2902E1CF78}"/>
                </a:ext>
              </a:extLst>
            </p:cNvPr>
            <p:cNvCxnSpPr>
              <a:cxnSpLocks/>
            </p:cNvCxnSpPr>
            <p:nvPr/>
          </p:nvCxnSpPr>
          <p:spPr>
            <a:xfrm rot="198058">
              <a:off x="6822404" y="2646730"/>
              <a:ext cx="1375271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FF0000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202" name="Connector 36">
              <a:extLst>
                <a:ext uri="{FF2B5EF4-FFF2-40B4-BE49-F238E27FC236}">
                  <a16:creationId xmlns:a16="http://schemas.microsoft.com/office/drawing/2014/main" id="{FFC9E911-77D7-37B2-0729-FCB546C9CB60}"/>
                </a:ext>
              </a:extLst>
            </p:cNvPr>
            <p:cNvCxnSpPr>
              <a:cxnSpLocks/>
            </p:cNvCxnSpPr>
            <p:nvPr/>
          </p:nvCxnSpPr>
          <p:spPr>
            <a:xfrm rot="165112">
              <a:off x="8194983" y="2714798"/>
              <a:ext cx="1374449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FF0000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203" name="Connector 37">
              <a:extLst>
                <a:ext uri="{FF2B5EF4-FFF2-40B4-BE49-F238E27FC236}">
                  <a16:creationId xmlns:a16="http://schemas.microsoft.com/office/drawing/2014/main" id="{96BA1065-2623-4571-2DDF-1CC7A6B040C3}"/>
                </a:ext>
              </a:extLst>
            </p:cNvPr>
            <p:cNvCxnSpPr>
              <a:cxnSpLocks/>
            </p:cNvCxnSpPr>
            <p:nvPr/>
          </p:nvCxnSpPr>
          <p:spPr>
            <a:xfrm rot="21434815">
              <a:off x="9567784" y="2725267"/>
              <a:ext cx="1373182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FF0000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204" name="AutoShape 11">
              <a:extLst>
                <a:ext uri="{FF2B5EF4-FFF2-40B4-BE49-F238E27FC236}">
                  <a16:creationId xmlns:a16="http://schemas.microsoft.com/office/drawing/2014/main" id="{20A19E71-1193-3CA4-4262-9D66ACA3DBBE}"/>
                </a:ext>
              </a:extLst>
            </p:cNvPr>
            <p:cNvSpPr/>
            <p:nvPr/>
          </p:nvSpPr>
          <p:spPr>
            <a:xfrm>
              <a:off x="8521178" y="1969168"/>
              <a:ext cx="158327" cy="125664"/>
            </a:xfrm>
            <a:prstGeom prst="roundRect">
              <a:avLst>
                <a:gd name="adj" fmla="val 0"/>
              </a:avLst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round/>
            </a:ln>
          </p:spPr>
          <p:txBody>
            <a:bodyPr vert="horz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05" name="AutoShape 12">
              <a:extLst>
                <a:ext uri="{FF2B5EF4-FFF2-40B4-BE49-F238E27FC236}">
                  <a16:creationId xmlns:a16="http://schemas.microsoft.com/office/drawing/2014/main" id="{0B71A063-7381-0A4E-0681-F4CDCCB86336}"/>
                </a:ext>
              </a:extLst>
            </p:cNvPr>
            <p:cNvSpPr/>
            <p:nvPr/>
          </p:nvSpPr>
          <p:spPr>
            <a:xfrm>
              <a:off x="8506955" y="1948224"/>
              <a:ext cx="1170995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r>
                <a:rPr lang="zh-CN" altLang="en-US" sz="1300" dirty="0">
                  <a:solidFill>
                    <a:srgbClr val="6B72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负荷</a:t>
              </a:r>
              <a:endParaRPr lang="en-US" altLang="zh-CN" sz="1100" dirty="0"/>
            </a:p>
          </p:txBody>
        </p:sp>
        <p:sp>
          <p:nvSpPr>
            <p:cNvPr id="206" name="AutoShape 16">
              <a:extLst>
                <a:ext uri="{FF2B5EF4-FFF2-40B4-BE49-F238E27FC236}">
                  <a16:creationId xmlns:a16="http://schemas.microsoft.com/office/drawing/2014/main" id="{11395487-B3AF-BD02-FA16-DD45B6E97B3A}"/>
                </a:ext>
              </a:extLst>
            </p:cNvPr>
            <p:cNvSpPr/>
            <p:nvPr/>
          </p:nvSpPr>
          <p:spPr>
            <a:xfrm>
              <a:off x="10726894" y="1922183"/>
              <a:ext cx="1040804" cy="233333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lnSpc>
                  <a:spcPct val="125000"/>
                </a:lnSpc>
                <a:defRPr/>
              </a:pPr>
              <a:r>
                <a:rPr lang="zh-CN" altLang="en-US" sz="1100" dirty="0">
                  <a:solidFill>
                    <a:srgbClr val="666666"/>
                  </a:solidFill>
                  <a:latin typeface="Noto Sans SC"/>
                  <a:ea typeface="Noto Sans SC"/>
                </a:rPr>
                <a:t>负荷（</a:t>
              </a:r>
              <a:r>
                <a:rPr lang="en-US" altLang="zh-CN" sz="1100" dirty="0">
                  <a:solidFill>
                    <a:srgbClr val="666666"/>
                  </a:solidFill>
                  <a:latin typeface="Noto Sans SC"/>
                  <a:ea typeface="Noto Sans SC"/>
                </a:rPr>
                <a:t>kW</a:t>
              </a:r>
              <a:r>
                <a:rPr lang="zh-CN" altLang="en-US" sz="1100" dirty="0">
                  <a:solidFill>
                    <a:srgbClr val="666666"/>
                  </a:solidFill>
                  <a:latin typeface="Noto Sans SC"/>
                  <a:ea typeface="Noto Sans SC"/>
                </a:rPr>
                <a:t>）</a:t>
              </a:r>
              <a:endParaRPr lang="en-US" sz="1100" dirty="0">
                <a:solidFill>
                  <a:srgbClr val="666666"/>
                </a:solidFill>
                <a:latin typeface="Noto Sans SC"/>
                <a:ea typeface="Noto Sans SC"/>
              </a:endParaRPr>
            </a:p>
          </p:txBody>
        </p:sp>
      </p:grpSp>
      <p:pic>
        <p:nvPicPr>
          <p:cNvPr id="208" name="图形 207">
            <a:extLst>
              <a:ext uri="{FF2B5EF4-FFF2-40B4-BE49-F238E27FC236}">
                <a16:creationId xmlns:a16="http://schemas.microsoft.com/office/drawing/2014/main" id="{22490D32-6B88-01A5-79CF-F6350119CCA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41217" y="4408652"/>
            <a:ext cx="514894" cy="514894"/>
          </a:xfrm>
          <a:prstGeom prst="rect">
            <a:avLst/>
          </a:prstGeom>
        </p:spPr>
      </p:pic>
      <p:pic>
        <p:nvPicPr>
          <p:cNvPr id="210" name="图形 209">
            <a:extLst>
              <a:ext uri="{FF2B5EF4-FFF2-40B4-BE49-F238E27FC236}">
                <a16:creationId xmlns:a16="http://schemas.microsoft.com/office/drawing/2014/main" id="{C93767EC-A231-F3B1-DA03-2FCF201B69F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55682" y="4422859"/>
            <a:ext cx="589412" cy="451657"/>
          </a:xfrm>
          <a:prstGeom prst="rect">
            <a:avLst/>
          </a:prstGeom>
        </p:spPr>
      </p:pic>
      <p:pic>
        <p:nvPicPr>
          <p:cNvPr id="211" name="图形 210">
            <a:extLst>
              <a:ext uri="{FF2B5EF4-FFF2-40B4-BE49-F238E27FC236}">
                <a16:creationId xmlns:a16="http://schemas.microsoft.com/office/drawing/2014/main" id="{A5AAE101-D080-3EF4-2031-FFF54D21D46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38233" y="4412526"/>
            <a:ext cx="514894" cy="514894"/>
          </a:xfrm>
          <a:prstGeom prst="rect">
            <a:avLst/>
          </a:prstGeom>
        </p:spPr>
      </p:pic>
      <p:pic>
        <p:nvPicPr>
          <p:cNvPr id="212" name="图形 211">
            <a:extLst>
              <a:ext uri="{FF2B5EF4-FFF2-40B4-BE49-F238E27FC236}">
                <a16:creationId xmlns:a16="http://schemas.microsoft.com/office/drawing/2014/main" id="{279B88ED-A297-016D-4E88-D275C13BA75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52698" y="4426733"/>
            <a:ext cx="589412" cy="451657"/>
          </a:xfrm>
          <a:prstGeom prst="rect">
            <a:avLst/>
          </a:prstGeom>
        </p:spPr>
      </p:pic>
      <p:pic>
        <p:nvPicPr>
          <p:cNvPr id="213" name="图形 212">
            <a:extLst>
              <a:ext uri="{FF2B5EF4-FFF2-40B4-BE49-F238E27FC236}">
                <a16:creationId xmlns:a16="http://schemas.microsoft.com/office/drawing/2014/main" id="{C54FCA30-8522-BA7F-052E-8450D2CC434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13580" y="4434623"/>
            <a:ext cx="514894" cy="514894"/>
          </a:xfrm>
          <a:prstGeom prst="rect">
            <a:avLst/>
          </a:prstGeom>
        </p:spPr>
      </p:pic>
      <p:pic>
        <p:nvPicPr>
          <p:cNvPr id="214" name="图形 213">
            <a:extLst>
              <a:ext uri="{FF2B5EF4-FFF2-40B4-BE49-F238E27FC236}">
                <a16:creationId xmlns:a16="http://schemas.microsoft.com/office/drawing/2014/main" id="{997C6658-EAF7-E6ED-5C33-7B9F4FE78BA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28045" y="4448830"/>
            <a:ext cx="589412" cy="451657"/>
          </a:xfrm>
          <a:prstGeom prst="rect">
            <a:avLst/>
          </a:prstGeom>
        </p:spPr>
      </p:pic>
      <p:pic>
        <p:nvPicPr>
          <p:cNvPr id="215" name="图形 214">
            <a:extLst>
              <a:ext uri="{FF2B5EF4-FFF2-40B4-BE49-F238E27FC236}">
                <a16:creationId xmlns:a16="http://schemas.microsoft.com/office/drawing/2014/main" id="{F8FD4973-2368-28E5-099C-4A1D8974812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687652" y="4448830"/>
            <a:ext cx="514894" cy="514894"/>
          </a:xfrm>
          <a:prstGeom prst="rect">
            <a:avLst/>
          </a:prstGeom>
        </p:spPr>
      </p:pic>
      <p:grpSp>
        <p:nvGrpSpPr>
          <p:cNvPr id="218" name="组合 217">
            <a:extLst>
              <a:ext uri="{FF2B5EF4-FFF2-40B4-BE49-F238E27FC236}">
                <a16:creationId xmlns:a16="http://schemas.microsoft.com/office/drawing/2014/main" id="{D42C9075-369C-021A-3503-956865B2F976}"/>
              </a:ext>
            </a:extLst>
          </p:cNvPr>
          <p:cNvGrpSpPr/>
          <p:nvPr/>
        </p:nvGrpSpPr>
        <p:grpSpPr>
          <a:xfrm>
            <a:off x="9631823" y="1574800"/>
            <a:ext cx="2243374" cy="2140195"/>
            <a:chOff x="702489" y="1276772"/>
            <a:chExt cx="10846059" cy="3803227"/>
          </a:xfrm>
        </p:grpSpPr>
        <p:sp>
          <p:nvSpPr>
            <p:cNvPr id="219" name="AutoShape 4">
              <a:extLst>
                <a:ext uri="{FF2B5EF4-FFF2-40B4-BE49-F238E27FC236}">
                  <a16:creationId xmlns:a16="http://schemas.microsoft.com/office/drawing/2014/main" id="{6C1EB571-F20F-D272-D222-20F1A32FDDE7}"/>
                </a:ext>
              </a:extLst>
            </p:cNvPr>
            <p:cNvSpPr/>
            <p:nvPr/>
          </p:nvSpPr>
          <p:spPr>
            <a:xfrm>
              <a:off x="914399" y="1276772"/>
              <a:ext cx="5981066" cy="29803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>
                <a:lnSpc>
                  <a:spcPct val="125000"/>
                </a:lnSpc>
                <a:defRPr/>
              </a:pPr>
              <a:r>
                <a:rPr lang="en-US" sz="1600" b="1" dirty="0" err="1">
                  <a:solidFill>
                    <a:srgbClr val="333333"/>
                  </a:solidFill>
                  <a:latin typeface="Noto Sans SC"/>
                  <a:ea typeface="Noto Sans SC"/>
                  <a:sym typeface="Noto Sans SC"/>
                </a:rPr>
                <a:t>模型效果评估</a:t>
              </a:r>
              <a:endParaRPr lang="en-US" sz="1600" b="1" dirty="0">
                <a:solidFill>
                  <a:srgbClr val="333333"/>
                </a:solidFill>
                <a:latin typeface="Noto Sans SC"/>
                <a:ea typeface="Noto Sans SC"/>
              </a:endParaRPr>
            </a:p>
          </p:txBody>
        </p:sp>
        <p:cxnSp>
          <p:nvCxnSpPr>
            <p:cNvPr id="220" name="Connector 6">
              <a:extLst>
                <a:ext uri="{FF2B5EF4-FFF2-40B4-BE49-F238E27FC236}">
                  <a16:creationId xmlns:a16="http://schemas.microsoft.com/office/drawing/2014/main" id="{D789D629-39D8-35E0-ABD0-C144850771F4}"/>
                </a:ext>
              </a:extLst>
            </p:cNvPr>
            <p:cNvCxnSpPr>
              <a:cxnSpLocks/>
            </p:cNvCxnSpPr>
            <p:nvPr/>
          </p:nvCxnSpPr>
          <p:spPr>
            <a:xfrm rot="5383629">
              <a:off x="190500" y="3359163"/>
              <a:ext cx="2667000" cy="12701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221" name="Connector 7">
              <a:extLst>
                <a:ext uri="{FF2B5EF4-FFF2-40B4-BE49-F238E27FC236}">
                  <a16:creationId xmlns:a16="http://schemas.microsoft.com/office/drawing/2014/main" id="{7F4472C6-2F65-2201-AEEE-1F79B3D120C2}"/>
                </a:ext>
              </a:extLst>
            </p:cNvPr>
            <p:cNvCxnSpPr>
              <a:cxnSpLocks/>
            </p:cNvCxnSpPr>
            <p:nvPr/>
          </p:nvCxnSpPr>
          <p:spPr>
            <a:xfrm rot="21595226">
              <a:off x="1524005" y="4692649"/>
              <a:ext cx="9144005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222" name="Connector 8">
              <a:extLst>
                <a:ext uri="{FF2B5EF4-FFF2-40B4-BE49-F238E27FC236}">
                  <a16:creationId xmlns:a16="http://schemas.microsoft.com/office/drawing/2014/main" id="{537668EB-A17E-DCC5-B109-CF1F7D07F9EE}"/>
                </a:ext>
              </a:extLst>
            </p:cNvPr>
            <p:cNvCxnSpPr>
              <a:cxnSpLocks/>
            </p:cNvCxnSpPr>
            <p:nvPr/>
          </p:nvCxnSpPr>
          <p:spPr>
            <a:xfrm rot="20921405">
              <a:off x="1461129" y="2025649"/>
              <a:ext cx="63502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AAAAAA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3" name="AutoShape 9">
              <a:extLst>
                <a:ext uri="{FF2B5EF4-FFF2-40B4-BE49-F238E27FC236}">
                  <a16:creationId xmlns:a16="http://schemas.microsoft.com/office/drawing/2014/main" id="{52106D1F-4095-CDFB-7683-D58EBCC3CBEB}"/>
                </a:ext>
              </a:extLst>
            </p:cNvPr>
            <p:cNvSpPr/>
            <p:nvPr/>
          </p:nvSpPr>
          <p:spPr>
            <a:xfrm>
              <a:off x="702489" y="1905001"/>
              <a:ext cx="694516" cy="254001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10</a:t>
              </a:r>
              <a:endParaRPr lang="en-US" sz="1000" dirty="0"/>
            </a:p>
          </p:txBody>
        </p:sp>
        <p:cxnSp>
          <p:nvCxnSpPr>
            <p:cNvPr id="224" name="Connector 10">
              <a:extLst>
                <a:ext uri="{FF2B5EF4-FFF2-40B4-BE49-F238E27FC236}">
                  <a16:creationId xmlns:a16="http://schemas.microsoft.com/office/drawing/2014/main" id="{CF0AE25A-47FC-4CF2-D581-F0123F5C59A6}"/>
                </a:ext>
              </a:extLst>
            </p:cNvPr>
            <p:cNvCxnSpPr>
              <a:cxnSpLocks/>
            </p:cNvCxnSpPr>
            <p:nvPr/>
          </p:nvCxnSpPr>
          <p:spPr>
            <a:xfrm rot="20921405">
              <a:off x="1461129" y="2559050"/>
              <a:ext cx="63502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AAAAAA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5" name="AutoShape 11">
              <a:extLst>
                <a:ext uri="{FF2B5EF4-FFF2-40B4-BE49-F238E27FC236}">
                  <a16:creationId xmlns:a16="http://schemas.microsoft.com/office/drawing/2014/main" id="{5C77EBD8-6972-BA82-FF68-5E6597A477E4}"/>
                </a:ext>
              </a:extLst>
            </p:cNvPr>
            <p:cNvSpPr/>
            <p:nvPr/>
          </p:nvSpPr>
          <p:spPr>
            <a:xfrm>
              <a:off x="1016001" y="2438400"/>
              <a:ext cx="380999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8</a:t>
              </a:r>
              <a:endParaRPr lang="en-US" sz="1000" dirty="0"/>
            </a:p>
          </p:txBody>
        </p:sp>
        <p:cxnSp>
          <p:nvCxnSpPr>
            <p:cNvPr id="226" name="Connector 12">
              <a:extLst>
                <a:ext uri="{FF2B5EF4-FFF2-40B4-BE49-F238E27FC236}">
                  <a16:creationId xmlns:a16="http://schemas.microsoft.com/office/drawing/2014/main" id="{411B99A8-06DE-6838-C745-6C4185A82231}"/>
                </a:ext>
              </a:extLst>
            </p:cNvPr>
            <p:cNvCxnSpPr>
              <a:cxnSpLocks/>
            </p:cNvCxnSpPr>
            <p:nvPr/>
          </p:nvCxnSpPr>
          <p:spPr>
            <a:xfrm rot="20921405">
              <a:off x="1461129" y="3092449"/>
              <a:ext cx="63502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AAAAAA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7" name="AutoShape 13">
              <a:extLst>
                <a:ext uri="{FF2B5EF4-FFF2-40B4-BE49-F238E27FC236}">
                  <a16:creationId xmlns:a16="http://schemas.microsoft.com/office/drawing/2014/main" id="{0C02B999-D954-489A-7378-1CB5C3FF7156}"/>
                </a:ext>
              </a:extLst>
            </p:cNvPr>
            <p:cNvSpPr/>
            <p:nvPr/>
          </p:nvSpPr>
          <p:spPr>
            <a:xfrm>
              <a:off x="1016001" y="2971799"/>
              <a:ext cx="380999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6</a:t>
              </a:r>
              <a:endParaRPr lang="en-US" sz="1000" dirty="0"/>
            </a:p>
          </p:txBody>
        </p:sp>
        <p:cxnSp>
          <p:nvCxnSpPr>
            <p:cNvPr id="228" name="Connector 14">
              <a:extLst>
                <a:ext uri="{FF2B5EF4-FFF2-40B4-BE49-F238E27FC236}">
                  <a16:creationId xmlns:a16="http://schemas.microsoft.com/office/drawing/2014/main" id="{BC4B4D98-13CA-4916-1289-4020275D2D7B}"/>
                </a:ext>
              </a:extLst>
            </p:cNvPr>
            <p:cNvCxnSpPr>
              <a:cxnSpLocks/>
            </p:cNvCxnSpPr>
            <p:nvPr/>
          </p:nvCxnSpPr>
          <p:spPr>
            <a:xfrm rot="20921405">
              <a:off x="1461129" y="3625849"/>
              <a:ext cx="63502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AAAAAA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9" name="AutoShape 15">
              <a:extLst>
                <a:ext uri="{FF2B5EF4-FFF2-40B4-BE49-F238E27FC236}">
                  <a16:creationId xmlns:a16="http://schemas.microsoft.com/office/drawing/2014/main" id="{F970D5FF-CF39-0F02-2C9B-D48D9EDE0B7A}"/>
                </a:ext>
              </a:extLst>
            </p:cNvPr>
            <p:cNvSpPr/>
            <p:nvPr/>
          </p:nvSpPr>
          <p:spPr>
            <a:xfrm>
              <a:off x="1016001" y="3505199"/>
              <a:ext cx="380999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4</a:t>
              </a:r>
              <a:endParaRPr lang="en-US" sz="1000" dirty="0"/>
            </a:p>
          </p:txBody>
        </p:sp>
        <p:cxnSp>
          <p:nvCxnSpPr>
            <p:cNvPr id="230" name="Connector 16">
              <a:extLst>
                <a:ext uri="{FF2B5EF4-FFF2-40B4-BE49-F238E27FC236}">
                  <a16:creationId xmlns:a16="http://schemas.microsoft.com/office/drawing/2014/main" id="{F4DC6B65-CA8F-36EF-EF45-49AB93F79D2E}"/>
                </a:ext>
              </a:extLst>
            </p:cNvPr>
            <p:cNvCxnSpPr>
              <a:cxnSpLocks/>
            </p:cNvCxnSpPr>
            <p:nvPr/>
          </p:nvCxnSpPr>
          <p:spPr>
            <a:xfrm rot="20921405">
              <a:off x="1461129" y="4159250"/>
              <a:ext cx="63502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AAAAAA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1" name="AutoShape 17">
              <a:extLst>
                <a:ext uri="{FF2B5EF4-FFF2-40B4-BE49-F238E27FC236}">
                  <a16:creationId xmlns:a16="http://schemas.microsoft.com/office/drawing/2014/main" id="{A56AF6AA-7159-092E-018F-989CD9840D5A}"/>
                </a:ext>
              </a:extLst>
            </p:cNvPr>
            <p:cNvSpPr/>
            <p:nvPr/>
          </p:nvSpPr>
          <p:spPr>
            <a:xfrm>
              <a:off x="1016001" y="4038600"/>
              <a:ext cx="380999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2</a:t>
              </a:r>
              <a:endParaRPr lang="en-US" sz="1000" dirty="0"/>
            </a:p>
          </p:txBody>
        </p:sp>
        <p:cxnSp>
          <p:nvCxnSpPr>
            <p:cNvPr id="232" name="Connector 18">
              <a:extLst>
                <a:ext uri="{FF2B5EF4-FFF2-40B4-BE49-F238E27FC236}">
                  <a16:creationId xmlns:a16="http://schemas.microsoft.com/office/drawing/2014/main" id="{67CEF9E6-C90A-BF03-2C00-74CF73575937}"/>
                </a:ext>
              </a:extLst>
            </p:cNvPr>
            <p:cNvCxnSpPr>
              <a:cxnSpLocks/>
            </p:cNvCxnSpPr>
            <p:nvPr/>
          </p:nvCxnSpPr>
          <p:spPr>
            <a:xfrm rot="20921405">
              <a:off x="1461129" y="4692649"/>
              <a:ext cx="63502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AAAAAA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3" name="AutoShape 19">
              <a:extLst>
                <a:ext uri="{FF2B5EF4-FFF2-40B4-BE49-F238E27FC236}">
                  <a16:creationId xmlns:a16="http://schemas.microsoft.com/office/drawing/2014/main" id="{3659F080-EB8A-096E-6E2A-4A752DA49722}"/>
                </a:ext>
              </a:extLst>
            </p:cNvPr>
            <p:cNvSpPr/>
            <p:nvPr/>
          </p:nvSpPr>
          <p:spPr>
            <a:xfrm>
              <a:off x="1016001" y="4571999"/>
              <a:ext cx="380999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</a:t>
              </a:r>
              <a:endParaRPr lang="en-US" sz="1000" dirty="0"/>
            </a:p>
          </p:txBody>
        </p:sp>
        <p:sp>
          <p:nvSpPr>
            <p:cNvPr id="234" name="AutoShape 20">
              <a:extLst>
                <a:ext uri="{FF2B5EF4-FFF2-40B4-BE49-F238E27FC236}">
                  <a16:creationId xmlns:a16="http://schemas.microsoft.com/office/drawing/2014/main" id="{4BC992C1-A582-4D84-5076-862680186F48}"/>
                </a:ext>
              </a:extLst>
            </p:cNvPr>
            <p:cNvSpPr/>
            <p:nvPr/>
          </p:nvSpPr>
          <p:spPr>
            <a:xfrm>
              <a:off x="2349501" y="4825999"/>
              <a:ext cx="1269998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000" b="0" i="0" u="none" strike="noStrike" dirty="0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MAE</a:t>
              </a:r>
              <a:endParaRPr lang="en-US" sz="1000" dirty="0"/>
            </a:p>
          </p:txBody>
        </p:sp>
        <p:sp>
          <p:nvSpPr>
            <p:cNvPr id="235" name="AutoShape 21">
              <a:extLst>
                <a:ext uri="{FF2B5EF4-FFF2-40B4-BE49-F238E27FC236}">
                  <a16:creationId xmlns:a16="http://schemas.microsoft.com/office/drawing/2014/main" id="{526577B3-046C-DFF9-4626-7711B2363A6E}"/>
                </a:ext>
              </a:extLst>
            </p:cNvPr>
            <p:cNvSpPr/>
            <p:nvPr/>
          </p:nvSpPr>
          <p:spPr>
            <a:xfrm>
              <a:off x="4448663" y="4825998"/>
              <a:ext cx="1784665" cy="254001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000" b="0" i="0" u="none" strike="noStrike" dirty="0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RMSE</a:t>
              </a:r>
              <a:endParaRPr lang="en-US" sz="1000" dirty="0"/>
            </a:p>
          </p:txBody>
        </p:sp>
        <p:sp>
          <p:nvSpPr>
            <p:cNvPr id="236" name="AutoShape 22">
              <a:extLst>
                <a:ext uri="{FF2B5EF4-FFF2-40B4-BE49-F238E27FC236}">
                  <a16:creationId xmlns:a16="http://schemas.microsoft.com/office/drawing/2014/main" id="{C233E278-F383-16AC-5A00-0E4933A91F29}"/>
                </a:ext>
              </a:extLst>
            </p:cNvPr>
            <p:cNvSpPr/>
            <p:nvPr/>
          </p:nvSpPr>
          <p:spPr>
            <a:xfrm>
              <a:off x="6953454" y="4825999"/>
              <a:ext cx="1269998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000" b="0" i="0" u="none" strike="noStrike" dirty="0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R2</a:t>
              </a:r>
              <a:endParaRPr lang="en-US" sz="1000" dirty="0"/>
            </a:p>
          </p:txBody>
        </p:sp>
        <p:sp>
          <p:nvSpPr>
            <p:cNvPr id="237" name="AutoShape 23">
              <a:extLst>
                <a:ext uri="{FF2B5EF4-FFF2-40B4-BE49-F238E27FC236}">
                  <a16:creationId xmlns:a16="http://schemas.microsoft.com/office/drawing/2014/main" id="{B54F59BC-32DD-BB89-6EF7-BEF875B98FD1}"/>
                </a:ext>
              </a:extLst>
            </p:cNvPr>
            <p:cNvSpPr/>
            <p:nvPr/>
          </p:nvSpPr>
          <p:spPr>
            <a:xfrm>
              <a:off x="8977503" y="4825998"/>
              <a:ext cx="1842715" cy="254001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altLang="zh-CN" sz="1000" dirty="0">
                  <a:solidFill>
                    <a:srgbClr val="333333"/>
                  </a:solidFill>
                  <a:latin typeface="Noto Sans SC"/>
                  <a:ea typeface="Noto Sans SC"/>
                  <a:sym typeface="Noto Sans SC"/>
                </a:rPr>
                <a:t>IMAPE</a:t>
              </a:r>
              <a:endParaRPr lang="en-US" sz="1000" dirty="0"/>
            </a:p>
          </p:txBody>
        </p:sp>
        <p:sp>
          <p:nvSpPr>
            <p:cNvPr id="238" name="AutoShape 24">
              <a:extLst>
                <a:ext uri="{FF2B5EF4-FFF2-40B4-BE49-F238E27FC236}">
                  <a16:creationId xmlns:a16="http://schemas.microsoft.com/office/drawing/2014/main" id="{D442C18C-6569-847F-6C38-517F34003B76}"/>
                </a:ext>
              </a:extLst>
            </p:cNvPr>
            <p:cNvSpPr/>
            <p:nvPr/>
          </p:nvSpPr>
          <p:spPr>
            <a:xfrm>
              <a:off x="2603501" y="2362201"/>
              <a:ext cx="761999" cy="2336799"/>
            </a:xfrm>
            <a:prstGeom prst="roundRect">
              <a:avLst>
                <a:gd name="adj" fmla="val 0"/>
              </a:avLst>
            </a:prstGeom>
            <a:solidFill>
              <a:srgbClr val="409E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39" name="AutoShape 28">
              <a:extLst>
                <a:ext uri="{FF2B5EF4-FFF2-40B4-BE49-F238E27FC236}">
                  <a16:creationId xmlns:a16="http://schemas.microsoft.com/office/drawing/2014/main" id="{0F442285-848B-4304-6874-AAC8AAC1A4B1}"/>
                </a:ext>
              </a:extLst>
            </p:cNvPr>
            <p:cNvSpPr/>
            <p:nvPr/>
          </p:nvSpPr>
          <p:spPr>
            <a:xfrm>
              <a:off x="4889502" y="2075179"/>
              <a:ext cx="761999" cy="2623820"/>
            </a:xfrm>
            <a:prstGeom prst="roundRect">
              <a:avLst>
                <a:gd name="adj" fmla="val 0"/>
              </a:avLst>
            </a:prstGeom>
            <a:solidFill>
              <a:srgbClr val="409E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40" name="AutoShape 32">
              <a:extLst>
                <a:ext uri="{FF2B5EF4-FFF2-40B4-BE49-F238E27FC236}">
                  <a16:creationId xmlns:a16="http://schemas.microsoft.com/office/drawing/2014/main" id="{99E9AEFF-DF25-C32F-94A3-95104D636DF8}"/>
                </a:ext>
              </a:extLst>
            </p:cNvPr>
            <p:cNvSpPr/>
            <p:nvPr/>
          </p:nvSpPr>
          <p:spPr>
            <a:xfrm>
              <a:off x="7175503" y="4368800"/>
              <a:ext cx="761999" cy="330200"/>
            </a:xfrm>
            <a:prstGeom prst="roundRect">
              <a:avLst>
                <a:gd name="adj" fmla="val 0"/>
              </a:avLst>
            </a:prstGeom>
            <a:solidFill>
              <a:srgbClr val="409E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41" name="AutoShape 36">
              <a:extLst>
                <a:ext uri="{FF2B5EF4-FFF2-40B4-BE49-F238E27FC236}">
                  <a16:creationId xmlns:a16="http://schemas.microsoft.com/office/drawing/2014/main" id="{4260361A-0399-F5B0-3FDE-6AD1EA59499E}"/>
                </a:ext>
              </a:extLst>
            </p:cNvPr>
            <p:cNvSpPr/>
            <p:nvPr/>
          </p:nvSpPr>
          <p:spPr>
            <a:xfrm>
              <a:off x="9461499" y="4394197"/>
              <a:ext cx="761999" cy="304802"/>
            </a:xfrm>
            <a:prstGeom prst="roundRect">
              <a:avLst>
                <a:gd name="adj" fmla="val 0"/>
              </a:avLst>
            </a:prstGeom>
            <a:solidFill>
              <a:srgbClr val="409E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42" name="AutoShape 40">
              <a:extLst>
                <a:ext uri="{FF2B5EF4-FFF2-40B4-BE49-F238E27FC236}">
                  <a16:creationId xmlns:a16="http://schemas.microsoft.com/office/drawing/2014/main" id="{D0118F26-55C2-2465-E09E-EB1231DDBA1F}"/>
                </a:ext>
              </a:extLst>
            </p:cNvPr>
            <p:cNvSpPr/>
            <p:nvPr/>
          </p:nvSpPr>
          <p:spPr>
            <a:xfrm>
              <a:off x="6439267" y="1807901"/>
              <a:ext cx="641392" cy="288040"/>
            </a:xfrm>
            <a:prstGeom prst="roundRect">
              <a:avLst>
                <a:gd name="adj" fmla="val 0"/>
              </a:avLst>
            </a:prstGeom>
            <a:solidFill>
              <a:srgbClr val="409E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43" name="AutoShape 41">
              <a:extLst>
                <a:ext uri="{FF2B5EF4-FFF2-40B4-BE49-F238E27FC236}">
                  <a16:creationId xmlns:a16="http://schemas.microsoft.com/office/drawing/2014/main" id="{C48943E1-F546-2794-D1A3-80C512A2F3EE}"/>
                </a:ext>
              </a:extLst>
            </p:cNvPr>
            <p:cNvSpPr/>
            <p:nvPr/>
          </p:nvSpPr>
          <p:spPr>
            <a:xfrm>
              <a:off x="7397047" y="1808977"/>
              <a:ext cx="4151501" cy="28017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altLang="zh-CN" sz="1300" b="0" i="0" u="none" strike="noStrike" dirty="0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tcn</a:t>
              </a:r>
              <a:r>
                <a:rPr lang="zh-CN" altLang="en-US" sz="1300" dirty="0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周</a:t>
              </a:r>
              <a:r>
                <a:rPr lang="zh-CN" altLang="en-US" sz="1300" b="0" i="0" u="none" strike="noStrike" dirty="0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前</a:t>
              </a:r>
              <a:endParaRPr lang="en-US" sz="1300" dirty="0"/>
            </a:p>
          </p:txBody>
        </p:sp>
      </p:grpSp>
      <p:sp>
        <p:nvSpPr>
          <p:cNvPr id="244" name="AutoShape 34">
            <a:extLst>
              <a:ext uri="{FF2B5EF4-FFF2-40B4-BE49-F238E27FC236}">
                <a16:creationId xmlns:a16="http://schemas.microsoft.com/office/drawing/2014/main" id="{B6AE109F-065D-0615-9DD9-447FE7ED700A}"/>
              </a:ext>
            </a:extLst>
          </p:cNvPr>
          <p:cNvSpPr/>
          <p:nvPr/>
        </p:nvSpPr>
        <p:spPr>
          <a:xfrm>
            <a:off x="8256659" y="1517073"/>
            <a:ext cx="1090971" cy="355600"/>
          </a:xfrm>
          <a:prstGeom prst="roundRect">
            <a:avLst>
              <a:gd name="adj" fmla="val 14285"/>
            </a:avLst>
          </a:prstGeom>
          <a:solidFill>
            <a:srgbClr val="409E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1300" dirty="0">
                <a:solidFill>
                  <a:schemeClr val="bg1"/>
                </a:solidFill>
                <a:latin typeface="Noto Sans SC"/>
                <a:ea typeface="Noto Sans SC"/>
              </a:rPr>
              <a:t>查看评价结果</a:t>
            </a:r>
            <a:endParaRPr sz="1300" dirty="0">
              <a:solidFill>
                <a:schemeClr val="bg1"/>
              </a:solidFill>
              <a:latin typeface="Noto Sans SC"/>
              <a:ea typeface="Noto Sans SC"/>
            </a:endParaRPr>
          </a:p>
        </p:txBody>
      </p:sp>
      <p:pic>
        <p:nvPicPr>
          <p:cNvPr id="246" name="Picture 14">
            <a:extLst>
              <a:ext uri="{FF2B5EF4-FFF2-40B4-BE49-F238E27FC236}">
                <a16:creationId xmlns:a16="http://schemas.microsoft.com/office/drawing/2014/main" id="{F319AAD7-F583-04A9-A901-E42497BDD86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0400" y="3440121"/>
            <a:ext cx="203200" cy="203200"/>
          </a:xfrm>
          <a:prstGeom prst="rect">
            <a:avLst/>
          </a:prstGeom>
        </p:spPr>
      </p:pic>
      <p:sp>
        <p:nvSpPr>
          <p:cNvPr id="247" name="AutoShape 32">
            <a:extLst>
              <a:ext uri="{FF2B5EF4-FFF2-40B4-BE49-F238E27FC236}">
                <a16:creationId xmlns:a16="http://schemas.microsoft.com/office/drawing/2014/main" id="{96BA5C88-0353-4106-487A-5BF2BFBF66F4}"/>
              </a:ext>
            </a:extLst>
          </p:cNvPr>
          <p:cNvSpPr/>
          <p:nvPr/>
        </p:nvSpPr>
        <p:spPr>
          <a:xfrm>
            <a:off x="6593396" y="1013460"/>
            <a:ext cx="1128712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300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日期</a:t>
            </a:r>
            <a:r>
              <a:rPr lang="zh-CN" altLang="en-US" sz="13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选择</a:t>
            </a:r>
            <a:endParaRPr lang="en-US" sz="1100" dirty="0"/>
          </a:p>
        </p:txBody>
      </p:sp>
      <p:sp>
        <p:nvSpPr>
          <p:cNvPr id="248" name="AutoShape 33">
            <a:extLst>
              <a:ext uri="{FF2B5EF4-FFF2-40B4-BE49-F238E27FC236}">
                <a16:creationId xmlns:a16="http://schemas.microsoft.com/office/drawing/2014/main" id="{F2578037-2362-9A31-D214-41CF7CBBB8BD}"/>
              </a:ext>
            </a:extLst>
          </p:cNvPr>
          <p:cNvSpPr/>
          <p:nvPr/>
        </p:nvSpPr>
        <p:spPr>
          <a:xfrm>
            <a:off x="7436382" y="965200"/>
            <a:ext cx="1054479" cy="3556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3897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47C1F-F3C1-9F1C-955C-1763B88B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B15D6EC-1FAC-5D37-5A7E-574EAD9EA5FB}"/>
              </a:ext>
            </a:extLst>
          </p:cNvPr>
          <p:cNvSpPr/>
          <p:nvPr/>
        </p:nvSpPr>
        <p:spPr>
          <a:xfrm>
            <a:off x="508000" y="203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电价预测</a:t>
            </a:r>
            <a:r>
              <a:rPr lang="en-US" sz="1800" b="1" i="0" u="none" strike="noStrike" dirty="0" err="1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lang="en-US" sz="1100" dirty="0"/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2D380C44-FDF9-CB4B-DD5E-1C7334F5A14B}"/>
              </a:ext>
            </a:extLst>
          </p:cNvPr>
          <p:cNvCxnSpPr/>
          <p:nvPr/>
        </p:nvCxnSpPr>
        <p:spPr>
          <a:xfrm rot="-3906">
            <a:off x="508004" y="704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A1F23AA4-BA3C-9B39-AEAB-61D390265337}"/>
              </a:ext>
            </a:extLst>
          </p:cNvPr>
          <p:cNvSpPr/>
          <p:nvPr/>
        </p:nvSpPr>
        <p:spPr>
          <a:xfrm>
            <a:off x="508000" y="914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lang="en-US" sz="1100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18C86CA5-B212-4716-D7CA-A80C4E694CF9}"/>
              </a:ext>
            </a:extLst>
          </p:cNvPr>
          <p:cNvSpPr/>
          <p:nvPr/>
        </p:nvSpPr>
        <p:spPr>
          <a:xfrm>
            <a:off x="528256" y="1819787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1492A4ED-8FA6-9317-C40D-423886A755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0656" y="1946787"/>
            <a:ext cx="203200" cy="203200"/>
          </a:xfrm>
          <a:prstGeom prst="rect">
            <a:avLst/>
          </a:prstGeom>
        </p:spPr>
      </p:pic>
      <p:sp>
        <p:nvSpPr>
          <p:cNvPr id="7" name="AutoShape 7">
            <a:extLst>
              <a:ext uri="{FF2B5EF4-FFF2-40B4-BE49-F238E27FC236}">
                <a16:creationId xmlns:a16="http://schemas.microsoft.com/office/drawing/2014/main" id="{7B7E3F8B-2A4A-B8E3-23FB-52651652117A}"/>
              </a:ext>
            </a:extLst>
          </p:cNvPr>
          <p:cNvSpPr/>
          <p:nvPr/>
        </p:nvSpPr>
        <p:spPr>
          <a:xfrm>
            <a:off x="985456" y="1895987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数据管理</a:t>
            </a:r>
            <a:endParaRPr lang="en-US" sz="1100" dirty="0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0BDF26D6-0DC8-EDB9-3CB1-D455AC4AA3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1440873"/>
            <a:ext cx="203200" cy="203200"/>
          </a:xfrm>
          <a:prstGeom prst="rect">
            <a:avLst/>
          </a:prstGeom>
        </p:spPr>
      </p:pic>
      <p:sp>
        <p:nvSpPr>
          <p:cNvPr id="9" name="AutoShape 9">
            <a:extLst>
              <a:ext uri="{FF2B5EF4-FFF2-40B4-BE49-F238E27FC236}">
                <a16:creationId xmlns:a16="http://schemas.microsoft.com/office/drawing/2014/main" id="{58CD834F-7F09-F490-7A24-A63585403AF5}"/>
              </a:ext>
            </a:extLst>
          </p:cNvPr>
          <p:cNvSpPr/>
          <p:nvPr/>
        </p:nvSpPr>
        <p:spPr>
          <a:xfrm>
            <a:off x="965200" y="13900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首页</a:t>
            </a:r>
            <a:endParaRPr lang="en-US" sz="1100" dirty="0"/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EAC77609-F640-DF47-7DAA-BB7B84AC99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" y="2463800"/>
            <a:ext cx="203200" cy="203200"/>
          </a:xfrm>
          <a:prstGeom prst="rect">
            <a:avLst/>
          </a:prstGeom>
        </p:spPr>
      </p:pic>
      <p:sp>
        <p:nvSpPr>
          <p:cNvPr id="11" name="AutoShape 11">
            <a:extLst>
              <a:ext uri="{FF2B5EF4-FFF2-40B4-BE49-F238E27FC236}">
                <a16:creationId xmlns:a16="http://schemas.microsoft.com/office/drawing/2014/main" id="{485DF14A-4677-B334-BF58-CC2FF11D9AFF}"/>
              </a:ext>
            </a:extLst>
          </p:cNvPr>
          <p:cNvSpPr/>
          <p:nvPr/>
        </p:nvSpPr>
        <p:spPr>
          <a:xfrm>
            <a:off x="965200" y="24130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模型管理</a:t>
            </a:r>
            <a:endParaRPr lang="en-US" sz="1100" dirty="0"/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id="{15EA8412-E60A-AD77-1194-1191770F98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" y="2971800"/>
            <a:ext cx="203200" cy="203200"/>
          </a:xfrm>
          <a:prstGeom prst="rect">
            <a:avLst/>
          </a:prstGeom>
        </p:spPr>
      </p:pic>
      <p:sp>
        <p:nvSpPr>
          <p:cNvPr id="13" name="AutoShape 13">
            <a:extLst>
              <a:ext uri="{FF2B5EF4-FFF2-40B4-BE49-F238E27FC236}">
                <a16:creationId xmlns:a16="http://schemas.microsoft.com/office/drawing/2014/main" id="{AB5CFA57-DB5E-A65E-939D-CB930FC65C0E}"/>
              </a:ext>
            </a:extLst>
          </p:cNvPr>
          <p:cNvSpPr/>
          <p:nvPr/>
        </p:nvSpPr>
        <p:spPr>
          <a:xfrm>
            <a:off x="965200" y="29210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预测</a:t>
            </a:r>
            <a:endParaRPr lang="en-US" sz="1100" dirty="0"/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C9447A43-9C49-F0A2-BF9A-A3AD07AA5810}"/>
              </a:ext>
            </a:extLst>
          </p:cNvPr>
          <p:cNvCxnSpPr>
            <a:cxnSpLocks/>
          </p:cNvCxnSpPr>
          <p:nvPr/>
        </p:nvCxnSpPr>
        <p:spPr>
          <a:xfrm>
            <a:off x="2400300" y="942109"/>
            <a:ext cx="20461" cy="796287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>
            <a:extLst>
              <a:ext uri="{FF2B5EF4-FFF2-40B4-BE49-F238E27FC236}">
                <a16:creationId xmlns:a16="http://schemas.microsoft.com/office/drawing/2014/main" id="{8DDD6169-12DA-D914-0BA5-BA85B5D640C8}"/>
              </a:ext>
            </a:extLst>
          </p:cNvPr>
          <p:cNvSpPr/>
          <p:nvPr/>
        </p:nvSpPr>
        <p:spPr>
          <a:xfrm>
            <a:off x="2654301" y="942109"/>
            <a:ext cx="5643562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电价</a:t>
            </a: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数据管理</a:t>
            </a:r>
            <a:endParaRPr lang="en-US" sz="1100" dirty="0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313B41F2-58CE-45B2-52D1-30CF6AB7F1DF}"/>
              </a:ext>
            </a:extLst>
          </p:cNvPr>
          <p:cNvSpPr/>
          <p:nvPr/>
        </p:nvSpPr>
        <p:spPr>
          <a:xfrm>
            <a:off x="2654300" y="1678709"/>
            <a:ext cx="9029699" cy="19304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</a:ln>
        </p:spPr>
        <p:txBody>
          <a:bodyPr vert="horz" wrap="square" lIns="203200" tIns="127000" rIns="203200" bIns="12700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776C894F-636E-9AE1-79A9-894577DB73BE}"/>
              </a:ext>
            </a:extLst>
          </p:cNvPr>
          <p:cNvSpPr/>
          <p:nvPr/>
        </p:nvSpPr>
        <p:spPr>
          <a:xfrm>
            <a:off x="2851149" y="1783308"/>
            <a:ext cx="1975247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数据集列表</a:t>
            </a:r>
            <a:endParaRPr lang="en-US" sz="1100" dirty="0"/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090148BC-E08E-613C-264C-7779C9F5DEB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B63DABA1-0ADA-3816-92C7-BFF09B63086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1D6E710C-4E8B-7CE4-F6A3-E1CBEACE0D7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805A5CC3-441E-0BCE-E3B1-02F6BB78EC2B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F126FE26-6474-E9D6-062D-B4FA29154508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1073CEBA-F60C-C3B3-E396-37611231B4F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0D83A1C4-BA00-E50F-0882-70D5B280943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03D3EC79-3518-1CEA-15A1-09A75F68A75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8AF65F2D-3CE4-1CF0-05C6-4688D7AD0878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CD7E7D29-F466-1B52-C1BF-2C8DBB6B605D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E9F5688A-AE25-EAAF-0469-D091EFA0A13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49E702CF-5693-4772-412F-470B52D84B2A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DCBE2B5D-EFE9-B004-05C0-5DC398D3A96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95B162F0-D1A8-483D-5FDE-5A48CB8087CD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B9780952-62C9-19F5-4124-783DF53526B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FBA8FB4D-2923-D655-FE0C-FD6BA5E678B8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graphicFrame>
        <p:nvGraphicFramePr>
          <p:cNvPr id="45" name="Table 45">
            <a:extLst>
              <a:ext uri="{FF2B5EF4-FFF2-40B4-BE49-F238E27FC236}">
                <a16:creationId xmlns:a16="http://schemas.microsoft.com/office/drawing/2014/main" id="{288A4669-4157-1DBC-C9E9-FB6BB15B3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295484"/>
              </p:ext>
            </p:extLst>
          </p:nvPr>
        </p:nvGraphicFramePr>
        <p:xfrm>
          <a:off x="2908300" y="2192706"/>
          <a:ext cx="8465344" cy="1219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834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8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7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52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 dirty="0" err="1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数据名称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 dirty="0" err="1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描述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 dirty="0" err="1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创建时间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 dirty="0" err="1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操作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陕西电价数据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陕西电价数据</a:t>
                      </a:r>
                      <a:endParaRPr lang="en-US" altLang="zh-CN" sz="1100" dirty="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2025-12-21 14:45:05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 dirty="0" err="1">
                          <a:solidFill>
                            <a:srgbClr val="409E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查看</a:t>
                      </a:r>
                      <a:r>
                        <a:rPr lang="en-US" sz="1300" b="0" i="0" u="none" strike="noStrike" dirty="0">
                          <a:solidFill>
                            <a:srgbClr val="409E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</a:t>
                      </a:r>
                      <a:r>
                        <a:rPr lang="zh-CN" altLang="en-US" sz="1300" b="0" i="0" u="none" strike="noStrike" dirty="0">
                          <a:solidFill>
                            <a:srgbClr val="409E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下载 删除</a:t>
                      </a:r>
                      <a:endParaRPr lang="en-US" sz="1100" dirty="0">
                        <a:solidFill>
                          <a:srgbClr val="409EFF"/>
                        </a:solidFill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广东电价数据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广东电价数据</a:t>
                      </a:r>
                      <a:endParaRPr lang="en-US" altLang="zh-CN" sz="1100" dirty="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2025-12-21 00:00:00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300" b="0" i="0" u="none" strike="noStrike" dirty="0" err="1">
                          <a:solidFill>
                            <a:srgbClr val="409E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查看</a:t>
                      </a:r>
                      <a:r>
                        <a:rPr lang="en-US" altLang="zh-CN" sz="1300" b="0" i="0" u="none" strike="noStrike" dirty="0">
                          <a:solidFill>
                            <a:srgbClr val="409E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</a:t>
                      </a:r>
                      <a:r>
                        <a:rPr lang="zh-CN" altLang="en-US" sz="1300" b="0" i="0" u="none" strike="noStrike" dirty="0">
                          <a:solidFill>
                            <a:srgbClr val="409E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下载 删除</a:t>
                      </a:r>
                      <a:endParaRPr lang="en-US" altLang="zh-CN" sz="1100" dirty="0">
                        <a:solidFill>
                          <a:srgbClr val="409EFF"/>
                        </a:solidFill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8" name="AutoShape 34">
            <a:extLst>
              <a:ext uri="{FF2B5EF4-FFF2-40B4-BE49-F238E27FC236}">
                <a16:creationId xmlns:a16="http://schemas.microsoft.com/office/drawing/2014/main" id="{39851678-FD3A-8CFA-8E32-8A0CAD74224F}"/>
              </a:ext>
            </a:extLst>
          </p:cNvPr>
          <p:cNvSpPr/>
          <p:nvPr/>
        </p:nvSpPr>
        <p:spPr>
          <a:xfrm>
            <a:off x="10363289" y="965200"/>
            <a:ext cx="1290738" cy="355600"/>
          </a:xfrm>
          <a:prstGeom prst="roundRect">
            <a:avLst>
              <a:gd name="adj" fmla="val 14285"/>
            </a:avLst>
          </a:prstGeom>
          <a:solidFill>
            <a:srgbClr val="409E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1300" b="1" dirty="0">
                <a:solidFill>
                  <a:srgbClr val="FFFFFF"/>
                </a:solidFill>
                <a:latin typeface="Noto Sans SC"/>
                <a:ea typeface="Noto Sans SC"/>
              </a:rPr>
              <a:t>上传数据集</a:t>
            </a:r>
            <a:endParaRPr sz="1300" b="1" dirty="0">
              <a:solidFill>
                <a:srgbClr val="FFFFFF"/>
              </a:solidFill>
              <a:latin typeface="Noto Sans SC"/>
              <a:ea typeface="Noto Sans SC"/>
            </a:endParaRPr>
          </a:p>
        </p:txBody>
      </p:sp>
      <p:sp>
        <p:nvSpPr>
          <p:cNvPr id="15" name="AutoShape 13">
            <a:extLst>
              <a:ext uri="{FF2B5EF4-FFF2-40B4-BE49-F238E27FC236}">
                <a16:creationId xmlns:a16="http://schemas.microsoft.com/office/drawing/2014/main" id="{A172EE86-C4D1-FBCA-62BE-B35DBA61F74C}"/>
              </a:ext>
            </a:extLst>
          </p:cNvPr>
          <p:cNvSpPr/>
          <p:nvPr/>
        </p:nvSpPr>
        <p:spPr>
          <a:xfrm>
            <a:off x="965200" y="3389321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评分管理</a:t>
            </a:r>
            <a:endParaRPr lang="en-US" sz="1100" dirty="0"/>
          </a:p>
        </p:txBody>
      </p:sp>
      <p:pic>
        <p:nvPicPr>
          <p:cNvPr id="18" name="Picture 14">
            <a:extLst>
              <a:ext uri="{FF2B5EF4-FFF2-40B4-BE49-F238E27FC236}">
                <a16:creationId xmlns:a16="http://schemas.microsoft.com/office/drawing/2014/main" id="{F4AEBEBD-5A49-1970-7D11-4915CE70A6E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" y="3479800"/>
            <a:ext cx="2032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639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6623A-D48B-ED03-5C27-46915954F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2BC6111-99D2-1D62-2117-B63C13BF7490}"/>
              </a:ext>
            </a:extLst>
          </p:cNvPr>
          <p:cNvSpPr/>
          <p:nvPr/>
        </p:nvSpPr>
        <p:spPr>
          <a:xfrm>
            <a:off x="508000" y="203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电价预测</a:t>
            </a:r>
            <a:r>
              <a:rPr lang="en-US" sz="1800" b="1" i="0" u="none" strike="noStrike" dirty="0" err="1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lang="en-US" sz="1100" dirty="0"/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5B5876C0-0962-7D36-2F7F-E8F9F07F0062}"/>
              </a:ext>
            </a:extLst>
          </p:cNvPr>
          <p:cNvCxnSpPr/>
          <p:nvPr/>
        </p:nvCxnSpPr>
        <p:spPr>
          <a:xfrm rot="-3906">
            <a:off x="508004" y="704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45EADBEA-0DF4-2934-45B1-E07FDC424AF1}"/>
              </a:ext>
            </a:extLst>
          </p:cNvPr>
          <p:cNvSpPr/>
          <p:nvPr/>
        </p:nvSpPr>
        <p:spPr>
          <a:xfrm>
            <a:off x="508000" y="914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lang="en-US" sz="1100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7F2BE8F1-051A-1B0A-576F-89E0B6201688}"/>
              </a:ext>
            </a:extLst>
          </p:cNvPr>
          <p:cNvSpPr/>
          <p:nvPr/>
        </p:nvSpPr>
        <p:spPr>
          <a:xfrm>
            <a:off x="528256" y="1819787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9010259-BA53-26A1-50CF-5E0BEF7F17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0656" y="1946787"/>
            <a:ext cx="203200" cy="203200"/>
          </a:xfrm>
          <a:prstGeom prst="rect">
            <a:avLst/>
          </a:prstGeom>
        </p:spPr>
      </p:pic>
      <p:sp>
        <p:nvSpPr>
          <p:cNvPr id="7" name="AutoShape 7">
            <a:extLst>
              <a:ext uri="{FF2B5EF4-FFF2-40B4-BE49-F238E27FC236}">
                <a16:creationId xmlns:a16="http://schemas.microsoft.com/office/drawing/2014/main" id="{2BE178E5-AC98-D3A9-6D8D-473084E611DA}"/>
              </a:ext>
            </a:extLst>
          </p:cNvPr>
          <p:cNvSpPr/>
          <p:nvPr/>
        </p:nvSpPr>
        <p:spPr>
          <a:xfrm>
            <a:off x="985456" y="1895987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数据管理</a:t>
            </a:r>
            <a:endParaRPr lang="en-US" sz="1100" dirty="0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DE897FD2-68AD-276F-1E74-F51477AE27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1440873"/>
            <a:ext cx="203200" cy="203200"/>
          </a:xfrm>
          <a:prstGeom prst="rect">
            <a:avLst/>
          </a:prstGeom>
        </p:spPr>
      </p:pic>
      <p:sp>
        <p:nvSpPr>
          <p:cNvPr id="9" name="AutoShape 9">
            <a:extLst>
              <a:ext uri="{FF2B5EF4-FFF2-40B4-BE49-F238E27FC236}">
                <a16:creationId xmlns:a16="http://schemas.microsoft.com/office/drawing/2014/main" id="{11B4E953-F7FB-B588-CC43-3252570BF2CB}"/>
              </a:ext>
            </a:extLst>
          </p:cNvPr>
          <p:cNvSpPr/>
          <p:nvPr/>
        </p:nvSpPr>
        <p:spPr>
          <a:xfrm>
            <a:off x="965200" y="13900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首页</a:t>
            </a:r>
            <a:endParaRPr lang="en-US" sz="1100" dirty="0"/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67DBC774-BD02-BCBE-C6AD-A9B5035E71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" y="2463800"/>
            <a:ext cx="203200" cy="203200"/>
          </a:xfrm>
          <a:prstGeom prst="rect">
            <a:avLst/>
          </a:prstGeom>
        </p:spPr>
      </p:pic>
      <p:sp>
        <p:nvSpPr>
          <p:cNvPr id="11" name="AutoShape 11">
            <a:extLst>
              <a:ext uri="{FF2B5EF4-FFF2-40B4-BE49-F238E27FC236}">
                <a16:creationId xmlns:a16="http://schemas.microsoft.com/office/drawing/2014/main" id="{31D30E70-C721-7430-D8D6-BBE49C908382}"/>
              </a:ext>
            </a:extLst>
          </p:cNvPr>
          <p:cNvSpPr/>
          <p:nvPr/>
        </p:nvSpPr>
        <p:spPr>
          <a:xfrm>
            <a:off x="965200" y="24130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模型管理</a:t>
            </a:r>
            <a:endParaRPr lang="en-US" sz="1100" dirty="0"/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id="{FC699A0B-97E1-EC41-F3A1-1C8DC4776AB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" y="2971800"/>
            <a:ext cx="203200" cy="203200"/>
          </a:xfrm>
          <a:prstGeom prst="rect">
            <a:avLst/>
          </a:prstGeom>
        </p:spPr>
      </p:pic>
      <p:sp>
        <p:nvSpPr>
          <p:cNvPr id="13" name="AutoShape 13">
            <a:extLst>
              <a:ext uri="{FF2B5EF4-FFF2-40B4-BE49-F238E27FC236}">
                <a16:creationId xmlns:a16="http://schemas.microsoft.com/office/drawing/2014/main" id="{A1483618-702C-0F99-8288-959DEA3B3BB5}"/>
              </a:ext>
            </a:extLst>
          </p:cNvPr>
          <p:cNvSpPr/>
          <p:nvPr/>
        </p:nvSpPr>
        <p:spPr>
          <a:xfrm>
            <a:off x="965200" y="29210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预测</a:t>
            </a:r>
            <a:endParaRPr lang="en-US" sz="1100" dirty="0"/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E0E6AA78-B6E6-38EC-7E55-43A37F871BC0}"/>
              </a:ext>
            </a:extLst>
          </p:cNvPr>
          <p:cNvCxnSpPr>
            <a:cxnSpLocks/>
          </p:cNvCxnSpPr>
          <p:nvPr/>
        </p:nvCxnSpPr>
        <p:spPr>
          <a:xfrm>
            <a:off x="2400300" y="942109"/>
            <a:ext cx="20461" cy="796287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>
            <a:extLst>
              <a:ext uri="{FF2B5EF4-FFF2-40B4-BE49-F238E27FC236}">
                <a16:creationId xmlns:a16="http://schemas.microsoft.com/office/drawing/2014/main" id="{F86C42B2-EA1E-D467-13C4-16F8FEEF1B3E}"/>
              </a:ext>
            </a:extLst>
          </p:cNvPr>
          <p:cNvSpPr/>
          <p:nvPr/>
        </p:nvSpPr>
        <p:spPr>
          <a:xfrm>
            <a:off x="2654301" y="942109"/>
            <a:ext cx="5643562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电价</a:t>
            </a: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数据管理</a:t>
            </a:r>
            <a:endParaRPr lang="en-US" sz="1100" dirty="0"/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D4B71A47-14C2-22DB-4B50-3FA565D53C04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0B5BC98E-6EF6-9695-8CCE-D15C6A514602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1BF5C371-5C02-BF83-93EA-36FFD73724B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764F5939-FD81-B9BC-1957-07705728D1B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9C76DE22-931B-3258-55A4-10C4C5240BA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478C1DE8-BA78-48E6-B17E-358817D9FAD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639CBED6-7158-8171-86B0-FC314A71BA5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C84E800B-F6F9-7A82-9428-55C6E7016E8F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0" name="AutoShape 30">
            <a:extLst>
              <a:ext uri="{FF2B5EF4-FFF2-40B4-BE49-F238E27FC236}">
                <a16:creationId xmlns:a16="http://schemas.microsoft.com/office/drawing/2014/main" id="{13E5D8B6-62BA-EB05-2C64-DB8FD2057D12}"/>
              </a:ext>
            </a:extLst>
          </p:cNvPr>
          <p:cNvSpPr/>
          <p:nvPr/>
        </p:nvSpPr>
        <p:spPr>
          <a:xfrm>
            <a:off x="2762464" y="2024067"/>
            <a:ext cx="1128712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3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起始日期</a:t>
            </a:r>
            <a:endParaRPr lang="en-US" sz="1100" dirty="0"/>
          </a:p>
        </p:txBody>
      </p:sp>
      <p:sp>
        <p:nvSpPr>
          <p:cNvPr id="31" name="AutoShape 31">
            <a:extLst>
              <a:ext uri="{FF2B5EF4-FFF2-40B4-BE49-F238E27FC236}">
                <a16:creationId xmlns:a16="http://schemas.microsoft.com/office/drawing/2014/main" id="{55F697DE-C77B-0303-633C-CA3D4615D53A}"/>
              </a:ext>
            </a:extLst>
          </p:cNvPr>
          <p:cNvSpPr/>
          <p:nvPr/>
        </p:nvSpPr>
        <p:spPr>
          <a:xfrm>
            <a:off x="3651463" y="1998667"/>
            <a:ext cx="1975247" cy="3556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dirty="0"/>
          </a:p>
        </p:txBody>
      </p:sp>
      <p:sp>
        <p:nvSpPr>
          <p:cNvPr id="32" name="AutoShape 32">
            <a:extLst>
              <a:ext uri="{FF2B5EF4-FFF2-40B4-BE49-F238E27FC236}">
                <a16:creationId xmlns:a16="http://schemas.microsoft.com/office/drawing/2014/main" id="{2C5F3853-319F-5565-5264-158AE078F5E2}"/>
              </a:ext>
            </a:extLst>
          </p:cNvPr>
          <p:cNvSpPr/>
          <p:nvPr/>
        </p:nvSpPr>
        <p:spPr>
          <a:xfrm>
            <a:off x="5827678" y="2053564"/>
            <a:ext cx="1128712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3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结束日期</a:t>
            </a:r>
            <a:endParaRPr lang="en-US" sz="1100" dirty="0"/>
          </a:p>
        </p:txBody>
      </p:sp>
      <p:sp>
        <p:nvSpPr>
          <p:cNvPr id="33" name="AutoShape 33">
            <a:extLst>
              <a:ext uri="{FF2B5EF4-FFF2-40B4-BE49-F238E27FC236}">
                <a16:creationId xmlns:a16="http://schemas.microsoft.com/office/drawing/2014/main" id="{86FA3B1A-E2DA-C42D-AFE9-6AB6CEA96ED5}"/>
              </a:ext>
            </a:extLst>
          </p:cNvPr>
          <p:cNvSpPr/>
          <p:nvPr/>
        </p:nvSpPr>
        <p:spPr>
          <a:xfrm>
            <a:off x="6572463" y="1998667"/>
            <a:ext cx="1975247" cy="3556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4" name="AutoShape 34">
            <a:extLst>
              <a:ext uri="{FF2B5EF4-FFF2-40B4-BE49-F238E27FC236}">
                <a16:creationId xmlns:a16="http://schemas.microsoft.com/office/drawing/2014/main" id="{C211903A-263D-D74E-C1C6-A52AD59B6D8A}"/>
              </a:ext>
            </a:extLst>
          </p:cNvPr>
          <p:cNvSpPr/>
          <p:nvPr/>
        </p:nvSpPr>
        <p:spPr>
          <a:xfrm>
            <a:off x="8604464" y="1998667"/>
            <a:ext cx="846534" cy="355600"/>
          </a:xfrm>
          <a:prstGeom prst="roundRect">
            <a:avLst>
              <a:gd name="adj" fmla="val 14285"/>
            </a:avLst>
          </a:prstGeom>
          <a:solidFill>
            <a:srgbClr val="409E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5" name="AutoShape 35">
            <a:extLst>
              <a:ext uri="{FF2B5EF4-FFF2-40B4-BE49-F238E27FC236}">
                <a16:creationId xmlns:a16="http://schemas.microsoft.com/office/drawing/2014/main" id="{9DC71D62-ACE7-2633-DFE9-B0D6DC81EC07}"/>
              </a:ext>
            </a:extLst>
          </p:cNvPr>
          <p:cNvSpPr/>
          <p:nvPr/>
        </p:nvSpPr>
        <p:spPr>
          <a:xfrm>
            <a:off x="8604464" y="1998667"/>
            <a:ext cx="846534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查询</a:t>
            </a:r>
            <a:endParaRPr lang="en-US" sz="1100" dirty="0"/>
          </a:p>
        </p:txBody>
      </p:sp>
      <p:graphicFrame>
        <p:nvGraphicFramePr>
          <p:cNvPr id="36" name="Table 36">
            <a:extLst>
              <a:ext uri="{FF2B5EF4-FFF2-40B4-BE49-F238E27FC236}">
                <a16:creationId xmlns:a16="http://schemas.microsoft.com/office/drawing/2014/main" id="{30E15B9A-EF7E-7770-8526-84BCCF8A07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9945"/>
              </p:ext>
            </p:extLst>
          </p:nvPr>
        </p:nvGraphicFramePr>
        <p:xfrm>
          <a:off x="2670099" y="2487822"/>
          <a:ext cx="9215841" cy="1625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54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17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1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0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0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7073">
                  <a:extLst>
                    <a:ext uri="{9D8B030D-6E8A-4147-A177-3AD203B41FA5}">
                      <a16:colId xmlns:a16="http://schemas.microsoft.com/office/drawing/2014/main" val="3763671408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 dirty="0" err="1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时间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1" i="0" u="none" strike="noStrike" dirty="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电价</a:t>
                      </a:r>
                      <a:r>
                        <a:rPr lang="en-US" sz="1300" b="1" i="0" u="none" strike="noStrike" dirty="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(</a:t>
                      </a:r>
                      <a:r>
                        <a:rPr lang="zh-CN" altLang="en-US" sz="1300" b="1" i="0" u="none" strike="noStrike" dirty="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元</a:t>
                      </a:r>
                      <a:r>
                        <a:rPr lang="en-US" altLang="zh-CN" sz="1300" b="1" i="0" u="none" strike="noStrike" dirty="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/kWh</a:t>
                      </a:r>
                      <a:r>
                        <a:rPr lang="en-US" sz="1300" b="1" i="0" u="none" strike="noStrike" dirty="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)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1" i="0" u="none" strike="noStrike" dirty="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负荷</a:t>
                      </a:r>
                      <a:r>
                        <a:rPr lang="en-US" sz="1300" b="1" i="0" u="none" strike="noStrike" dirty="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(kWh)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1" i="0" u="none" strike="noStrike" dirty="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温度</a:t>
                      </a:r>
                      <a:r>
                        <a:rPr lang="en-US" sz="1300" b="1" i="0" u="none" strike="noStrike" dirty="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(</a:t>
                      </a:r>
                      <a:r>
                        <a:rPr lang="zh-CN" altLang="en-US" sz="1300" b="1" i="0" u="none" strike="noStrike" dirty="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℃</a:t>
                      </a:r>
                      <a:r>
                        <a:rPr lang="en-US" sz="1300" b="1" i="0" u="none" strike="noStrike" dirty="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)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1" i="0" u="none" strike="noStrike" dirty="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风速（</a:t>
                      </a:r>
                      <a:r>
                        <a:rPr lang="en-US" altLang="zh-CN" sz="1300" b="1" i="0" u="none" strike="noStrike" dirty="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m/s</a:t>
                      </a:r>
                      <a:r>
                        <a:rPr lang="zh-CN" altLang="en-US" sz="1300" b="1" i="0" u="none" strike="noStrike" dirty="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）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1" i="0" u="none" strike="noStrike" cap="none" dirty="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sym typeface="Arial"/>
                        </a:rPr>
                        <a:t>类型</a:t>
                      </a:r>
                      <a:endParaRPr lang="en-US" sz="1300" b="1" i="0" u="none" strike="noStrike" cap="none" dirty="0">
                        <a:solidFill>
                          <a:srgbClr val="333333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2025-12-31 17:00:00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40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46000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多云</a:t>
                      </a:r>
                      <a:endParaRPr lang="en-US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2025-12-31 17:30:00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95.4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66230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19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多云</a:t>
                      </a:r>
                      <a:endParaRPr lang="en-US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2025-12-31 18:00:00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56.6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66240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18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多云</a:t>
                      </a:r>
                      <a:endParaRPr lang="en-US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" name="AutoShape 37">
            <a:extLst>
              <a:ext uri="{FF2B5EF4-FFF2-40B4-BE49-F238E27FC236}">
                <a16:creationId xmlns:a16="http://schemas.microsoft.com/office/drawing/2014/main" id="{641C1FFF-13F7-D5C9-ECD6-FD95F475C79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A3A6BA65-64A3-7FFA-E232-C097D502D114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BD049848-18C1-1783-F377-A1073278D04D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1E08E091-5E84-0C5E-9332-DFF87B1295F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16912D23-33F9-055C-8E9E-752DAEE4984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82F29B49-A958-AD59-E0C6-B3EAC6194FE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E199A149-A490-6D5F-B371-CDCFADC07AA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3C0A7239-EF6E-7A21-099A-D9D12DEACC7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7" name="AutoShape 29">
            <a:extLst>
              <a:ext uri="{FF2B5EF4-FFF2-40B4-BE49-F238E27FC236}">
                <a16:creationId xmlns:a16="http://schemas.microsoft.com/office/drawing/2014/main" id="{EC429C0F-B99D-050C-0D43-960CEDCD8097}"/>
              </a:ext>
            </a:extLst>
          </p:cNvPr>
          <p:cNvSpPr/>
          <p:nvPr/>
        </p:nvSpPr>
        <p:spPr>
          <a:xfrm>
            <a:off x="2654309" y="1539009"/>
            <a:ext cx="9029699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</a:t>
            </a:r>
            <a:r>
              <a:rPr lang="zh-CN" alt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集展示</a:t>
            </a:r>
            <a:endParaRPr lang="en-US" sz="1100" dirty="0"/>
          </a:p>
        </p:txBody>
      </p:sp>
      <p:sp>
        <p:nvSpPr>
          <p:cNvPr id="48" name="AutoShape 34">
            <a:extLst>
              <a:ext uri="{FF2B5EF4-FFF2-40B4-BE49-F238E27FC236}">
                <a16:creationId xmlns:a16="http://schemas.microsoft.com/office/drawing/2014/main" id="{B62D35ED-422A-E705-7B48-B8D3C05ECD8E}"/>
              </a:ext>
            </a:extLst>
          </p:cNvPr>
          <p:cNvSpPr/>
          <p:nvPr/>
        </p:nvSpPr>
        <p:spPr>
          <a:xfrm>
            <a:off x="10363289" y="965200"/>
            <a:ext cx="1290738" cy="355600"/>
          </a:xfrm>
          <a:prstGeom prst="roundRect">
            <a:avLst>
              <a:gd name="adj" fmla="val 14285"/>
            </a:avLst>
          </a:prstGeom>
          <a:solidFill>
            <a:srgbClr val="409E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1300" b="1" dirty="0">
                <a:solidFill>
                  <a:srgbClr val="FFFFFF"/>
                </a:solidFill>
                <a:latin typeface="Noto Sans SC"/>
                <a:ea typeface="Noto Sans SC"/>
              </a:rPr>
              <a:t>上传数据集</a:t>
            </a:r>
            <a:endParaRPr sz="1300" b="1" dirty="0">
              <a:solidFill>
                <a:srgbClr val="FFFFFF"/>
              </a:solidFill>
              <a:latin typeface="Noto Sans SC"/>
              <a:ea typeface="Noto Sans SC"/>
            </a:endParaRPr>
          </a:p>
        </p:txBody>
      </p:sp>
      <p:sp>
        <p:nvSpPr>
          <p:cNvPr id="15" name="AutoShape 13">
            <a:extLst>
              <a:ext uri="{FF2B5EF4-FFF2-40B4-BE49-F238E27FC236}">
                <a16:creationId xmlns:a16="http://schemas.microsoft.com/office/drawing/2014/main" id="{4F1374CE-D23B-575A-0938-FAD1FD0C098A}"/>
              </a:ext>
            </a:extLst>
          </p:cNvPr>
          <p:cNvSpPr/>
          <p:nvPr/>
        </p:nvSpPr>
        <p:spPr>
          <a:xfrm>
            <a:off x="965200" y="3389321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评分管理</a:t>
            </a:r>
            <a:endParaRPr lang="en-US" sz="1100" dirty="0"/>
          </a:p>
        </p:txBody>
      </p:sp>
      <p:pic>
        <p:nvPicPr>
          <p:cNvPr id="18" name="Picture 14">
            <a:extLst>
              <a:ext uri="{FF2B5EF4-FFF2-40B4-BE49-F238E27FC236}">
                <a16:creationId xmlns:a16="http://schemas.microsoft.com/office/drawing/2014/main" id="{018B8D59-B033-0845-F2BC-5FB55164AD4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" y="3479800"/>
            <a:ext cx="2032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60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75689-B30E-77BE-4695-EFB987025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BAB454E-6BA2-4A91-7FE7-DB294E774CFA}"/>
              </a:ext>
            </a:extLst>
          </p:cNvPr>
          <p:cNvSpPr/>
          <p:nvPr/>
        </p:nvSpPr>
        <p:spPr>
          <a:xfrm>
            <a:off x="508000" y="203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电价预测</a:t>
            </a:r>
            <a:r>
              <a:rPr lang="en-US" sz="1800" b="1" i="0" u="none" strike="noStrike" dirty="0" err="1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lang="en-US" sz="1100" dirty="0"/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D2DF67B6-ADFA-F359-7E70-EA30EB4C47AD}"/>
              </a:ext>
            </a:extLst>
          </p:cNvPr>
          <p:cNvCxnSpPr/>
          <p:nvPr/>
        </p:nvCxnSpPr>
        <p:spPr>
          <a:xfrm rot="-3906">
            <a:off x="508004" y="704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D0D7BDAC-0539-25E2-71F8-0CE9B2646288}"/>
              </a:ext>
            </a:extLst>
          </p:cNvPr>
          <p:cNvSpPr/>
          <p:nvPr/>
        </p:nvSpPr>
        <p:spPr>
          <a:xfrm>
            <a:off x="508000" y="914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lang="en-US" sz="1100" dirty="0"/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D97AF6BB-1018-1E4B-E29D-B962CB478107}"/>
              </a:ext>
            </a:extLst>
          </p:cNvPr>
          <p:cNvCxnSpPr>
            <a:cxnSpLocks/>
          </p:cNvCxnSpPr>
          <p:nvPr/>
        </p:nvCxnSpPr>
        <p:spPr>
          <a:xfrm>
            <a:off x="1966640" y="914400"/>
            <a:ext cx="20461" cy="796287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>
            <a:extLst>
              <a:ext uri="{FF2B5EF4-FFF2-40B4-BE49-F238E27FC236}">
                <a16:creationId xmlns:a16="http://schemas.microsoft.com/office/drawing/2014/main" id="{C46AACEB-F068-0ECD-F4C5-B4790C46AD2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17F8B72E-6A8B-B512-388B-FFC60AD575D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57252021-68DC-6024-7CB3-2161EBCBF448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0BE1B14A-551E-126D-2427-AC70EF36CE18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F23C2AE0-BD77-6076-2627-6BB0E706875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B4913DF1-B839-99A2-F716-BDFC30C5261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5DCD4CC0-34D8-FF69-57A6-18FB9A4D6962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9AE5F453-C718-9A63-4A4C-18F37FAEBC0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600835D4-9F7D-95D2-056A-5C038171527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AB4D2CBC-5C83-FBFF-2DC1-B7D2F525FDDF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A6D466CA-C45C-6EFA-B092-886D2023EDDD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B373CBD6-C3EB-742C-7ED5-5EC91B1370A2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5CBFE7CC-7CE4-992D-8496-55A7D9A0E40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CCD16990-1621-B771-DBD8-0EC5F628B87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5836574B-6E38-1CBF-CD79-F527746E072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D3DA4425-9FD1-C1A0-4E95-1EE9890B383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9" name="AutoShape 17">
            <a:extLst>
              <a:ext uri="{FF2B5EF4-FFF2-40B4-BE49-F238E27FC236}">
                <a16:creationId xmlns:a16="http://schemas.microsoft.com/office/drawing/2014/main" id="{6CEFEE92-F7C7-20D2-176A-C8A2C4312BCB}"/>
              </a:ext>
            </a:extLst>
          </p:cNvPr>
          <p:cNvSpPr/>
          <p:nvPr/>
        </p:nvSpPr>
        <p:spPr>
          <a:xfrm>
            <a:off x="2213034" y="914400"/>
            <a:ext cx="5555006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模型</a:t>
            </a: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管理</a:t>
            </a:r>
            <a:endParaRPr lang="en-US" sz="1100" dirty="0"/>
          </a:p>
        </p:txBody>
      </p:sp>
      <p:sp>
        <p:nvSpPr>
          <p:cNvPr id="49" name="AutoShape 19">
            <a:extLst>
              <a:ext uri="{FF2B5EF4-FFF2-40B4-BE49-F238E27FC236}">
                <a16:creationId xmlns:a16="http://schemas.microsoft.com/office/drawing/2014/main" id="{98C09076-1FB8-9675-E54B-3FF325DCCA70}"/>
              </a:ext>
            </a:extLst>
          </p:cNvPr>
          <p:cNvSpPr/>
          <p:nvPr/>
        </p:nvSpPr>
        <p:spPr>
          <a:xfrm>
            <a:off x="2088701" y="1651000"/>
            <a:ext cx="9939611" cy="19304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</a:ln>
        </p:spPr>
        <p:txBody>
          <a:bodyPr vert="horz" wrap="square" lIns="203200" tIns="127000" rIns="203200" bIns="12700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0" name="AutoShape 20">
            <a:extLst>
              <a:ext uri="{FF2B5EF4-FFF2-40B4-BE49-F238E27FC236}">
                <a16:creationId xmlns:a16="http://schemas.microsoft.com/office/drawing/2014/main" id="{3AD8BAB6-3D83-84C6-8121-8427022771C6}"/>
              </a:ext>
            </a:extLst>
          </p:cNvPr>
          <p:cNvSpPr/>
          <p:nvPr/>
        </p:nvSpPr>
        <p:spPr>
          <a:xfrm>
            <a:off x="2409882" y="1755599"/>
            <a:ext cx="1944252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模型列表</a:t>
            </a:r>
            <a:endParaRPr lang="en-US" sz="1100" dirty="0"/>
          </a:p>
        </p:txBody>
      </p:sp>
      <p:graphicFrame>
        <p:nvGraphicFramePr>
          <p:cNvPr id="58" name="Table 45">
            <a:extLst>
              <a:ext uri="{FF2B5EF4-FFF2-40B4-BE49-F238E27FC236}">
                <a16:creationId xmlns:a16="http://schemas.microsoft.com/office/drawing/2014/main" id="{C0B71E1C-1DB8-2F14-AFCE-CA8E56820D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426131"/>
              </p:ext>
            </p:extLst>
          </p:nvPr>
        </p:nvGraphicFramePr>
        <p:xfrm>
          <a:off x="2149097" y="2170121"/>
          <a:ext cx="9818818" cy="1219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65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8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0230">
                  <a:extLst>
                    <a:ext uri="{9D8B030D-6E8A-4147-A177-3AD203B41FA5}">
                      <a16:colId xmlns:a16="http://schemas.microsoft.com/office/drawing/2014/main" val="1520317794"/>
                    </a:ext>
                  </a:extLst>
                </a:gridCol>
                <a:gridCol w="10404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055">
                  <a:extLst>
                    <a:ext uri="{9D8B030D-6E8A-4147-A177-3AD203B41FA5}">
                      <a16:colId xmlns:a16="http://schemas.microsoft.com/office/drawing/2014/main" val="3998529627"/>
                    </a:ext>
                  </a:extLst>
                </a:gridCol>
                <a:gridCol w="3413161">
                  <a:extLst>
                    <a:ext uri="{9D8B030D-6E8A-4147-A177-3AD203B41FA5}">
                      <a16:colId xmlns:a16="http://schemas.microsoft.com/office/drawing/2014/main" val="17705769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1" i="0" u="none" strike="noStrike" dirty="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模型</a:t>
                      </a:r>
                      <a:r>
                        <a:rPr lang="en-US" sz="1300" b="1" i="0" u="none" strike="noStrike" dirty="0" err="1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名称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 dirty="0" err="1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描述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1" i="0" u="none" strike="noStrik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数据集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1" i="0" u="none" strike="noStrike" cap="none" dirty="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sym typeface="Arial"/>
                        </a:rPr>
                        <a:t>类型</a:t>
                      </a: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1" i="0" u="none" strike="noStrike" cap="none" dirty="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sym typeface="Arial"/>
                        </a:rPr>
                        <a:t>状态</a:t>
                      </a: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 dirty="0" err="1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操作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3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LSTM</a:t>
                      </a:r>
                      <a:r>
                        <a:rPr lang="zh-CN" altLang="en-US" sz="13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日前确定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3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LSTM</a:t>
                      </a:r>
                      <a:r>
                        <a:rPr lang="zh-CN" altLang="en-US" sz="13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日前确定</a:t>
                      </a:r>
                      <a:endParaRPr lang="en-US" altLang="zh-CN" sz="1100" dirty="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陕西电价数据</a:t>
                      </a:r>
                      <a:endParaRPr lang="en-US" altLang="zh-CN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日前确定</a:t>
                      </a: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已校核</a:t>
                      </a: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0" i="0" u="none" strike="noStrike" dirty="0">
                          <a:solidFill>
                            <a:srgbClr val="409E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数据集校核</a:t>
                      </a:r>
                      <a:r>
                        <a:rPr lang="en-US" sz="1300" b="0" i="0" u="none" strike="noStrike" dirty="0">
                          <a:solidFill>
                            <a:srgbClr val="409E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</a:t>
                      </a:r>
                      <a:r>
                        <a:rPr lang="zh-CN" altLang="en-US" sz="1300" b="0" i="0" u="none" strike="noStrike" dirty="0">
                          <a:solidFill>
                            <a:srgbClr val="409E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训练模型 上传已训练文件</a:t>
                      </a:r>
                      <a:endParaRPr lang="en-US" sz="1100" dirty="0">
                        <a:solidFill>
                          <a:srgbClr val="409EFF"/>
                        </a:solidFill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3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TCN</a:t>
                      </a:r>
                      <a:r>
                        <a:rPr lang="zh-CN" altLang="en-US" sz="13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周前概率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3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TCN</a:t>
                      </a:r>
                      <a:r>
                        <a:rPr lang="zh-CN" altLang="en-US" sz="13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周前概率</a:t>
                      </a:r>
                      <a:endParaRPr lang="en-US" altLang="zh-CN" sz="1100" dirty="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广东电价数据</a:t>
                      </a:r>
                      <a:endParaRPr lang="en-US" altLang="zh-CN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周前概率</a:t>
                      </a: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已训练</a:t>
                      </a: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0" i="0" u="none" strike="noStrike" dirty="0">
                          <a:solidFill>
                            <a:srgbClr val="409E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数据集校核</a:t>
                      </a:r>
                      <a:r>
                        <a:rPr lang="en-US" altLang="zh-CN" sz="1300" b="0" i="0" u="none" strike="noStrike" dirty="0">
                          <a:solidFill>
                            <a:srgbClr val="409E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</a:t>
                      </a:r>
                      <a:r>
                        <a:rPr lang="zh-CN" altLang="en-US" sz="1300" b="0" i="0" u="none" strike="noStrike" dirty="0">
                          <a:solidFill>
                            <a:srgbClr val="409E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训练模型 上传已训练文件</a:t>
                      </a:r>
                      <a:endParaRPr lang="en-US" altLang="zh-CN" sz="1100" dirty="0">
                        <a:solidFill>
                          <a:srgbClr val="409EFF"/>
                        </a:solidFill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0" name="AutoShape 34">
            <a:extLst>
              <a:ext uri="{FF2B5EF4-FFF2-40B4-BE49-F238E27FC236}">
                <a16:creationId xmlns:a16="http://schemas.microsoft.com/office/drawing/2014/main" id="{00451564-4BA9-9A80-80C5-35CBCB143AC2}"/>
              </a:ext>
            </a:extLst>
          </p:cNvPr>
          <p:cNvSpPr/>
          <p:nvPr/>
        </p:nvSpPr>
        <p:spPr>
          <a:xfrm>
            <a:off x="10637035" y="1104900"/>
            <a:ext cx="1270485" cy="355600"/>
          </a:xfrm>
          <a:prstGeom prst="roundRect">
            <a:avLst>
              <a:gd name="adj" fmla="val 14285"/>
            </a:avLst>
          </a:prstGeom>
          <a:solidFill>
            <a:srgbClr val="409E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1300" b="1" dirty="0">
                <a:solidFill>
                  <a:srgbClr val="FFFFFF"/>
                </a:solidFill>
                <a:latin typeface="Noto Sans SC"/>
                <a:ea typeface="Noto Sans SC"/>
              </a:rPr>
              <a:t>上传模型文件</a:t>
            </a:r>
            <a:endParaRPr sz="1300" b="1" dirty="0">
              <a:solidFill>
                <a:srgbClr val="FFFFFF"/>
              </a:solidFill>
              <a:latin typeface="Noto Sans SC"/>
              <a:ea typeface="Noto Sans SC"/>
            </a:endParaRPr>
          </a:p>
        </p:txBody>
      </p:sp>
      <p:sp>
        <p:nvSpPr>
          <p:cNvPr id="72" name="AutoShape 5">
            <a:extLst>
              <a:ext uri="{FF2B5EF4-FFF2-40B4-BE49-F238E27FC236}">
                <a16:creationId xmlns:a16="http://schemas.microsoft.com/office/drawing/2014/main" id="{F4D70AB1-4E0B-65C0-9915-2FBB39F86017}"/>
              </a:ext>
            </a:extLst>
          </p:cNvPr>
          <p:cNvSpPr/>
          <p:nvPr/>
        </p:nvSpPr>
        <p:spPr>
          <a:xfrm>
            <a:off x="508001" y="2336800"/>
            <a:ext cx="1357039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3" name="Picture 6">
            <a:extLst>
              <a:ext uri="{FF2B5EF4-FFF2-40B4-BE49-F238E27FC236}">
                <a16:creationId xmlns:a16="http://schemas.microsoft.com/office/drawing/2014/main" id="{5E4ADAA4-A4E0-2CA8-C48A-B4B3CF1CFA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" y="1930400"/>
            <a:ext cx="203200" cy="203200"/>
          </a:xfrm>
          <a:prstGeom prst="rect">
            <a:avLst/>
          </a:prstGeom>
        </p:spPr>
      </p:pic>
      <p:sp>
        <p:nvSpPr>
          <p:cNvPr id="74" name="AutoShape 7">
            <a:extLst>
              <a:ext uri="{FF2B5EF4-FFF2-40B4-BE49-F238E27FC236}">
                <a16:creationId xmlns:a16="http://schemas.microsoft.com/office/drawing/2014/main" id="{00DF273D-559A-E0C7-9BC8-9A58D7DC7E78}"/>
              </a:ext>
            </a:extLst>
          </p:cNvPr>
          <p:cNvSpPr/>
          <p:nvPr/>
        </p:nvSpPr>
        <p:spPr>
          <a:xfrm>
            <a:off x="965200" y="18796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dirty="0" err="1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数据管理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pic>
        <p:nvPicPr>
          <p:cNvPr id="77" name="Picture 10">
            <a:extLst>
              <a:ext uri="{FF2B5EF4-FFF2-40B4-BE49-F238E27FC236}">
                <a16:creationId xmlns:a16="http://schemas.microsoft.com/office/drawing/2014/main" id="{16AB9744-D789-1509-7EA9-0C9570D485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2463800"/>
            <a:ext cx="203200" cy="203200"/>
          </a:xfrm>
          <a:prstGeom prst="rect">
            <a:avLst/>
          </a:prstGeom>
        </p:spPr>
      </p:pic>
      <p:sp>
        <p:nvSpPr>
          <p:cNvPr id="78" name="AutoShape 11">
            <a:extLst>
              <a:ext uri="{FF2B5EF4-FFF2-40B4-BE49-F238E27FC236}">
                <a16:creationId xmlns:a16="http://schemas.microsoft.com/office/drawing/2014/main" id="{959F8CF9-79C9-79C3-82B9-941B39B24E3C}"/>
              </a:ext>
            </a:extLst>
          </p:cNvPr>
          <p:cNvSpPr/>
          <p:nvPr/>
        </p:nvSpPr>
        <p:spPr>
          <a:xfrm>
            <a:off x="965200" y="24130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b="1" dirty="0" err="1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模型管理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pic>
        <p:nvPicPr>
          <p:cNvPr id="79" name="Picture 12">
            <a:extLst>
              <a:ext uri="{FF2B5EF4-FFF2-40B4-BE49-F238E27FC236}">
                <a16:creationId xmlns:a16="http://schemas.microsoft.com/office/drawing/2014/main" id="{041380B6-A1B9-84E9-A4A9-80EB077DF6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" y="2971800"/>
            <a:ext cx="203200" cy="203200"/>
          </a:xfrm>
          <a:prstGeom prst="rect">
            <a:avLst/>
          </a:prstGeom>
        </p:spPr>
      </p:pic>
      <p:sp>
        <p:nvSpPr>
          <p:cNvPr id="80" name="AutoShape 13">
            <a:extLst>
              <a:ext uri="{FF2B5EF4-FFF2-40B4-BE49-F238E27FC236}">
                <a16:creationId xmlns:a16="http://schemas.microsoft.com/office/drawing/2014/main" id="{C8E24B6B-B7AF-7044-BAA3-D917177AA662}"/>
              </a:ext>
            </a:extLst>
          </p:cNvPr>
          <p:cNvSpPr/>
          <p:nvPr/>
        </p:nvSpPr>
        <p:spPr>
          <a:xfrm>
            <a:off x="965200" y="29210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预测</a:t>
            </a:r>
            <a:endParaRPr lang="en-US" sz="1100" dirty="0"/>
          </a:p>
        </p:txBody>
      </p:sp>
      <p:pic>
        <p:nvPicPr>
          <p:cNvPr id="84" name="Picture 8">
            <a:extLst>
              <a:ext uri="{FF2B5EF4-FFF2-40B4-BE49-F238E27FC236}">
                <a16:creationId xmlns:a16="http://schemas.microsoft.com/office/drawing/2014/main" id="{47686429-577B-6B33-FF03-3091007B844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" y="1440873"/>
            <a:ext cx="203200" cy="203200"/>
          </a:xfrm>
          <a:prstGeom prst="rect">
            <a:avLst/>
          </a:prstGeom>
        </p:spPr>
      </p:pic>
      <p:sp>
        <p:nvSpPr>
          <p:cNvPr id="85" name="AutoShape 9">
            <a:extLst>
              <a:ext uri="{FF2B5EF4-FFF2-40B4-BE49-F238E27FC236}">
                <a16:creationId xmlns:a16="http://schemas.microsoft.com/office/drawing/2014/main" id="{F039A4CB-7AF0-A61A-7BC1-622C0A316566}"/>
              </a:ext>
            </a:extLst>
          </p:cNvPr>
          <p:cNvSpPr/>
          <p:nvPr/>
        </p:nvSpPr>
        <p:spPr>
          <a:xfrm>
            <a:off x="965200" y="13900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首页</a:t>
            </a:r>
            <a:endParaRPr lang="en-US" sz="1100" dirty="0"/>
          </a:p>
        </p:txBody>
      </p:sp>
      <p:sp>
        <p:nvSpPr>
          <p:cNvPr id="6" name="AutoShape 13">
            <a:extLst>
              <a:ext uri="{FF2B5EF4-FFF2-40B4-BE49-F238E27FC236}">
                <a16:creationId xmlns:a16="http://schemas.microsoft.com/office/drawing/2014/main" id="{BDAFD48E-07E0-4858-2F56-AD3065C5D213}"/>
              </a:ext>
            </a:extLst>
          </p:cNvPr>
          <p:cNvSpPr/>
          <p:nvPr/>
        </p:nvSpPr>
        <p:spPr>
          <a:xfrm>
            <a:off x="965200" y="3389321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评分管理</a:t>
            </a:r>
            <a:endParaRPr lang="en-US" sz="1100" dirty="0"/>
          </a:p>
        </p:txBody>
      </p:sp>
      <p:pic>
        <p:nvPicPr>
          <p:cNvPr id="7" name="Picture 14">
            <a:extLst>
              <a:ext uri="{FF2B5EF4-FFF2-40B4-BE49-F238E27FC236}">
                <a16:creationId xmlns:a16="http://schemas.microsoft.com/office/drawing/2014/main" id="{FF6BD0FD-F1AA-38C1-D4CD-D83B7156D39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" y="3429000"/>
            <a:ext cx="2032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983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0088F-9C81-6D03-6F51-91BB586C0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6BB85F3-F39B-44F2-D2E0-984E56FC2017}"/>
              </a:ext>
            </a:extLst>
          </p:cNvPr>
          <p:cNvSpPr/>
          <p:nvPr/>
        </p:nvSpPr>
        <p:spPr>
          <a:xfrm>
            <a:off x="508000" y="203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电价预测</a:t>
            </a:r>
            <a:r>
              <a:rPr lang="en-US" sz="1800" b="1" i="0" u="none" strike="noStrike" dirty="0" err="1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lang="en-US" sz="1100" dirty="0"/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F8E00460-58ED-68FB-F72B-D7D722B2A485}"/>
              </a:ext>
            </a:extLst>
          </p:cNvPr>
          <p:cNvCxnSpPr/>
          <p:nvPr/>
        </p:nvCxnSpPr>
        <p:spPr>
          <a:xfrm rot="-3906">
            <a:off x="508004" y="704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AC490ABD-1942-E45C-74E4-7E3EF9F2C9EF}"/>
              </a:ext>
            </a:extLst>
          </p:cNvPr>
          <p:cNvSpPr/>
          <p:nvPr/>
        </p:nvSpPr>
        <p:spPr>
          <a:xfrm>
            <a:off x="508000" y="914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lang="en-US" sz="1100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9147FACA-8EA2-4D6A-D981-4DC44D3A9CBC}"/>
              </a:ext>
            </a:extLst>
          </p:cNvPr>
          <p:cNvSpPr/>
          <p:nvPr/>
        </p:nvSpPr>
        <p:spPr>
          <a:xfrm>
            <a:off x="508000" y="2844800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026E6B99-3CA4-6988-054C-F95E0DD30C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" y="2463800"/>
            <a:ext cx="203200" cy="203200"/>
          </a:xfrm>
          <a:prstGeom prst="rect">
            <a:avLst/>
          </a:prstGeom>
        </p:spPr>
      </p:pic>
      <p:sp>
        <p:nvSpPr>
          <p:cNvPr id="11" name="AutoShape 11">
            <a:extLst>
              <a:ext uri="{FF2B5EF4-FFF2-40B4-BE49-F238E27FC236}">
                <a16:creationId xmlns:a16="http://schemas.microsoft.com/office/drawing/2014/main" id="{C8E85C59-E418-4F79-9607-315082216E3F}"/>
              </a:ext>
            </a:extLst>
          </p:cNvPr>
          <p:cNvSpPr/>
          <p:nvPr/>
        </p:nvSpPr>
        <p:spPr>
          <a:xfrm>
            <a:off x="965200" y="24130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模型管理</a:t>
            </a:r>
            <a:endParaRPr lang="en-US" sz="1100" dirty="0"/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id="{9E7B8A26-0BA4-2B96-5D3F-C2F01353F6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2971800"/>
            <a:ext cx="203200" cy="203200"/>
          </a:xfrm>
          <a:prstGeom prst="rect">
            <a:avLst/>
          </a:prstGeom>
        </p:spPr>
      </p:pic>
      <p:sp>
        <p:nvSpPr>
          <p:cNvPr id="13" name="AutoShape 13">
            <a:extLst>
              <a:ext uri="{FF2B5EF4-FFF2-40B4-BE49-F238E27FC236}">
                <a16:creationId xmlns:a16="http://schemas.microsoft.com/office/drawing/2014/main" id="{5522E9C0-8662-D9E3-AF59-1868ACBF7614}"/>
              </a:ext>
            </a:extLst>
          </p:cNvPr>
          <p:cNvSpPr/>
          <p:nvPr/>
        </p:nvSpPr>
        <p:spPr>
          <a:xfrm>
            <a:off x="965200" y="29210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预测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B23AB2B6-93FB-32DF-659B-C96C9EDD02C6}"/>
              </a:ext>
            </a:extLst>
          </p:cNvPr>
          <p:cNvCxnSpPr>
            <a:cxnSpLocks/>
          </p:cNvCxnSpPr>
          <p:nvPr/>
        </p:nvCxnSpPr>
        <p:spPr>
          <a:xfrm>
            <a:off x="1990706" y="942109"/>
            <a:ext cx="20461" cy="796287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>
            <a:extLst>
              <a:ext uri="{FF2B5EF4-FFF2-40B4-BE49-F238E27FC236}">
                <a16:creationId xmlns:a16="http://schemas.microsoft.com/office/drawing/2014/main" id="{FE9D2A54-F072-6A15-83F0-2627ACC011C2}"/>
              </a:ext>
            </a:extLst>
          </p:cNvPr>
          <p:cNvSpPr/>
          <p:nvPr/>
        </p:nvSpPr>
        <p:spPr>
          <a:xfrm>
            <a:off x="2250210" y="993739"/>
            <a:ext cx="5643562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预测</a:t>
            </a: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管理</a:t>
            </a:r>
            <a:endParaRPr lang="en-US" sz="1100" dirty="0"/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FFF4F36E-DEC8-1069-5900-F1A7898DF26A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212CA3DB-D726-079F-BF81-FEE7690F4AD1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D012C3FE-4C07-18BE-1D3A-7C180B3FABC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4F4C77D3-F223-AD44-3CFB-EF8804DED81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F3122EB9-7760-72DC-FC59-015732C11F72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0C4A7211-4E85-185D-4FF5-8E656645F472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47C16C4B-65D0-A016-3870-25A9885243EA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31978076-7469-4F51-F17E-ED590F9CEAF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BAF306A4-902E-D66A-F2E3-DB733FF59F8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694D7EED-451F-19E9-8B5C-BDB649B8389F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CD09DB30-4B65-032A-AC8D-EB759277177F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BE5616DB-1ED5-6AD8-A8FA-E0E996B2E5CA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D316F6CD-7214-0501-E803-358A39F528A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F9F6746C-4614-8094-D784-D921AA4A34D2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3428A021-52B7-02A6-8C62-368CC8D0415A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60798833-3614-0654-E422-5504C47A8A5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C71F83F6-1C7C-4BB5-3F2C-76D08FBCDDEB}"/>
              </a:ext>
            </a:extLst>
          </p:cNvPr>
          <p:cNvSpPr/>
          <p:nvPr/>
        </p:nvSpPr>
        <p:spPr>
          <a:xfrm>
            <a:off x="2250209" y="1761064"/>
            <a:ext cx="9281391" cy="1811872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5">
            <a:extLst>
              <a:ext uri="{FF2B5EF4-FFF2-40B4-BE49-F238E27FC236}">
                <a16:creationId xmlns:a16="http://schemas.microsoft.com/office/drawing/2014/main" id="{18A3A5C5-E511-F522-7BA4-B2258CD0A7A5}"/>
              </a:ext>
            </a:extLst>
          </p:cNvPr>
          <p:cNvSpPr/>
          <p:nvPr/>
        </p:nvSpPr>
        <p:spPr>
          <a:xfrm>
            <a:off x="2467450" y="1941592"/>
            <a:ext cx="247793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电价预测方案</a:t>
            </a:r>
            <a:endParaRPr lang="en-US" sz="1100" dirty="0"/>
          </a:p>
        </p:txBody>
      </p:sp>
      <p:graphicFrame>
        <p:nvGraphicFramePr>
          <p:cNvPr id="31" name="Table 6">
            <a:extLst>
              <a:ext uri="{FF2B5EF4-FFF2-40B4-BE49-F238E27FC236}">
                <a16:creationId xmlns:a16="http://schemas.microsoft.com/office/drawing/2014/main" id="{575C40AA-5F9A-8E24-D598-D64FA0A59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072560"/>
              </p:ext>
            </p:extLst>
          </p:nvPr>
        </p:nvGraphicFramePr>
        <p:xfrm>
          <a:off x="2465686" y="2379813"/>
          <a:ext cx="8889998" cy="1219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907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3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51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58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8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1" i="0" u="none" strike="noStrik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方案</a:t>
                      </a:r>
                      <a:r>
                        <a:rPr lang="en-US" sz="1300" b="1" i="0" u="none" strike="noStrike" dirty="0" err="1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名称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1" i="0" u="none" strike="noStrik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数据集</a:t>
                      </a:r>
                      <a:r>
                        <a:rPr lang="en-US" sz="1300" b="1" i="0" u="none" strike="noStrike" dirty="0" err="1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名称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1" i="0" u="none" strike="noStrik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类型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1" i="0" u="none" strike="noStrik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预测时间段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1" i="0" u="none" strike="noStrike" cap="non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sym typeface="Arial"/>
                        </a:rPr>
                        <a:t>模型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1" i="0" u="none" strike="noStrike" cap="non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+mn-cs"/>
                          <a:sym typeface="Arial"/>
                        </a:rPr>
                        <a:t>描述</a:t>
                      </a:r>
                      <a:endParaRPr lang="en-US" sz="1300" b="1" i="0" u="none" strike="noStrike" cap="none" dirty="0">
                        <a:solidFill>
                          <a:srgbClr val="666666"/>
                        </a:solidFill>
                        <a:latin typeface="Noto Sans SC"/>
                        <a:ea typeface="Noto Sans SC"/>
                        <a:cs typeface="+mn-cs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 dirty="0" err="1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操作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方案</a:t>
                      </a: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</a:t>
                      </a:r>
                      <a:endParaRPr lang="en-US" altLang="zh-CN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陕西电价数据</a:t>
                      </a:r>
                      <a:endParaRPr lang="en-US" altLang="zh-CN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日前确定</a:t>
                      </a:r>
                      <a:endParaRPr lang="en-US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2025.12.21-2025.12.27</a:t>
                      </a:r>
                      <a:endParaRPr lang="en-US" altLang="zh-CN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Lstm1 lstm2</a:t>
                      </a:r>
                      <a:endParaRPr lang="zh-CN" altLang="en-US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方案</a:t>
                      </a: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1</a:t>
                      </a:r>
                      <a:endParaRPr lang="en-US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0" i="0" u="none" strike="noStrike" dirty="0">
                          <a:solidFill>
                            <a:srgbClr val="409E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查看 删除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方案</a:t>
                      </a: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</a:t>
                      </a:r>
                      <a:endParaRPr lang="en-US" altLang="zh-CN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广东电价数据</a:t>
                      </a:r>
                      <a:endParaRPr lang="en-US" altLang="zh-CN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周前概率</a:t>
                      </a:r>
                      <a:endParaRPr lang="en-US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2025.12.21-2025.12.27</a:t>
                      </a:r>
                      <a:endParaRPr lang="en-US" altLang="zh-CN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Tcn1 tcn2</a:t>
                      </a:r>
                      <a:endParaRPr lang="zh-CN" altLang="en-US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方案</a:t>
                      </a: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2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0" i="0" u="none" strike="noStrike" dirty="0">
                          <a:solidFill>
                            <a:srgbClr val="409E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查看 删除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48" name="Picture 6">
            <a:extLst>
              <a:ext uri="{FF2B5EF4-FFF2-40B4-BE49-F238E27FC236}">
                <a16:creationId xmlns:a16="http://schemas.microsoft.com/office/drawing/2014/main" id="{3588AB1F-C7FD-12F1-5A4F-603ED79A07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" y="1930400"/>
            <a:ext cx="203200" cy="203200"/>
          </a:xfrm>
          <a:prstGeom prst="rect">
            <a:avLst/>
          </a:prstGeom>
        </p:spPr>
      </p:pic>
      <p:sp>
        <p:nvSpPr>
          <p:cNvPr id="149" name="AutoShape 7">
            <a:extLst>
              <a:ext uri="{FF2B5EF4-FFF2-40B4-BE49-F238E27FC236}">
                <a16:creationId xmlns:a16="http://schemas.microsoft.com/office/drawing/2014/main" id="{329466BC-5B5F-95E6-3E10-7C1F72CB408E}"/>
              </a:ext>
            </a:extLst>
          </p:cNvPr>
          <p:cNvSpPr/>
          <p:nvPr/>
        </p:nvSpPr>
        <p:spPr>
          <a:xfrm>
            <a:off x="965200" y="18796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dirty="0" err="1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数据管理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pic>
        <p:nvPicPr>
          <p:cNvPr id="150" name="Picture 8">
            <a:extLst>
              <a:ext uri="{FF2B5EF4-FFF2-40B4-BE49-F238E27FC236}">
                <a16:creationId xmlns:a16="http://schemas.microsoft.com/office/drawing/2014/main" id="{88DE9DFD-EB03-86A5-B1EC-4BA041288BD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" y="1440873"/>
            <a:ext cx="203200" cy="203200"/>
          </a:xfrm>
          <a:prstGeom prst="rect">
            <a:avLst/>
          </a:prstGeom>
        </p:spPr>
      </p:pic>
      <p:sp>
        <p:nvSpPr>
          <p:cNvPr id="151" name="AutoShape 9">
            <a:extLst>
              <a:ext uri="{FF2B5EF4-FFF2-40B4-BE49-F238E27FC236}">
                <a16:creationId xmlns:a16="http://schemas.microsoft.com/office/drawing/2014/main" id="{B3359EDF-1240-98CD-E75D-94991E8D2B24}"/>
              </a:ext>
            </a:extLst>
          </p:cNvPr>
          <p:cNvSpPr/>
          <p:nvPr/>
        </p:nvSpPr>
        <p:spPr>
          <a:xfrm>
            <a:off x="965200" y="13900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首页</a:t>
            </a:r>
            <a:endParaRPr lang="en-US" sz="1100" dirty="0"/>
          </a:p>
        </p:txBody>
      </p:sp>
      <p:sp>
        <p:nvSpPr>
          <p:cNvPr id="18" name="AutoShape 13">
            <a:extLst>
              <a:ext uri="{FF2B5EF4-FFF2-40B4-BE49-F238E27FC236}">
                <a16:creationId xmlns:a16="http://schemas.microsoft.com/office/drawing/2014/main" id="{4421E586-1B9D-E250-0F99-8FE30A714D6D}"/>
              </a:ext>
            </a:extLst>
          </p:cNvPr>
          <p:cNvSpPr/>
          <p:nvPr/>
        </p:nvSpPr>
        <p:spPr>
          <a:xfrm>
            <a:off x="965200" y="3389321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评分管理</a:t>
            </a:r>
            <a:endParaRPr lang="en-US" sz="1100" dirty="0"/>
          </a:p>
        </p:txBody>
      </p:sp>
      <p:pic>
        <p:nvPicPr>
          <p:cNvPr id="7" name="Picture 14">
            <a:extLst>
              <a:ext uri="{FF2B5EF4-FFF2-40B4-BE49-F238E27FC236}">
                <a16:creationId xmlns:a16="http://schemas.microsoft.com/office/drawing/2014/main" id="{13D47808-A775-069B-B7EA-FB13EFE6712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" y="3479800"/>
            <a:ext cx="203200" cy="203200"/>
          </a:xfrm>
          <a:prstGeom prst="rect">
            <a:avLst/>
          </a:prstGeom>
        </p:spPr>
      </p:pic>
      <p:sp>
        <p:nvSpPr>
          <p:cNvPr id="8" name="AutoShape 34">
            <a:extLst>
              <a:ext uri="{FF2B5EF4-FFF2-40B4-BE49-F238E27FC236}">
                <a16:creationId xmlns:a16="http://schemas.microsoft.com/office/drawing/2014/main" id="{5EF4C548-90F3-DCDB-970A-A6587E6CDAF4}"/>
              </a:ext>
            </a:extLst>
          </p:cNvPr>
          <p:cNvSpPr/>
          <p:nvPr/>
        </p:nvSpPr>
        <p:spPr>
          <a:xfrm>
            <a:off x="10064946" y="1900028"/>
            <a:ext cx="1290738" cy="355600"/>
          </a:xfrm>
          <a:prstGeom prst="roundRect">
            <a:avLst>
              <a:gd name="adj" fmla="val 14285"/>
            </a:avLst>
          </a:prstGeom>
          <a:solidFill>
            <a:srgbClr val="409E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1300" b="1" dirty="0">
                <a:solidFill>
                  <a:srgbClr val="FFFFFF"/>
                </a:solidFill>
                <a:latin typeface="Noto Sans SC"/>
                <a:ea typeface="Noto Sans SC"/>
              </a:rPr>
              <a:t>新建方案</a:t>
            </a:r>
            <a:endParaRPr sz="1300" b="1" dirty="0">
              <a:solidFill>
                <a:srgbClr val="FFFFFF"/>
              </a:solidFill>
              <a:latin typeface="Noto Sans SC"/>
              <a:ea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2299077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DA56B-99E1-0FCC-AA06-D0B54B1C9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0FC1A08-6D11-4011-23EF-E22B727A5A0D}"/>
              </a:ext>
            </a:extLst>
          </p:cNvPr>
          <p:cNvSpPr/>
          <p:nvPr/>
        </p:nvSpPr>
        <p:spPr>
          <a:xfrm>
            <a:off x="508000" y="203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电价预测</a:t>
            </a:r>
            <a:r>
              <a:rPr lang="en-US" sz="1800" b="1" i="0" u="none" strike="noStrike" dirty="0" err="1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lang="en-US" sz="1100" dirty="0"/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4C81B04A-9EA6-3DE6-C58B-855F201F45F8}"/>
              </a:ext>
            </a:extLst>
          </p:cNvPr>
          <p:cNvCxnSpPr/>
          <p:nvPr/>
        </p:nvCxnSpPr>
        <p:spPr>
          <a:xfrm rot="-3906">
            <a:off x="508004" y="704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5230D486-8BFB-76F8-63A5-CBD972DB1D7E}"/>
              </a:ext>
            </a:extLst>
          </p:cNvPr>
          <p:cNvSpPr/>
          <p:nvPr/>
        </p:nvSpPr>
        <p:spPr>
          <a:xfrm>
            <a:off x="508000" y="914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lang="en-US" sz="1100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F019B955-27BB-EF16-1842-F80478D4C0C5}"/>
              </a:ext>
            </a:extLst>
          </p:cNvPr>
          <p:cNvSpPr/>
          <p:nvPr/>
        </p:nvSpPr>
        <p:spPr>
          <a:xfrm>
            <a:off x="508000" y="2844800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D435F718-0FFE-E681-0647-372FC0DC1E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" y="2463800"/>
            <a:ext cx="203200" cy="203200"/>
          </a:xfrm>
          <a:prstGeom prst="rect">
            <a:avLst/>
          </a:prstGeom>
        </p:spPr>
      </p:pic>
      <p:sp>
        <p:nvSpPr>
          <p:cNvPr id="11" name="AutoShape 11">
            <a:extLst>
              <a:ext uri="{FF2B5EF4-FFF2-40B4-BE49-F238E27FC236}">
                <a16:creationId xmlns:a16="http://schemas.microsoft.com/office/drawing/2014/main" id="{ABB56E45-F989-C31D-F485-ADEC5A387202}"/>
              </a:ext>
            </a:extLst>
          </p:cNvPr>
          <p:cNvSpPr/>
          <p:nvPr/>
        </p:nvSpPr>
        <p:spPr>
          <a:xfrm>
            <a:off x="965200" y="24130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模型管理</a:t>
            </a:r>
            <a:endParaRPr lang="en-US" sz="1100" dirty="0"/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id="{16B337E7-0E32-B309-B3FA-686B15FF70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2971800"/>
            <a:ext cx="203200" cy="203200"/>
          </a:xfrm>
          <a:prstGeom prst="rect">
            <a:avLst/>
          </a:prstGeom>
        </p:spPr>
      </p:pic>
      <p:sp>
        <p:nvSpPr>
          <p:cNvPr id="13" name="AutoShape 13">
            <a:extLst>
              <a:ext uri="{FF2B5EF4-FFF2-40B4-BE49-F238E27FC236}">
                <a16:creationId xmlns:a16="http://schemas.microsoft.com/office/drawing/2014/main" id="{A3C2356D-6EB9-2B29-765C-A85640EBD4FF}"/>
              </a:ext>
            </a:extLst>
          </p:cNvPr>
          <p:cNvSpPr/>
          <p:nvPr/>
        </p:nvSpPr>
        <p:spPr>
          <a:xfrm>
            <a:off x="965200" y="29210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预测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DEFA7AAF-39D6-387A-2A24-8BFD302B897A}"/>
              </a:ext>
            </a:extLst>
          </p:cNvPr>
          <p:cNvCxnSpPr>
            <a:cxnSpLocks/>
          </p:cNvCxnSpPr>
          <p:nvPr/>
        </p:nvCxnSpPr>
        <p:spPr>
          <a:xfrm>
            <a:off x="1990706" y="942109"/>
            <a:ext cx="20461" cy="796287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>
            <a:extLst>
              <a:ext uri="{FF2B5EF4-FFF2-40B4-BE49-F238E27FC236}">
                <a16:creationId xmlns:a16="http://schemas.microsoft.com/office/drawing/2014/main" id="{28A10F58-C11F-3031-354B-FAB346F4ABBD}"/>
              </a:ext>
            </a:extLst>
          </p:cNvPr>
          <p:cNvSpPr/>
          <p:nvPr/>
        </p:nvSpPr>
        <p:spPr>
          <a:xfrm>
            <a:off x="2250210" y="993739"/>
            <a:ext cx="5643562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预测</a:t>
            </a: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管理</a:t>
            </a:r>
            <a:endParaRPr lang="en-US" sz="1100" dirty="0"/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9E5E4230-B392-607C-4223-D4348056095A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BC87AE67-F499-311C-1A85-887C39DBC1F1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BD3AB657-641C-5658-2C32-0795FC066402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F11B0F92-F9FD-9D2B-23BD-CC1CD2774F1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00442138-CAC8-0FD9-6B8F-2393BE18853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CC17BB72-2794-52B3-DB2E-2CFA0A7B3C6A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0315BDBC-55DA-96AC-11A8-F4EAAECC556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C902B1D3-03A1-D16B-81EB-2CD241184EF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B8266EE6-BAED-2DD5-B308-6EF01A3D6A7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453B4389-285E-E961-F523-C6662905B99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7CD20BE6-A066-C0CC-5E26-26D92000E1E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750983B4-690F-3A38-A8FE-F57A0330252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17D31726-4CB7-481E-7D10-6DA7817E647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80563AA0-E8F7-0418-5915-A1F0D158B8C2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8369E38E-906D-FA87-6B7C-55B904CF93A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A03A960B-09AA-E6FD-8CCE-FBBF8A8800F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6" name="AutoShape 7">
            <a:extLst>
              <a:ext uri="{FF2B5EF4-FFF2-40B4-BE49-F238E27FC236}">
                <a16:creationId xmlns:a16="http://schemas.microsoft.com/office/drawing/2014/main" id="{236B84E1-4C8A-8D03-352C-2A4A481B5645}"/>
              </a:ext>
            </a:extLst>
          </p:cNvPr>
          <p:cNvSpPr/>
          <p:nvPr/>
        </p:nvSpPr>
        <p:spPr>
          <a:xfrm>
            <a:off x="4673600" y="3302000"/>
            <a:ext cx="7040598" cy="2801957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9" name="AutoShape 8">
            <a:extLst>
              <a:ext uri="{FF2B5EF4-FFF2-40B4-BE49-F238E27FC236}">
                <a16:creationId xmlns:a16="http://schemas.microsoft.com/office/drawing/2014/main" id="{F89CB42E-25AE-284E-68E2-510C05D4DD99}"/>
              </a:ext>
            </a:extLst>
          </p:cNvPr>
          <p:cNvSpPr/>
          <p:nvPr/>
        </p:nvSpPr>
        <p:spPr>
          <a:xfrm>
            <a:off x="5027640" y="3502708"/>
            <a:ext cx="1921728" cy="30716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预测结果</a:t>
            </a:r>
            <a:endParaRPr lang="en-US" sz="1100" dirty="0"/>
          </a:p>
        </p:txBody>
      </p:sp>
      <p:sp>
        <p:nvSpPr>
          <p:cNvPr id="50" name="AutoShape 9">
            <a:extLst>
              <a:ext uri="{FF2B5EF4-FFF2-40B4-BE49-F238E27FC236}">
                <a16:creationId xmlns:a16="http://schemas.microsoft.com/office/drawing/2014/main" id="{C6FF268A-297B-7357-E5A1-89D5A1D2782E}"/>
              </a:ext>
            </a:extLst>
          </p:cNvPr>
          <p:cNvSpPr/>
          <p:nvPr/>
        </p:nvSpPr>
        <p:spPr>
          <a:xfrm>
            <a:off x="6495594" y="3942656"/>
            <a:ext cx="115304" cy="153584"/>
          </a:xfrm>
          <a:prstGeom prst="roundRect">
            <a:avLst>
              <a:gd name="adj" fmla="val 0"/>
            </a:avLst>
          </a:prstGeom>
          <a:solidFill>
            <a:srgbClr val="409E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AutoShape 10">
            <a:extLst>
              <a:ext uri="{FF2B5EF4-FFF2-40B4-BE49-F238E27FC236}">
                <a16:creationId xmlns:a16="http://schemas.microsoft.com/office/drawing/2014/main" id="{73BBF59D-9AC9-8957-B389-1EBA21842C52}"/>
              </a:ext>
            </a:extLst>
          </p:cNvPr>
          <p:cNvSpPr/>
          <p:nvPr/>
        </p:nvSpPr>
        <p:spPr>
          <a:xfrm>
            <a:off x="6751309" y="3911956"/>
            <a:ext cx="634170" cy="20477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实际值</a:t>
            </a:r>
            <a:endParaRPr lang="en-US" sz="1100" dirty="0"/>
          </a:p>
        </p:txBody>
      </p:sp>
      <p:sp>
        <p:nvSpPr>
          <p:cNvPr id="52" name="AutoShape 11">
            <a:extLst>
              <a:ext uri="{FF2B5EF4-FFF2-40B4-BE49-F238E27FC236}">
                <a16:creationId xmlns:a16="http://schemas.microsoft.com/office/drawing/2014/main" id="{11DE164D-A928-B872-494D-9D8BECA61114}"/>
              </a:ext>
            </a:extLst>
          </p:cNvPr>
          <p:cNvSpPr/>
          <p:nvPr/>
        </p:nvSpPr>
        <p:spPr>
          <a:xfrm>
            <a:off x="7447962" y="3942656"/>
            <a:ext cx="115304" cy="153584"/>
          </a:xfrm>
          <a:prstGeom prst="roundRect">
            <a:avLst>
              <a:gd name="adj" fmla="val 0"/>
            </a:avLst>
          </a:prstGeom>
          <a:solidFill>
            <a:srgbClr val="FFC000">
              <a:alpha val="100000"/>
            </a:srgbClr>
          </a:solidFill>
          <a:ln w="12700" cap="flat" cmpd="sng">
            <a:solidFill>
              <a:srgbClr val="FFC000">
                <a:alpha val="100000"/>
              </a:srgbClr>
            </a:solidFill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" name="AutoShape 12">
            <a:extLst>
              <a:ext uri="{FF2B5EF4-FFF2-40B4-BE49-F238E27FC236}">
                <a16:creationId xmlns:a16="http://schemas.microsoft.com/office/drawing/2014/main" id="{6E44B23A-FBC3-EDEA-8DDB-CE9795E3FA74}"/>
              </a:ext>
            </a:extLst>
          </p:cNvPr>
          <p:cNvSpPr/>
          <p:nvPr/>
        </p:nvSpPr>
        <p:spPr>
          <a:xfrm>
            <a:off x="7625749" y="3922016"/>
            <a:ext cx="1194561" cy="20477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r>
              <a:rPr lang="en-US" altLang="zh-CN" sz="1300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LSTM</a:t>
            </a:r>
            <a:r>
              <a:rPr lang="zh-CN" altLang="en-US" sz="1300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日前确定</a:t>
            </a:r>
            <a:endParaRPr lang="en-US" altLang="zh-CN" sz="1100" dirty="0"/>
          </a:p>
        </p:txBody>
      </p:sp>
      <p:sp>
        <p:nvSpPr>
          <p:cNvPr id="56" name="AutoShape 16">
            <a:extLst>
              <a:ext uri="{FF2B5EF4-FFF2-40B4-BE49-F238E27FC236}">
                <a16:creationId xmlns:a16="http://schemas.microsoft.com/office/drawing/2014/main" id="{B0C8EB34-9069-C566-29D4-8A53735889F3}"/>
              </a:ext>
            </a:extLst>
          </p:cNvPr>
          <p:cNvSpPr/>
          <p:nvPr/>
        </p:nvSpPr>
        <p:spPr>
          <a:xfrm>
            <a:off x="4773904" y="3989304"/>
            <a:ext cx="922504" cy="21610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电价</a:t>
            </a:r>
            <a:r>
              <a:rPr lang="en-US" sz="11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(元/kWh)</a:t>
            </a:r>
            <a:endParaRPr lang="en-US" sz="1100" dirty="0"/>
          </a:p>
        </p:txBody>
      </p:sp>
      <p:cxnSp>
        <p:nvCxnSpPr>
          <p:cNvPr id="57" name="Connector 17">
            <a:extLst>
              <a:ext uri="{FF2B5EF4-FFF2-40B4-BE49-F238E27FC236}">
                <a16:creationId xmlns:a16="http://schemas.microsoft.com/office/drawing/2014/main" id="{8435FC08-7790-2065-8C87-AA0C61A056D8}"/>
              </a:ext>
            </a:extLst>
          </p:cNvPr>
          <p:cNvCxnSpPr>
            <a:cxnSpLocks/>
          </p:cNvCxnSpPr>
          <p:nvPr/>
        </p:nvCxnSpPr>
        <p:spPr>
          <a:xfrm>
            <a:off x="5026584" y="5719997"/>
            <a:ext cx="6533875" cy="5119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CCC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Connector 18">
            <a:extLst>
              <a:ext uri="{FF2B5EF4-FFF2-40B4-BE49-F238E27FC236}">
                <a16:creationId xmlns:a16="http://schemas.microsoft.com/office/drawing/2014/main" id="{185D3387-BB45-3378-BCF6-7207E43DA2FB}"/>
              </a:ext>
            </a:extLst>
          </p:cNvPr>
          <p:cNvCxnSpPr>
            <a:cxnSpLocks/>
          </p:cNvCxnSpPr>
          <p:nvPr/>
        </p:nvCxnSpPr>
        <p:spPr>
          <a:xfrm rot="5365623">
            <a:off x="4386652" y="5075293"/>
            <a:ext cx="1279865" cy="9609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CCC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" name="AutoShape 19">
            <a:extLst>
              <a:ext uri="{FF2B5EF4-FFF2-40B4-BE49-F238E27FC236}">
                <a16:creationId xmlns:a16="http://schemas.microsoft.com/office/drawing/2014/main" id="{43544F28-1080-95C4-7E83-6C1FE391C699}"/>
              </a:ext>
            </a:extLst>
          </p:cNvPr>
          <p:cNvSpPr/>
          <p:nvPr/>
        </p:nvSpPr>
        <p:spPr>
          <a:xfrm>
            <a:off x="5180323" y="5771192"/>
            <a:ext cx="384346" cy="20477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C8C8C"/>
                </a:solidFill>
                <a:latin typeface="Noto Sans SC"/>
                <a:ea typeface="Noto Sans SC"/>
                <a:cs typeface="Noto Sans SC"/>
                <a:sym typeface="Noto Sans SC"/>
              </a:rPr>
              <a:t>12-21</a:t>
            </a:r>
            <a:endParaRPr lang="en-US" sz="1100"/>
          </a:p>
        </p:txBody>
      </p:sp>
      <p:sp>
        <p:nvSpPr>
          <p:cNvPr id="60" name="AutoShape 20">
            <a:extLst>
              <a:ext uri="{FF2B5EF4-FFF2-40B4-BE49-F238E27FC236}">
                <a16:creationId xmlns:a16="http://schemas.microsoft.com/office/drawing/2014/main" id="{E65A2E54-872A-B217-196C-C9C383CEE296}"/>
              </a:ext>
            </a:extLst>
          </p:cNvPr>
          <p:cNvSpPr/>
          <p:nvPr/>
        </p:nvSpPr>
        <p:spPr>
          <a:xfrm>
            <a:off x="6179621" y="5771192"/>
            <a:ext cx="384346" cy="20477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C8C8C"/>
                </a:solidFill>
                <a:latin typeface="Noto Sans SC"/>
                <a:ea typeface="Noto Sans SC"/>
                <a:cs typeface="Noto Sans SC"/>
                <a:sym typeface="Noto Sans SC"/>
              </a:rPr>
              <a:t>12-22</a:t>
            </a:r>
            <a:endParaRPr lang="en-US" sz="1100"/>
          </a:p>
        </p:txBody>
      </p:sp>
      <p:sp>
        <p:nvSpPr>
          <p:cNvPr id="61" name="AutoShape 21">
            <a:extLst>
              <a:ext uri="{FF2B5EF4-FFF2-40B4-BE49-F238E27FC236}">
                <a16:creationId xmlns:a16="http://schemas.microsoft.com/office/drawing/2014/main" id="{C3F95AE4-204C-6971-CAAD-545BDEA92F02}"/>
              </a:ext>
            </a:extLst>
          </p:cNvPr>
          <p:cNvSpPr/>
          <p:nvPr/>
        </p:nvSpPr>
        <p:spPr>
          <a:xfrm>
            <a:off x="7178920" y="5771192"/>
            <a:ext cx="384346" cy="20477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C8C8C"/>
                </a:solidFill>
                <a:latin typeface="Noto Sans SC"/>
                <a:ea typeface="Noto Sans SC"/>
                <a:cs typeface="Noto Sans SC"/>
                <a:sym typeface="Noto Sans SC"/>
              </a:rPr>
              <a:t>12-23</a:t>
            </a:r>
            <a:endParaRPr lang="en-US" sz="1100"/>
          </a:p>
        </p:txBody>
      </p:sp>
      <p:sp>
        <p:nvSpPr>
          <p:cNvPr id="62" name="AutoShape 22">
            <a:extLst>
              <a:ext uri="{FF2B5EF4-FFF2-40B4-BE49-F238E27FC236}">
                <a16:creationId xmlns:a16="http://schemas.microsoft.com/office/drawing/2014/main" id="{E2F874DE-9161-B553-54B3-E5628BA3AE2C}"/>
              </a:ext>
            </a:extLst>
          </p:cNvPr>
          <p:cNvSpPr/>
          <p:nvPr/>
        </p:nvSpPr>
        <p:spPr>
          <a:xfrm>
            <a:off x="8178218" y="5771192"/>
            <a:ext cx="384346" cy="20477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C8C8C"/>
                </a:solidFill>
                <a:latin typeface="Noto Sans SC"/>
                <a:ea typeface="Noto Sans SC"/>
                <a:cs typeface="Noto Sans SC"/>
                <a:sym typeface="Noto Sans SC"/>
              </a:rPr>
              <a:t>12-24</a:t>
            </a:r>
            <a:endParaRPr lang="en-US" sz="1100"/>
          </a:p>
        </p:txBody>
      </p:sp>
      <p:sp>
        <p:nvSpPr>
          <p:cNvPr id="63" name="AutoShape 23">
            <a:extLst>
              <a:ext uri="{FF2B5EF4-FFF2-40B4-BE49-F238E27FC236}">
                <a16:creationId xmlns:a16="http://schemas.microsoft.com/office/drawing/2014/main" id="{F3841BA9-4A48-BC57-7ACD-D7ADD274DD67}"/>
              </a:ext>
            </a:extLst>
          </p:cNvPr>
          <p:cNvSpPr/>
          <p:nvPr/>
        </p:nvSpPr>
        <p:spPr>
          <a:xfrm>
            <a:off x="9177517" y="5771192"/>
            <a:ext cx="384346" cy="20477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C8C8C"/>
                </a:solidFill>
                <a:latin typeface="Noto Sans SC"/>
                <a:ea typeface="Noto Sans SC"/>
                <a:cs typeface="Noto Sans SC"/>
                <a:sym typeface="Noto Sans SC"/>
              </a:rPr>
              <a:t>12-25</a:t>
            </a:r>
            <a:endParaRPr lang="en-US" sz="1100"/>
          </a:p>
        </p:txBody>
      </p:sp>
      <p:sp>
        <p:nvSpPr>
          <p:cNvPr id="64" name="AutoShape 24">
            <a:extLst>
              <a:ext uri="{FF2B5EF4-FFF2-40B4-BE49-F238E27FC236}">
                <a16:creationId xmlns:a16="http://schemas.microsoft.com/office/drawing/2014/main" id="{BBD359E0-FE7D-A1BB-E4D2-1DCE53FB7F68}"/>
              </a:ext>
            </a:extLst>
          </p:cNvPr>
          <p:cNvSpPr/>
          <p:nvPr/>
        </p:nvSpPr>
        <p:spPr>
          <a:xfrm>
            <a:off x="10176816" y="5771192"/>
            <a:ext cx="384346" cy="20477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C8C8C"/>
                </a:solidFill>
                <a:latin typeface="Noto Sans SC"/>
                <a:ea typeface="Noto Sans SC"/>
                <a:cs typeface="Noto Sans SC"/>
                <a:sym typeface="Noto Sans SC"/>
              </a:rPr>
              <a:t>12-26</a:t>
            </a:r>
            <a:endParaRPr lang="en-US" sz="1100"/>
          </a:p>
        </p:txBody>
      </p:sp>
      <p:sp>
        <p:nvSpPr>
          <p:cNvPr id="65" name="AutoShape 25">
            <a:extLst>
              <a:ext uri="{FF2B5EF4-FFF2-40B4-BE49-F238E27FC236}">
                <a16:creationId xmlns:a16="http://schemas.microsoft.com/office/drawing/2014/main" id="{5F276C4F-87D6-29B8-C7CC-47DB59C99C7E}"/>
              </a:ext>
            </a:extLst>
          </p:cNvPr>
          <p:cNvSpPr/>
          <p:nvPr/>
        </p:nvSpPr>
        <p:spPr>
          <a:xfrm>
            <a:off x="11176114" y="5771192"/>
            <a:ext cx="384346" cy="20477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 dirty="0">
                <a:solidFill>
                  <a:srgbClr val="8C8C8C"/>
                </a:solidFill>
                <a:latin typeface="Noto Sans SC"/>
                <a:ea typeface="Noto Sans SC"/>
                <a:cs typeface="Noto Sans SC"/>
                <a:sym typeface="Noto Sans SC"/>
              </a:rPr>
              <a:t>12-27</a:t>
            </a:r>
            <a:endParaRPr lang="en-US" sz="1100" dirty="0"/>
          </a:p>
        </p:txBody>
      </p:sp>
      <p:cxnSp>
        <p:nvCxnSpPr>
          <p:cNvPr id="66" name="Connector 26">
            <a:extLst>
              <a:ext uri="{FF2B5EF4-FFF2-40B4-BE49-F238E27FC236}">
                <a16:creationId xmlns:a16="http://schemas.microsoft.com/office/drawing/2014/main" id="{4C8C8C4A-EDEC-4E77-8943-7661674C43DF}"/>
              </a:ext>
            </a:extLst>
          </p:cNvPr>
          <p:cNvCxnSpPr>
            <a:cxnSpLocks/>
          </p:cNvCxnSpPr>
          <p:nvPr/>
        </p:nvCxnSpPr>
        <p:spPr>
          <a:xfrm rot="20858847">
            <a:off x="5247313" y="4689699"/>
            <a:ext cx="942235" cy="12799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09E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7" name="Connector 27">
            <a:extLst>
              <a:ext uri="{FF2B5EF4-FFF2-40B4-BE49-F238E27FC236}">
                <a16:creationId xmlns:a16="http://schemas.microsoft.com/office/drawing/2014/main" id="{730430A6-09EE-7167-C9DC-1711A21FB7B7}"/>
              </a:ext>
            </a:extLst>
          </p:cNvPr>
          <p:cNvCxnSpPr>
            <a:cxnSpLocks/>
          </p:cNvCxnSpPr>
          <p:nvPr/>
        </p:nvCxnSpPr>
        <p:spPr>
          <a:xfrm rot="296636">
            <a:off x="6177339" y="4625715"/>
            <a:ext cx="1003908" cy="12799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09E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8" name="Connector 28">
            <a:extLst>
              <a:ext uri="{FF2B5EF4-FFF2-40B4-BE49-F238E27FC236}">
                <a16:creationId xmlns:a16="http://schemas.microsoft.com/office/drawing/2014/main" id="{7CF78091-3FA7-0F08-474D-A74661276130}"/>
              </a:ext>
            </a:extLst>
          </p:cNvPr>
          <p:cNvCxnSpPr>
            <a:cxnSpLocks/>
          </p:cNvCxnSpPr>
          <p:nvPr/>
        </p:nvCxnSpPr>
        <p:spPr>
          <a:xfrm rot="20914409">
            <a:off x="7169787" y="4561713"/>
            <a:ext cx="1017609" cy="12799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09E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9" name="Connector 29">
            <a:extLst>
              <a:ext uri="{FF2B5EF4-FFF2-40B4-BE49-F238E27FC236}">
                <a16:creationId xmlns:a16="http://schemas.microsoft.com/office/drawing/2014/main" id="{4DFA4A63-299F-9572-AEAD-FFC94BEE97A8}"/>
              </a:ext>
            </a:extLst>
          </p:cNvPr>
          <p:cNvCxnSpPr>
            <a:cxnSpLocks/>
          </p:cNvCxnSpPr>
          <p:nvPr/>
        </p:nvCxnSpPr>
        <p:spPr>
          <a:xfrm rot="459717">
            <a:off x="8173071" y="4529727"/>
            <a:ext cx="1009639" cy="12799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09E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0" name="Connector 30">
            <a:extLst>
              <a:ext uri="{FF2B5EF4-FFF2-40B4-BE49-F238E27FC236}">
                <a16:creationId xmlns:a16="http://schemas.microsoft.com/office/drawing/2014/main" id="{A4CFE9AC-6D65-B16A-1A20-D8464C7626EF}"/>
              </a:ext>
            </a:extLst>
          </p:cNvPr>
          <p:cNvCxnSpPr>
            <a:cxnSpLocks/>
          </p:cNvCxnSpPr>
          <p:nvPr/>
        </p:nvCxnSpPr>
        <p:spPr>
          <a:xfrm rot="296636">
            <a:off x="9175235" y="4689709"/>
            <a:ext cx="1003908" cy="12799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09E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1" name="Connector 31">
            <a:extLst>
              <a:ext uri="{FF2B5EF4-FFF2-40B4-BE49-F238E27FC236}">
                <a16:creationId xmlns:a16="http://schemas.microsoft.com/office/drawing/2014/main" id="{27A7E6D9-66CA-07CF-F493-0F66F2C82D58}"/>
              </a:ext>
            </a:extLst>
          </p:cNvPr>
          <p:cNvCxnSpPr>
            <a:cxnSpLocks/>
          </p:cNvCxnSpPr>
          <p:nvPr/>
        </p:nvCxnSpPr>
        <p:spPr>
          <a:xfrm rot="21335983">
            <a:off x="10175708" y="4708902"/>
            <a:ext cx="1001559" cy="12799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09E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2" name="Connector 32">
            <a:extLst>
              <a:ext uri="{FF2B5EF4-FFF2-40B4-BE49-F238E27FC236}">
                <a16:creationId xmlns:a16="http://schemas.microsoft.com/office/drawing/2014/main" id="{1A0B55A3-45E4-0BB9-41AE-9D9BD923FC8E}"/>
              </a:ext>
            </a:extLst>
          </p:cNvPr>
          <p:cNvCxnSpPr>
            <a:cxnSpLocks/>
          </p:cNvCxnSpPr>
          <p:nvPr/>
        </p:nvCxnSpPr>
        <p:spPr>
          <a:xfrm rot="21385353">
            <a:off x="5256592" y="5169653"/>
            <a:ext cx="923680" cy="12799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C0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3" name="Connector 33">
            <a:extLst>
              <a:ext uri="{FF2B5EF4-FFF2-40B4-BE49-F238E27FC236}">
                <a16:creationId xmlns:a16="http://schemas.microsoft.com/office/drawing/2014/main" id="{19411AAB-EADE-8884-449D-9802ABDCABB7}"/>
              </a:ext>
            </a:extLst>
          </p:cNvPr>
          <p:cNvCxnSpPr>
            <a:cxnSpLocks/>
          </p:cNvCxnSpPr>
          <p:nvPr/>
        </p:nvCxnSpPr>
        <p:spPr>
          <a:xfrm rot="21401835">
            <a:off x="6179067" y="5105661"/>
            <a:ext cx="1000453" cy="12799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C0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4" name="Connector 34">
            <a:extLst>
              <a:ext uri="{FF2B5EF4-FFF2-40B4-BE49-F238E27FC236}">
                <a16:creationId xmlns:a16="http://schemas.microsoft.com/office/drawing/2014/main" id="{1C136B52-0C8D-FE76-938E-1A181A2A45C1}"/>
              </a:ext>
            </a:extLst>
          </p:cNvPr>
          <p:cNvCxnSpPr>
            <a:cxnSpLocks/>
          </p:cNvCxnSpPr>
          <p:nvPr/>
        </p:nvCxnSpPr>
        <p:spPr>
          <a:xfrm rot="21401835">
            <a:off x="7178366" y="5041668"/>
            <a:ext cx="1000453" cy="12799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C0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5" name="Connector 35">
            <a:extLst>
              <a:ext uri="{FF2B5EF4-FFF2-40B4-BE49-F238E27FC236}">
                <a16:creationId xmlns:a16="http://schemas.microsoft.com/office/drawing/2014/main" id="{42B1B563-55A1-C8F2-0843-B955B38775CF}"/>
              </a:ext>
            </a:extLst>
          </p:cNvPr>
          <p:cNvCxnSpPr>
            <a:cxnSpLocks/>
          </p:cNvCxnSpPr>
          <p:nvPr/>
        </p:nvCxnSpPr>
        <p:spPr>
          <a:xfrm rot="198058">
            <a:off x="8177111" y="5054469"/>
            <a:ext cx="1001559" cy="12799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C0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6" name="Connector 36">
            <a:extLst>
              <a:ext uri="{FF2B5EF4-FFF2-40B4-BE49-F238E27FC236}">
                <a16:creationId xmlns:a16="http://schemas.microsoft.com/office/drawing/2014/main" id="{43BC9E48-DD0E-E19F-50AF-8149FCCDACCE}"/>
              </a:ext>
            </a:extLst>
          </p:cNvPr>
          <p:cNvCxnSpPr>
            <a:cxnSpLocks/>
          </p:cNvCxnSpPr>
          <p:nvPr/>
        </p:nvCxnSpPr>
        <p:spPr>
          <a:xfrm rot="165112">
            <a:off x="9176709" y="5137661"/>
            <a:ext cx="1000960" cy="12799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C0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7" name="Connector 37">
            <a:extLst>
              <a:ext uri="{FF2B5EF4-FFF2-40B4-BE49-F238E27FC236}">
                <a16:creationId xmlns:a16="http://schemas.microsoft.com/office/drawing/2014/main" id="{94502E78-2DF9-9315-664B-FD26B5B7FE89}"/>
              </a:ext>
            </a:extLst>
          </p:cNvPr>
          <p:cNvCxnSpPr>
            <a:cxnSpLocks/>
          </p:cNvCxnSpPr>
          <p:nvPr/>
        </p:nvCxnSpPr>
        <p:spPr>
          <a:xfrm rot="21434815">
            <a:off x="10176469" y="5150456"/>
            <a:ext cx="1000038" cy="12799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C0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4" name="AutoShape 44">
            <a:extLst>
              <a:ext uri="{FF2B5EF4-FFF2-40B4-BE49-F238E27FC236}">
                <a16:creationId xmlns:a16="http://schemas.microsoft.com/office/drawing/2014/main" id="{8FBB50E2-1E8B-319D-D335-FD3D58648A39}"/>
              </a:ext>
            </a:extLst>
          </p:cNvPr>
          <p:cNvSpPr/>
          <p:nvPr/>
        </p:nvSpPr>
        <p:spPr>
          <a:xfrm>
            <a:off x="4690282" y="4376139"/>
            <a:ext cx="288259" cy="20477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000" b="0" i="0" u="none" strike="noStrike" dirty="0">
                <a:solidFill>
                  <a:srgbClr val="AAAAAA"/>
                </a:solidFill>
                <a:latin typeface="Noto Sans SC"/>
                <a:ea typeface="Noto Sans SC"/>
                <a:cs typeface="Noto Sans SC"/>
                <a:sym typeface="Noto Sans SC"/>
              </a:rPr>
              <a:t>600</a:t>
            </a:r>
            <a:endParaRPr lang="en-US" sz="1100" dirty="0"/>
          </a:p>
        </p:txBody>
      </p:sp>
      <p:sp>
        <p:nvSpPr>
          <p:cNvPr id="85" name="AutoShape 45">
            <a:extLst>
              <a:ext uri="{FF2B5EF4-FFF2-40B4-BE49-F238E27FC236}">
                <a16:creationId xmlns:a16="http://schemas.microsoft.com/office/drawing/2014/main" id="{581DA339-70FC-061E-9ACF-AD6E8249074C}"/>
              </a:ext>
            </a:extLst>
          </p:cNvPr>
          <p:cNvSpPr/>
          <p:nvPr/>
        </p:nvSpPr>
        <p:spPr>
          <a:xfrm>
            <a:off x="4690282" y="4798494"/>
            <a:ext cx="288259" cy="20477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000" b="0" i="0" u="none" strike="noStrike" dirty="0">
                <a:solidFill>
                  <a:srgbClr val="AAAAAA"/>
                </a:solidFill>
                <a:latin typeface="Noto Sans SC"/>
                <a:ea typeface="Noto Sans SC"/>
                <a:cs typeface="Noto Sans SC"/>
                <a:sym typeface="Noto Sans SC"/>
              </a:rPr>
              <a:t>500</a:t>
            </a:r>
            <a:endParaRPr lang="en-US" sz="1100" dirty="0"/>
          </a:p>
        </p:txBody>
      </p:sp>
      <p:sp>
        <p:nvSpPr>
          <p:cNvPr id="86" name="AutoShape 46">
            <a:extLst>
              <a:ext uri="{FF2B5EF4-FFF2-40B4-BE49-F238E27FC236}">
                <a16:creationId xmlns:a16="http://schemas.microsoft.com/office/drawing/2014/main" id="{58F3911B-C4EB-4668-EBAF-DE13124F6E55}"/>
              </a:ext>
            </a:extLst>
          </p:cNvPr>
          <p:cNvSpPr/>
          <p:nvPr/>
        </p:nvSpPr>
        <p:spPr>
          <a:xfrm>
            <a:off x="4690282" y="5220850"/>
            <a:ext cx="288259" cy="20477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000" b="0" i="0" u="none" strike="noStrike" dirty="0">
                <a:solidFill>
                  <a:srgbClr val="AAAAAA"/>
                </a:solidFill>
                <a:latin typeface="Noto Sans SC"/>
                <a:ea typeface="Noto Sans SC"/>
                <a:cs typeface="Noto Sans SC"/>
                <a:sym typeface="Noto Sans SC"/>
              </a:rPr>
              <a:t>400</a:t>
            </a:r>
            <a:endParaRPr lang="en-US" sz="1100" dirty="0"/>
          </a:p>
        </p:txBody>
      </p:sp>
      <p:sp>
        <p:nvSpPr>
          <p:cNvPr id="87" name="AutoShape 47">
            <a:extLst>
              <a:ext uri="{FF2B5EF4-FFF2-40B4-BE49-F238E27FC236}">
                <a16:creationId xmlns:a16="http://schemas.microsoft.com/office/drawing/2014/main" id="{6C193336-97F6-37ED-C783-45F755B02E1D}"/>
              </a:ext>
            </a:extLst>
          </p:cNvPr>
          <p:cNvSpPr/>
          <p:nvPr/>
        </p:nvSpPr>
        <p:spPr>
          <a:xfrm>
            <a:off x="4690282" y="5643205"/>
            <a:ext cx="288259" cy="20477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000" b="0" i="0" u="none" strike="noStrike" dirty="0">
                <a:solidFill>
                  <a:srgbClr val="AAAAAA"/>
                </a:solidFill>
                <a:latin typeface="Noto Sans SC"/>
                <a:ea typeface="Noto Sans SC"/>
                <a:cs typeface="Noto Sans SC"/>
                <a:sym typeface="Noto Sans SC"/>
              </a:rPr>
              <a:t>300</a:t>
            </a:r>
            <a:endParaRPr lang="en-US" sz="1100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FE198538-4C06-55B0-255E-CC93080B0727}"/>
              </a:ext>
            </a:extLst>
          </p:cNvPr>
          <p:cNvSpPr/>
          <p:nvPr/>
        </p:nvSpPr>
        <p:spPr>
          <a:xfrm>
            <a:off x="2250209" y="1761064"/>
            <a:ext cx="9463989" cy="1431549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5">
            <a:extLst>
              <a:ext uri="{FF2B5EF4-FFF2-40B4-BE49-F238E27FC236}">
                <a16:creationId xmlns:a16="http://schemas.microsoft.com/office/drawing/2014/main" id="{06C761F5-F23B-CC79-A4E0-A4615B77F67E}"/>
              </a:ext>
            </a:extLst>
          </p:cNvPr>
          <p:cNvSpPr/>
          <p:nvPr/>
        </p:nvSpPr>
        <p:spPr>
          <a:xfrm>
            <a:off x="2467450" y="1941592"/>
            <a:ext cx="247793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电价预测方案</a:t>
            </a:r>
            <a:endParaRPr lang="en-US" sz="1100" dirty="0"/>
          </a:p>
        </p:txBody>
      </p:sp>
      <p:graphicFrame>
        <p:nvGraphicFramePr>
          <p:cNvPr id="31" name="Table 6">
            <a:extLst>
              <a:ext uri="{FF2B5EF4-FFF2-40B4-BE49-F238E27FC236}">
                <a16:creationId xmlns:a16="http://schemas.microsoft.com/office/drawing/2014/main" id="{83C47C94-5F96-C924-73C3-55ED6F28F6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661991"/>
              </p:ext>
            </p:extLst>
          </p:nvPr>
        </p:nvGraphicFramePr>
        <p:xfrm>
          <a:off x="2465686" y="2379813"/>
          <a:ext cx="9065914" cy="812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06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61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8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09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1" i="0" u="none" strike="noStrik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方案</a:t>
                      </a:r>
                      <a:r>
                        <a:rPr lang="en-US" sz="1300" b="1" i="0" u="none" strike="noStrike" dirty="0" err="1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名称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1" i="0" u="none" strike="noStrik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数据集</a:t>
                      </a:r>
                      <a:r>
                        <a:rPr lang="en-US" sz="1300" b="1" i="0" u="none" strike="noStrike" dirty="0" err="1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名称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1" i="0" u="none" strike="noStrik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类型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1" i="0" u="none" strike="noStrik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预测时间段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1" i="0" u="none" strike="noStrike" cap="non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+mn-cs"/>
                          <a:sym typeface="Arial"/>
                        </a:rPr>
                        <a:t>描述</a:t>
                      </a:r>
                      <a:endParaRPr lang="en-US" sz="1300" b="1" i="0" u="none" strike="noStrike" cap="none" dirty="0">
                        <a:solidFill>
                          <a:srgbClr val="666666"/>
                        </a:solidFill>
                        <a:latin typeface="Noto Sans SC"/>
                        <a:ea typeface="Noto Sans SC"/>
                        <a:cs typeface="+mn-cs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方案</a:t>
                      </a: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</a:t>
                      </a:r>
                      <a:endParaRPr lang="en-US" altLang="zh-CN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陕西电价数据</a:t>
                      </a:r>
                      <a:endParaRPr lang="en-US" altLang="zh-CN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日前确定</a:t>
                      </a:r>
                      <a:endParaRPr lang="en-US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2025.12.21-2025.12.27</a:t>
                      </a:r>
                      <a:endParaRPr lang="en-US" altLang="zh-CN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方案</a:t>
                      </a: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1</a:t>
                      </a:r>
                      <a:r>
                        <a:rPr lang="zh-CN" alt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描述</a:t>
                      </a:r>
                      <a:endParaRPr lang="en-US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48" name="Picture 6">
            <a:extLst>
              <a:ext uri="{FF2B5EF4-FFF2-40B4-BE49-F238E27FC236}">
                <a16:creationId xmlns:a16="http://schemas.microsoft.com/office/drawing/2014/main" id="{F40C70F0-A1B8-131A-7085-ACA648A03D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" y="1930400"/>
            <a:ext cx="203200" cy="203200"/>
          </a:xfrm>
          <a:prstGeom prst="rect">
            <a:avLst/>
          </a:prstGeom>
        </p:spPr>
      </p:pic>
      <p:sp>
        <p:nvSpPr>
          <p:cNvPr id="149" name="AutoShape 7">
            <a:extLst>
              <a:ext uri="{FF2B5EF4-FFF2-40B4-BE49-F238E27FC236}">
                <a16:creationId xmlns:a16="http://schemas.microsoft.com/office/drawing/2014/main" id="{29EB54CA-C005-0037-E4B5-04C5184CB5F3}"/>
              </a:ext>
            </a:extLst>
          </p:cNvPr>
          <p:cNvSpPr/>
          <p:nvPr/>
        </p:nvSpPr>
        <p:spPr>
          <a:xfrm>
            <a:off x="965200" y="18796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dirty="0" err="1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数据管理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pic>
        <p:nvPicPr>
          <p:cNvPr id="150" name="Picture 8">
            <a:extLst>
              <a:ext uri="{FF2B5EF4-FFF2-40B4-BE49-F238E27FC236}">
                <a16:creationId xmlns:a16="http://schemas.microsoft.com/office/drawing/2014/main" id="{7D77CFE7-CCC7-CAEE-AA92-1FCE1FEF52B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" y="1440873"/>
            <a:ext cx="203200" cy="203200"/>
          </a:xfrm>
          <a:prstGeom prst="rect">
            <a:avLst/>
          </a:prstGeom>
        </p:spPr>
      </p:pic>
      <p:sp>
        <p:nvSpPr>
          <p:cNvPr id="151" name="AutoShape 9">
            <a:extLst>
              <a:ext uri="{FF2B5EF4-FFF2-40B4-BE49-F238E27FC236}">
                <a16:creationId xmlns:a16="http://schemas.microsoft.com/office/drawing/2014/main" id="{ABB67333-417F-FCB3-9C45-011B56E35BAD}"/>
              </a:ext>
            </a:extLst>
          </p:cNvPr>
          <p:cNvSpPr/>
          <p:nvPr/>
        </p:nvSpPr>
        <p:spPr>
          <a:xfrm>
            <a:off x="965200" y="13900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首页</a:t>
            </a:r>
            <a:endParaRPr lang="en-US" sz="1100" dirty="0"/>
          </a:p>
        </p:txBody>
      </p:sp>
      <p:sp>
        <p:nvSpPr>
          <p:cNvPr id="18" name="AutoShape 13">
            <a:extLst>
              <a:ext uri="{FF2B5EF4-FFF2-40B4-BE49-F238E27FC236}">
                <a16:creationId xmlns:a16="http://schemas.microsoft.com/office/drawing/2014/main" id="{62F5AF22-2682-1220-B6DD-00DAFABF19A0}"/>
              </a:ext>
            </a:extLst>
          </p:cNvPr>
          <p:cNvSpPr/>
          <p:nvPr/>
        </p:nvSpPr>
        <p:spPr>
          <a:xfrm>
            <a:off x="965200" y="3389321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评分管理</a:t>
            </a:r>
            <a:endParaRPr lang="en-US" sz="1100" dirty="0"/>
          </a:p>
        </p:txBody>
      </p:sp>
      <p:pic>
        <p:nvPicPr>
          <p:cNvPr id="7" name="Picture 14">
            <a:extLst>
              <a:ext uri="{FF2B5EF4-FFF2-40B4-BE49-F238E27FC236}">
                <a16:creationId xmlns:a16="http://schemas.microsoft.com/office/drawing/2014/main" id="{C19F2937-671B-4F3A-422E-991A3D829FA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" y="3479800"/>
            <a:ext cx="203200" cy="203200"/>
          </a:xfrm>
          <a:prstGeom prst="rect">
            <a:avLst/>
          </a:prstGeom>
        </p:spPr>
      </p:pic>
      <p:sp>
        <p:nvSpPr>
          <p:cNvPr id="15" name="AutoShape 34">
            <a:extLst>
              <a:ext uri="{FF2B5EF4-FFF2-40B4-BE49-F238E27FC236}">
                <a16:creationId xmlns:a16="http://schemas.microsoft.com/office/drawing/2014/main" id="{13AF0005-3A2B-E2E7-5009-AB13A128B699}"/>
              </a:ext>
            </a:extLst>
          </p:cNvPr>
          <p:cNvSpPr/>
          <p:nvPr/>
        </p:nvSpPr>
        <p:spPr>
          <a:xfrm>
            <a:off x="9518523" y="1135625"/>
            <a:ext cx="846534" cy="355600"/>
          </a:xfrm>
          <a:prstGeom prst="roundRect">
            <a:avLst>
              <a:gd name="adj" fmla="val 14285"/>
            </a:avLst>
          </a:prstGeom>
          <a:solidFill>
            <a:srgbClr val="409E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1300" dirty="0">
                <a:solidFill>
                  <a:schemeClr val="bg1"/>
                </a:solidFill>
                <a:latin typeface="Noto Sans SC"/>
                <a:ea typeface="Noto Sans SC"/>
              </a:rPr>
              <a:t>保存</a:t>
            </a:r>
            <a:endParaRPr sz="1300" dirty="0">
              <a:solidFill>
                <a:schemeClr val="bg1"/>
              </a:solidFill>
              <a:latin typeface="Noto Sans SC"/>
              <a:ea typeface="Noto Sans SC"/>
            </a:endParaRPr>
          </a:p>
        </p:txBody>
      </p:sp>
      <p:sp>
        <p:nvSpPr>
          <p:cNvPr id="19" name="AutoShape 34">
            <a:extLst>
              <a:ext uri="{FF2B5EF4-FFF2-40B4-BE49-F238E27FC236}">
                <a16:creationId xmlns:a16="http://schemas.microsoft.com/office/drawing/2014/main" id="{FD0B28CA-CF25-A483-DD70-AFD9650BD680}"/>
              </a:ext>
            </a:extLst>
          </p:cNvPr>
          <p:cNvSpPr/>
          <p:nvPr/>
        </p:nvSpPr>
        <p:spPr>
          <a:xfrm>
            <a:off x="10502186" y="1135625"/>
            <a:ext cx="846534" cy="355600"/>
          </a:xfrm>
          <a:prstGeom prst="roundRect">
            <a:avLst>
              <a:gd name="adj" fmla="val 14285"/>
            </a:avLst>
          </a:prstGeom>
          <a:solidFill>
            <a:schemeClr val="bg1"/>
          </a:solidFill>
          <a:ln w="25400" cap="flat" cmpd="sng">
            <a:solidFill>
              <a:srgbClr val="409EFF"/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1300" dirty="0">
                <a:solidFill>
                  <a:srgbClr val="6B7280"/>
                </a:solidFill>
                <a:latin typeface="Noto Sans SC"/>
                <a:ea typeface="Noto Sans SC"/>
              </a:rPr>
              <a:t>返回</a:t>
            </a:r>
            <a:endParaRPr sz="13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32" name="AutoShape 4">
            <a:extLst>
              <a:ext uri="{FF2B5EF4-FFF2-40B4-BE49-F238E27FC236}">
                <a16:creationId xmlns:a16="http://schemas.microsoft.com/office/drawing/2014/main" id="{A3E2A1D2-4114-0047-3388-1D0C68282A6A}"/>
              </a:ext>
            </a:extLst>
          </p:cNvPr>
          <p:cNvSpPr/>
          <p:nvPr/>
        </p:nvSpPr>
        <p:spPr>
          <a:xfrm>
            <a:off x="2257346" y="3302000"/>
            <a:ext cx="2279197" cy="2801957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5">
            <a:extLst>
              <a:ext uri="{FF2B5EF4-FFF2-40B4-BE49-F238E27FC236}">
                <a16:creationId xmlns:a16="http://schemas.microsoft.com/office/drawing/2014/main" id="{BA9ECD79-CF94-7B6C-6C81-D9A6C2978B02}"/>
              </a:ext>
            </a:extLst>
          </p:cNvPr>
          <p:cNvSpPr/>
          <p:nvPr/>
        </p:nvSpPr>
        <p:spPr>
          <a:xfrm>
            <a:off x="2540419" y="3512988"/>
            <a:ext cx="247793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Noto Sans SC"/>
                <a:ea typeface="Noto Sans SC"/>
              </a:rPr>
              <a:t>选择模型</a:t>
            </a:r>
            <a:endParaRPr lang="en-US" sz="1600" b="1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graphicFrame>
        <p:nvGraphicFramePr>
          <p:cNvPr id="35" name="Table 6">
            <a:extLst>
              <a:ext uri="{FF2B5EF4-FFF2-40B4-BE49-F238E27FC236}">
                <a16:creationId xmlns:a16="http://schemas.microsoft.com/office/drawing/2014/main" id="{E7F79929-5DD8-D01C-B130-E1D72BB19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886938"/>
              </p:ext>
            </p:extLst>
          </p:nvPr>
        </p:nvGraphicFramePr>
        <p:xfrm>
          <a:off x="2425056" y="4024405"/>
          <a:ext cx="2029239" cy="1625600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429904">
                  <a:extLst>
                    <a:ext uri="{9D8B030D-6E8A-4147-A177-3AD203B41FA5}">
                      <a16:colId xmlns:a16="http://schemas.microsoft.com/office/drawing/2014/main" val="2021854753"/>
                    </a:ext>
                  </a:extLst>
                </a:gridCol>
                <a:gridCol w="1599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0" u="none" strike="noStrike" cap="none" dirty="0">
                          <a:solidFill>
                            <a:srgbClr val="6B7280"/>
                          </a:solidFill>
                          <a:sym typeface="Noto Sans SC"/>
                        </a:rPr>
                        <a:t>√</a:t>
                      </a:r>
                      <a:endParaRPr lang="en-US" altLang="zh-CN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altLang="zh-CN" sz="1300" b="0" u="none" strike="noStrike" cap="none" dirty="0" err="1">
                          <a:solidFill>
                            <a:srgbClr val="6B7280"/>
                          </a:solidFill>
                          <a:sym typeface="Noto Sans SC"/>
                        </a:rPr>
                        <a:t>Lstm</a:t>
                      </a:r>
                      <a:r>
                        <a:rPr lang="zh-CN" altLang="en-US" sz="1300" b="0" u="none" strike="noStrike" cap="none" dirty="0">
                          <a:solidFill>
                            <a:srgbClr val="6B7280"/>
                          </a:solidFill>
                          <a:sym typeface="Noto Sans SC"/>
                        </a:rPr>
                        <a:t>日前确定</a:t>
                      </a:r>
                      <a:endParaRPr lang="en-US" altLang="zh-CN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endParaRPr lang="en-US" altLang="zh-CN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altLang="zh-CN" sz="1300" b="0" u="none" strike="noStrike" cap="none" dirty="0">
                          <a:solidFill>
                            <a:srgbClr val="6B7280"/>
                          </a:solidFill>
                          <a:sym typeface="Arial"/>
                        </a:rPr>
                        <a:t>tcn</a:t>
                      </a:r>
                      <a:r>
                        <a:rPr lang="zh-CN" altLang="en-US" sz="1300" b="0" u="none" strike="noStrike" cap="none" dirty="0">
                          <a:solidFill>
                            <a:srgbClr val="6B7280"/>
                          </a:solidFill>
                          <a:sym typeface="Noto Sans SC"/>
                        </a:rPr>
                        <a:t>日前确定</a:t>
                      </a:r>
                      <a:endParaRPr lang="en-US" altLang="zh-CN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/>
                </a:tc>
                <a:extLst>
                  <a:ext uri="{0D108BD9-81ED-4DB2-BD59-A6C34878D82A}">
                    <a16:rowId xmlns:a16="http://schemas.microsoft.com/office/drawing/2014/main" val="221815298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0" u="none" strike="noStrike" cap="none" dirty="0">
                          <a:solidFill>
                            <a:srgbClr val="6B7280"/>
                          </a:solidFill>
                          <a:sym typeface="Noto Sans SC"/>
                        </a:rPr>
                        <a:t>√</a:t>
                      </a:r>
                      <a:endParaRPr lang="en-US" altLang="zh-CN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altLang="zh-CN" sz="1300" b="0" u="none" strike="noStrike" cap="none" dirty="0" err="1">
                          <a:solidFill>
                            <a:srgbClr val="6B7280"/>
                          </a:solidFill>
                          <a:sym typeface="Arial"/>
                        </a:rPr>
                        <a:t>gan</a:t>
                      </a:r>
                      <a:r>
                        <a:rPr lang="zh-CN" altLang="en-US" sz="1300" b="0" u="none" strike="noStrike" cap="none" dirty="0">
                          <a:solidFill>
                            <a:srgbClr val="6B7280"/>
                          </a:solidFill>
                          <a:sym typeface="Noto Sans SC"/>
                        </a:rPr>
                        <a:t>日前确定</a:t>
                      </a:r>
                      <a:endParaRPr lang="en-US" altLang="zh-CN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/>
                </a:tc>
                <a:extLst>
                  <a:ext uri="{0D108BD9-81ED-4DB2-BD59-A6C34878D82A}">
                    <a16:rowId xmlns:a16="http://schemas.microsoft.com/office/drawing/2014/main" val="361155055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endParaRPr lang="en-US" altLang="zh-CN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altLang="zh-CN" sz="1300" b="0" u="none" strike="noStrike" cap="none" dirty="0" err="1">
                          <a:solidFill>
                            <a:srgbClr val="6B7280"/>
                          </a:solidFill>
                          <a:sym typeface="Arial"/>
                        </a:rPr>
                        <a:t>cnn</a:t>
                      </a:r>
                      <a:r>
                        <a:rPr lang="zh-CN" altLang="en-US" sz="1300" b="0" u="none" strike="noStrike" cap="none" dirty="0">
                          <a:solidFill>
                            <a:srgbClr val="6B7280"/>
                          </a:solidFill>
                          <a:sym typeface="Noto Sans SC"/>
                        </a:rPr>
                        <a:t>日前确定</a:t>
                      </a:r>
                      <a:endParaRPr lang="en-US" altLang="zh-CN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/>
                </a:tc>
                <a:extLst>
                  <a:ext uri="{0D108BD9-81ED-4DB2-BD59-A6C34878D82A}">
                    <a16:rowId xmlns:a16="http://schemas.microsoft.com/office/drawing/2014/main" val="2270727369"/>
                  </a:ext>
                </a:extLst>
              </a:tr>
            </a:tbl>
          </a:graphicData>
        </a:graphic>
      </p:graphicFrame>
      <p:sp>
        <p:nvSpPr>
          <p:cNvPr id="36" name="AutoShape 34">
            <a:extLst>
              <a:ext uri="{FF2B5EF4-FFF2-40B4-BE49-F238E27FC236}">
                <a16:creationId xmlns:a16="http://schemas.microsoft.com/office/drawing/2014/main" id="{E4D0A71D-FF99-378D-7550-2D6141E3D8FA}"/>
              </a:ext>
            </a:extLst>
          </p:cNvPr>
          <p:cNvSpPr/>
          <p:nvPr/>
        </p:nvSpPr>
        <p:spPr>
          <a:xfrm>
            <a:off x="10676487" y="3516321"/>
            <a:ext cx="846534" cy="355600"/>
          </a:xfrm>
          <a:prstGeom prst="roundRect">
            <a:avLst>
              <a:gd name="adj" fmla="val 14285"/>
            </a:avLst>
          </a:prstGeom>
          <a:solidFill>
            <a:srgbClr val="409E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1300" dirty="0">
                <a:solidFill>
                  <a:schemeClr val="bg1"/>
                </a:solidFill>
                <a:latin typeface="Noto Sans SC"/>
                <a:ea typeface="Noto Sans SC"/>
              </a:rPr>
              <a:t>计算</a:t>
            </a:r>
            <a:endParaRPr sz="1300" dirty="0">
              <a:solidFill>
                <a:schemeClr val="bg1"/>
              </a:solidFill>
              <a:latin typeface="Noto Sans SC"/>
              <a:ea typeface="Noto Sans SC"/>
            </a:endParaRPr>
          </a:p>
        </p:txBody>
      </p:sp>
      <p:cxnSp>
        <p:nvCxnSpPr>
          <p:cNvPr id="45" name="Connector 32">
            <a:extLst>
              <a:ext uri="{FF2B5EF4-FFF2-40B4-BE49-F238E27FC236}">
                <a16:creationId xmlns:a16="http://schemas.microsoft.com/office/drawing/2014/main" id="{0373EC23-EF48-5E66-7EDA-6F866B1A7DE0}"/>
              </a:ext>
            </a:extLst>
          </p:cNvPr>
          <p:cNvCxnSpPr>
            <a:cxnSpLocks/>
          </p:cNvCxnSpPr>
          <p:nvPr/>
        </p:nvCxnSpPr>
        <p:spPr>
          <a:xfrm rot="21385353">
            <a:off x="5256367" y="4937844"/>
            <a:ext cx="923680" cy="12799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0000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7" name="Connector 33">
            <a:extLst>
              <a:ext uri="{FF2B5EF4-FFF2-40B4-BE49-F238E27FC236}">
                <a16:creationId xmlns:a16="http://schemas.microsoft.com/office/drawing/2014/main" id="{84E94E98-521C-95AA-86D3-240C788A6C13}"/>
              </a:ext>
            </a:extLst>
          </p:cNvPr>
          <p:cNvCxnSpPr>
            <a:cxnSpLocks/>
          </p:cNvCxnSpPr>
          <p:nvPr/>
        </p:nvCxnSpPr>
        <p:spPr>
          <a:xfrm rot="21401835">
            <a:off x="6178842" y="4873852"/>
            <a:ext cx="1000453" cy="12799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0000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8" name="Connector 34">
            <a:extLst>
              <a:ext uri="{FF2B5EF4-FFF2-40B4-BE49-F238E27FC236}">
                <a16:creationId xmlns:a16="http://schemas.microsoft.com/office/drawing/2014/main" id="{0AA6D497-6B90-B317-3FD6-9BE460D29B00}"/>
              </a:ext>
            </a:extLst>
          </p:cNvPr>
          <p:cNvCxnSpPr>
            <a:cxnSpLocks/>
          </p:cNvCxnSpPr>
          <p:nvPr/>
        </p:nvCxnSpPr>
        <p:spPr>
          <a:xfrm rot="21401835">
            <a:off x="7178141" y="4809859"/>
            <a:ext cx="1000453" cy="12799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0000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4" name="Connector 35">
            <a:extLst>
              <a:ext uri="{FF2B5EF4-FFF2-40B4-BE49-F238E27FC236}">
                <a16:creationId xmlns:a16="http://schemas.microsoft.com/office/drawing/2014/main" id="{66FD39F4-8579-E50B-6CC4-7CF3852761AF}"/>
              </a:ext>
            </a:extLst>
          </p:cNvPr>
          <p:cNvCxnSpPr>
            <a:cxnSpLocks/>
          </p:cNvCxnSpPr>
          <p:nvPr/>
        </p:nvCxnSpPr>
        <p:spPr>
          <a:xfrm rot="198058">
            <a:off x="8176886" y="4822660"/>
            <a:ext cx="1001559" cy="12799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0000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5" name="Connector 36">
            <a:extLst>
              <a:ext uri="{FF2B5EF4-FFF2-40B4-BE49-F238E27FC236}">
                <a16:creationId xmlns:a16="http://schemas.microsoft.com/office/drawing/2014/main" id="{E5112F2A-C15A-8AED-0B81-91D4EAA60E8D}"/>
              </a:ext>
            </a:extLst>
          </p:cNvPr>
          <p:cNvCxnSpPr>
            <a:cxnSpLocks/>
          </p:cNvCxnSpPr>
          <p:nvPr/>
        </p:nvCxnSpPr>
        <p:spPr>
          <a:xfrm rot="165112">
            <a:off x="9176484" y="4905852"/>
            <a:ext cx="1000960" cy="12799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0000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8" name="Connector 37">
            <a:extLst>
              <a:ext uri="{FF2B5EF4-FFF2-40B4-BE49-F238E27FC236}">
                <a16:creationId xmlns:a16="http://schemas.microsoft.com/office/drawing/2014/main" id="{BB0E329A-F309-E09D-1E5B-1DC239D4381C}"/>
              </a:ext>
            </a:extLst>
          </p:cNvPr>
          <p:cNvCxnSpPr>
            <a:cxnSpLocks/>
          </p:cNvCxnSpPr>
          <p:nvPr/>
        </p:nvCxnSpPr>
        <p:spPr>
          <a:xfrm rot="21434815">
            <a:off x="10176244" y="4918647"/>
            <a:ext cx="1000038" cy="12799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9" name="AutoShape 11">
            <a:extLst>
              <a:ext uri="{FF2B5EF4-FFF2-40B4-BE49-F238E27FC236}">
                <a16:creationId xmlns:a16="http://schemas.microsoft.com/office/drawing/2014/main" id="{D80E1FD3-3BD7-2181-4312-9BB540FBBE86}"/>
              </a:ext>
            </a:extLst>
          </p:cNvPr>
          <p:cNvSpPr/>
          <p:nvPr/>
        </p:nvSpPr>
        <p:spPr>
          <a:xfrm>
            <a:off x="8927827" y="3933161"/>
            <a:ext cx="115304" cy="153584"/>
          </a:xfrm>
          <a:prstGeom prst="roundRect">
            <a:avLst>
              <a:gd name="adj" fmla="val 0"/>
            </a:avLst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" name="AutoShape 12">
            <a:extLst>
              <a:ext uri="{FF2B5EF4-FFF2-40B4-BE49-F238E27FC236}">
                <a16:creationId xmlns:a16="http://schemas.microsoft.com/office/drawing/2014/main" id="{695737D0-E72E-45C6-0238-4FEEF635322B}"/>
              </a:ext>
            </a:extLst>
          </p:cNvPr>
          <p:cNvSpPr/>
          <p:nvPr/>
        </p:nvSpPr>
        <p:spPr>
          <a:xfrm>
            <a:off x="9161361" y="3911956"/>
            <a:ext cx="1194561" cy="20477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r>
              <a:rPr lang="en-US" altLang="zh-CN" sz="1300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gan</a:t>
            </a:r>
            <a:r>
              <a:rPr lang="zh-CN" altLang="en-US" sz="1300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日前确定</a:t>
            </a:r>
            <a:endParaRPr lang="en-US" altLang="zh-CN" sz="1100" dirty="0"/>
          </a:p>
        </p:txBody>
      </p:sp>
    </p:spTree>
    <p:extLst>
      <p:ext uri="{BB962C8B-B14F-4D97-AF65-F5344CB8AC3E}">
        <p14:creationId xmlns:p14="http://schemas.microsoft.com/office/powerpoint/2010/main" val="3519219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54678-6730-6DDA-6AB7-79EFDA83A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EEC36BE-DF7E-FF4E-0D0F-24E326EEA21B}"/>
              </a:ext>
            </a:extLst>
          </p:cNvPr>
          <p:cNvSpPr/>
          <p:nvPr/>
        </p:nvSpPr>
        <p:spPr>
          <a:xfrm>
            <a:off x="508000" y="203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电价预测</a:t>
            </a:r>
            <a:r>
              <a:rPr lang="en-US" sz="1800" b="1" i="0" u="none" strike="noStrike" dirty="0" err="1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lang="en-US" sz="1100" dirty="0"/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DA935E0C-0AF2-FC71-580F-209C5BF1775E}"/>
              </a:ext>
            </a:extLst>
          </p:cNvPr>
          <p:cNvCxnSpPr/>
          <p:nvPr/>
        </p:nvCxnSpPr>
        <p:spPr>
          <a:xfrm rot="-3906">
            <a:off x="508004" y="704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54D5C9B5-2C16-8707-30B5-2E1EA9FB9DD9}"/>
              </a:ext>
            </a:extLst>
          </p:cNvPr>
          <p:cNvSpPr/>
          <p:nvPr/>
        </p:nvSpPr>
        <p:spPr>
          <a:xfrm>
            <a:off x="508000" y="914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lang="en-US" sz="1100" dirty="0"/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AE6557AB-8416-2B5A-511F-9C395CD489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" y="2463800"/>
            <a:ext cx="203200" cy="203200"/>
          </a:xfrm>
          <a:prstGeom prst="rect">
            <a:avLst/>
          </a:prstGeom>
        </p:spPr>
      </p:pic>
      <p:sp>
        <p:nvSpPr>
          <p:cNvPr id="11" name="AutoShape 11">
            <a:extLst>
              <a:ext uri="{FF2B5EF4-FFF2-40B4-BE49-F238E27FC236}">
                <a16:creationId xmlns:a16="http://schemas.microsoft.com/office/drawing/2014/main" id="{2E57241E-97FA-7D5E-F7A6-12BAD07A93CC}"/>
              </a:ext>
            </a:extLst>
          </p:cNvPr>
          <p:cNvSpPr/>
          <p:nvPr/>
        </p:nvSpPr>
        <p:spPr>
          <a:xfrm>
            <a:off x="965200" y="24130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模型管理</a:t>
            </a:r>
            <a:endParaRPr lang="en-US" sz="1100" dirty="0"/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F07543C9-A01C-ABEE-37E4-D3C836FBA085}"/>
              </a:ext>
            </a:extLst>
          </p:cNvPr>
          <p:cNvCxnSpPr>
            <a:cxnSpLocks/>
          </p:cNvCxnSpPr>
          <p:nvPr/>
        </p:nvCxnSpPr>
        <p:spPr>
          <a:xfrm>
            <a:off x="1990706" y="942109"/>
            <a:ext cx="20461" cy="796287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>
            <a:extLst>
              <a:ext uri="{FF2B5EF4-FFF2-40B4-BE49-F238E27FC236}">
                <a16:creationId xmlns:a16="http://schemas.microsoft.com/office/drawing/2014/main" id="{0EAE3702-8921-A0BE-58F2-28091CD8752A}"/>
              </a:ext>
            </a:extLst>
          </p:cNvPr>
          <p:cNvSpPr/>
          <p:nvPr/>
        </p:nvSpPr>
        <p:spPr>
          <a:xfrm>
            <a:off x="2250210" y="993739"/>
            <a:ext cx="5643562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评分</a:t>
            </a: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管理</a:t>
            </a:r>
            <a:endParaRPr lang="en-US" sz="1100" dirty="0"/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695CA7F0-8FE9-8CBA-4BAA-D34096690492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36063E18-3F05-C1DE-43DF-81CB4675C71A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A656B515-02FF-3794-424A-28156FE705CF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0DBF05F7-A7B1-2ABB-2838-EB3E3193048D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D10745D0-7901-1484-0CD5-277FF952ABA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67D8508C-19EB-C925-FF94-6244A59BB72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F20B8AF7-3C1D-7885-93AD-AA4D4C3C294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352D3377-2ABF-8680-8609-A2B70E9A007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6C370229-67F1-DCEB-4CED-6C663A71DE7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6E76B0DC-10BC-2360-3E40-1F33290E3398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E79B6DD1-2739-E16D-3924-105CB16F426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0A2ADDA2-6226-4E60-C437-BFE306240E1F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03A9DD82-0C87-947C-8976-A60E79240C5A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BD3D6CB0-1E1E-8F7F-929E-0A7E3FAF45D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F77ACE3A-C75D-3D0E-ED51-A7B1AF51675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80D21235-D60A-3410-794A-C68DCC3228C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743FE7C2-78F0-7238-FAB2-A423E82036E0}"/>
              </a:ext>
            </a:extLst>
          </p:cNvPr>
          <p:cNvSpPr/>
          <p:nvPr/>
        </p:nvSpPr>
        <p:spPr>
          <a:xfrm>
            <a:off x="2250209" y="1761063"/>
            <a:ext cx="9473867" cy="2030989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5">
            <a:extLst>
              <a:ext uri="{FF2B5EF4-FFF2-40B4-BE49-F238E27FC236}">
                <a16:creationId xmlns:a16="http://schemas.microsoft.com/office/drawing/2014/main" id="{A7C2AC16-B1DD-2C8C-8A02-44589DBD97F3}"/>
              </a:ext>
            </a:extLst>
          </p:cNvPr>
          <p:cNvSpPr/>
          <p:nvPr/>
        </p:nvSpPr>
        <p:spPr>
          <a:xfrm>
            <a:off x="2467450" y="1941592"/>
            <a:ext cx="2116667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模型排名</a:t>
            </a:r>
            <a:endParaRPr lang="en-US" sz="1100" dirty="0"/>
          </a:p>
        </p:txBody>
      </p:sp>
      <p:graphicFrame>
        <p:nvGraphicFramePr>
          <p:cNvPr id="31" name="Table 6">
            <a:extLst>
              <a:ext uri="{FF2B5EF4-FFF2-40B4-BE49-F238E27FC236}">
                <a16:creationId xmlns:a16="http://schemas.microsoft.com/office/drawing/2014/main" id="{AE14BA72-91BF-2DF6-59A4-069808E623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954769"/>
              </p:ext>
            </p:extLst>
          </p:nvPr>
        </p:nvGraphicFramePr>
        <p:xfrm>
          <a:off x="2465686" y="2379813"/>
          <a:ext cx="9024991" cy="1219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528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3586700789"/>
                    </a:ext>
                  </a:extLst>
                </a:gridCol>
                <a:gridCol w="2064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9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47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701">
                  <a:extLst>
                    <a:ext uri="{9D8B030D-6E8A-4147-A177-3AD203B41FA5}">
                      <a16:colId xmlns:a16="http://schemas.microsoft.com/office/drawing/2014/main" val="2291855991"/>
                    </a:ext>
                  </a:extLst>
                </a:gridCol>
                <a:gridCol w="8096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99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1" i="0" u="none" strike="noStrik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数据集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1" i="0" u="none" strike="noStrik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类型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1" i="0" u="none" strike="noStrike" cap="non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sym typeface="Arial"/>
                        </a:rPr>
                        <a:t>模型名称</a:t>
                      </a:r>
                      <a:endParaRPr lang="en-US" sz="1300" b="1" i="0" u="none" strike="noStrike" cap="none" dirty="0">
                        <a:solidFill>
                          <a:srgbClr val="666666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1" i="0" u="none" strike="noStrike" cap="non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sym typeface="Arial"/>
                        </a:rPr>
                        <a:t>预测时间段</a:t>
                      </a:r>
                      <a:endParaRPr lang="en-US" sz="1300" b="1" i="0" u="none" strike="noStrike" cap="none" dirty="0">
                        <a:solidFill>
                          <a:srgbClr val="666666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300" b="1" i="0" u="none" strike="noStrik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MAE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altLang="zh-CN" sz="1300" b="1" i="0" u="none" strike="noStrike" cap="non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sym typeface="Arial"/>
                        </a:rPr>
                        <a:t>RMSE</a:t>
                      </a:r>
                      <a:endParaRPr lang="zh-CN" altLang="en-US" sz="1300" b="1" i="0" u="none" strike="noStrike" cap="none" dirty="0">
                        <a:solidFill>
                          <a:srgbClr val="666666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altLang="zh-CN" sz="1300" b="1" i="0" u="none" strike="noStrike" cap="non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sym typeface="Arial"/>
                        </a:rPr>
                        <a:t>R2</a:t>
                      </a:r>
                      <a:endParaRPr lang="zh-CN" altLang="en-US" sz="1300" b="1" i="0" u="none" strike="noStrike" cap="none" dirty="0">
                        <a:solidFill>
                          <a:srgbClr val="666666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300" b="1" i="0" u="none" strike="noStrik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IMAPE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1" i="0" u="none" strike="noStrik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分数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陕西电价数据</a:t>
                      </a:r>
                      <a:endParaRPr lang="en-US" altLang="zh-CN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日前确定</a:t>
                      </a:r>
                      <a:endParaRPr lang="en-US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1300" b="0" i="0" u="none" strike="noStrike" cap="none" dirty="0" err="1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Lstm</a:t>
                      </a:r>
                      <a:r>
                        <a:rPr lang="zh-CN" alt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日前</a:t>
                      </a:r>
                      <a:endParaRPr lang="en-US" altLang="zh-CN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2025.12.21-2025.12.27</a:t>
                      </a:r>
                      <a:endParaRPr lang="en-US" altLang="zh-CN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50.01</a:t>
                      </a:r>
                      <a:endParaRPr lang="en-US" altLang="zh-CN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70.03</a:t>
                      </a:r>
                      <a:endParaRPr lang="zh-CN" altLang="en-US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0.88</a:t>
                      </a:r>
                      <a:endParaRPr lang="zh-CN" altLang="en-US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0.09</a:t>
                      </a:r>
                      <a:endParaRPr lang="en-US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90.05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广东电价数据</a:t>
                      </a:r>
                      <a:endParaRPr lang="en-US" altLang="zh-CN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周前概率</a:t>
                      </a:r>
                      <a:endParaRPr lang="en-US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Tcn</a:t>
                      </a:r>
                      <a:r>
                        <a:rPr lang="zh-CN" alt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周前</a:t>
                      </a:r>
                      <a:endParaRPr lang="en-US" altLang="zh-CN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2025.12.21-2025.12.27</a:t>
                      </a:r>
                      <a:endParaRPr lang="en-US" altLang="zh-CN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60.02</a:t>
                      </a:r>
                      <a:endParaRPr lang="en-US" altLang="zh-CN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80.04</a:t>
                      </a:r>
                      <a:endParaRPr lang="zh-CN" altLang="en-US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0.81</a:t>
                      </a:r>
                      <a:endParaRPr lang="zh-CN" altLang="en-US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0.15</a:t>
                      </a:r>
                      <a:endParaRPr lang="en-US" altLang="zh-CN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80.06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48" name="Picture 6">
            <a:extLst>
              <a:ext uri="{FF2B5EF4-FFF2-40B4-BE49-F238E27FC236}">
                <a16:creationId xmlns:a16="http://schemas.microsoft.com/office/drawing/2014/main" id="{25D80F19-A8FC-C24E-F1A9-3680845EB3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1930400"/>
            <a:ext cx="203200" cy="203200"/>
          </a:xfrm>
          <a:prstGeom prst="rect">
            <a:avLst/>
          </a:prstGeom>
        </p:spPr>
      </p:pic>
      <p:sp>
        <p:nvSpPr>
          <p:cNvPr id="149" name="AutoShape 7">
            <a:extLst>
              <a:ext uri="{FF2B5EF4-FFF2-40B4-BE49-F238E27FC236}">
                <a16:creationId xmlns:a16="http://schemas.microsoft.com/office/drawing/2014/main" id="{5C7BB318-5C91-22F1-115D-CD7AF766C789}"/>
              </a:ext>
            </a:extLst>
          </p:cNvPr>
          <p:cNvSpPr/>
          <p:nvPr/>
        </p:nvSpPr>
        <p:spPr>
          <a:xfrm>
            <a:off x="965200" y="18796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dirty="0" err="1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数据管理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pic>
        <p:nvPicPr>
          <p:cNvPr id="150" name="Picture 8">
            <a:extLst>
              <a:ext uri="{FF2B5EF4-FFF2-40B4-BE49-F238E27FC236}">
                <a16:creationId xmlns:a16="http://schemas.microsoft.com/office/drawing/2014/main" id="{A936D67D-C9D4-1631-754F-DB95ABD0F9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" y="1440873"/>
            <a:ext cx="203200" cy="203200"/>
          </a:xfrm>
          <a:prstGeom prst="rect">
            <a:avLst/>
          </a:prstGeom>
        </p:spPr>
      </p:pic>
      <p:sp>
        <p:nvSpPr>
          <p:cNvPr id="151" name="AutoShape 9">
            <a:extLst>
              <a:ext uri="{FF2B5EF4-FFF2-40B4-BE49-F238E27FC236}">
                <a16:creationId xmlns:a16="http://schemas.microsoft.com/office/drawing/2014/main" id="{DD282779-7963-4D22-6FC6-594675B2211C}"/>
              </a:ext>
            </a:extLst>
          </p:cNvPr>
          <p:cNvSpPr/>
          <p:nvPr/>
        </p:nvSpPr>
        <p:spPr>
          <a:xfrm>
            <a:off x="965200" y="13900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首页</a:t>
            </a:r>
            <a:endParaRPr lang="en-US" sz="1100" dirty="0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F8EC9E68-ECA0-18A0-5EAA-DE89AC08C770}"/>
              </a:ext>
            </a:extLst>
          </p:cNvPr>
          <p:cNvSpPr/>
          <p:nvPr/>
        </p:nvSpPr>
        <p:spPr>
          <a:xfrm>
            <a:off x="508000" y="3429000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>
              <a:lnSpc>
                <a:spcPct val="125000"/>
              </a:lnSpc>
              <a:defRPr/>
            </a:pPr>
            <a:endParaRPr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sp>
        <p:nvSpPr>
          <p:cNvPr id="9" name="AutoShape 13">
            <a:extLst>
              <a:ext uri="{FF2B5EF4-FFF2-40B4-BE49-F238E27FC236}">
                <a16:creationId xmlns:a16="http://schemas.microsoft.com/office/drawing/2014/main" id="{9ACA8F76-0703-77B4-C8C6-E628077A561D}"/>
              </a:ext>
            </a:extLst>
          </p:cNvPr>
          <p:cNvSpPr/>
          <p:nvPr/>
        </p:nvSpPr>
        <p:spPr>
          <a:xfrm>
            <a:off x="965200" y="34798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评分</a:t>
            </a:r>
            <a:r>
              <a:rPr lang="en-US" b="1" dirty="0" err="1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管理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pic>
        <p:nvPicPr>
          <p:cNvPr id="14" name="Picture 12">
            <a:extLst>
              <a:ext uri="{FF2B5EF4-FFF2-40B4-BE49-F238E27FC236}">
                <a16:creationId xmlns:a16="http://schemas.microsoft.com/office/drawing/2014/main" id="{15EA8412-E60A-AD77-1194-1191770F98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" y="2992626"/>
            <a:ext cx="203200" cy="203200"/>
          </a:xfrm>
          <a:prstGeom prst="rect">
            <a:avLst/>
          </a:prstGeom>
        </p:spPr>
      </p:pic>
      <p:sp>
        <p:nvSpPr>
          <p:cNvPr id="15" name="AutoShape 13">
            <a:extLst>
              <a:ext uri="{FF2B5EF4-FFF2-40B4-BE49-F238E27FC236}">
                <a16:creationId xmlns:a16="http://schemas.microsoft.com/office/drawing/2014/main" id="{AB5CFA57-DB5E-A65E-939D-CB930FC65C0E}"/>
              </a:ext>
            </a:extLst>
          </p:cNvPr>
          <p:cNvSpPr/>
          <p:nvPr/>
        </p:nvSpPr>
        <p:spPr>
          <a:xfrm>
            <a:off x="965200" y="294182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预测</a:t>
            </a:r>
            <a:endParaRPr lang="en-US" sz="1100" dirty="0"/>
          </a:p>
        </p:txBody>
      </p:sp>
      <p:pic>
        <p:nvPicPr>
          <p:cNvPr id="12" name="Picture 14">
            <a:extLst>
              <a:ext uri="{FF2B5EF4-FFF2-40B4-BE49-F238E27FC236}">
                <a16:creationId xmlns:a16="http://schemas.microsoft.com/office/drawing/2014/main" id="{5A7FF9DA-7B26-47AA-EA83-34070762252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" y="3530600"/>
            <a:ext cx="2032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395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0D30D-2661-7D10-B01E-9C0CFBCE8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8B3D816-E548-CD00-9646-8B3AA3015D6E}"/>
              </a:ext>
            </a:extLst>
          </p:cNvPr>
          <p:cNvSpPr/>
          <p:nvPr/>
        </p:nvSpPr>
        <p:spPr>
          <a:xfrm>
            <a:off x="508000" y="203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电力市场</a:t>
            </a:r>
            <a:r>
              <a:rPr lang="en-US" sz="1800" b="1" i="0" u="none" strike="noStrike" dirty="0" err="1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lang="en-US" sz="1100" dirty="0"/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04739468-28CD-8A36-5787-89AAC1712FD2}"/>
              </a:ext>
            </a:extLst>
          </p:cNvPr>
          <p:cNvCxnSpPr/>
          <p:nvPr/>
        </p:nvCxnSpPr>
        <p:spPr>
          <a:xfrm rot="-3906">
            <a:off x="508004" y="704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99CF9FFF-C713-421D-D37D-B0D7F810CF99}"/>
              </a:ext>
            </a:extLst>
          </p:cNvPr>
          <p:cNvSpPr/>
          <p:nvPr/>
        </p:nvSpPr>
        <p:spPr>
          <a:xfrm>
            <a:off x="508000" y="914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lang="en-US" sz="1100" dirty="0"/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0AD73513-9F8C-6CC3-93B0-668CDF1CE8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" y="2982316"/>
            <a:ext cx="203200" cy="203200"/>
          </a:xfrm>
          <a:prstGeom prst="rect">
            <a:avLst/>
          </a:prstGeom>
        </p:spPr>
      </p:pic>
      <p:sp>
        <p:nvSpPr>
          <p:cNvPr id="11" name="AutoShape 11">
            <a:extLst>
              <a:ext uri="{FF2B5EF4-FFF2-40B4-BE49-F238E27FC236}">
                <a16:creationId xmlns:a16="http://schemas.microsoft.com/office/drawing/2014/main" id="{BEA4F85F-1B55-DC5A-AC9A-DFF844CE4A16}"/>
              </a:ext>
            </a:extLst>
          </p:cNvPr>
          <p:cNvSpPr/>
          <p:nvPr/>
        </p:nvSpPr>
        <p:spPr>
          <a:xfrm>
            <a:off x="965200" y="29315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市场交易</a:t>
            </a:r>
            <a:endParaRPr lang="en-US" sz="1100" dirty="0"/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58DF8627-FA2C-1B1E-7A22-62D0B54836B1}"/>
              </a:ext>
            </a:extLst>
          </p:cNvPr>
          <p:cNvCxnSpPr>
            <a:cxnSpLocks/>
          </p:cNvCxnSpPr>
          <p:nvPr/>
        </p:nvCxnSpPr>
        <p:spPr>
          <a:xfrm>
            <a:off x="1990706" y="942109"/>
            <a:ext cx="20461" cy="796287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>
            <a:extLst>
              <a:ext uri="{FF2B5EF4-FFF2-40B4-BE49-F238E27FC236}">
                <a16:creationId xmlns:a16="http://schemas.microsoft.com/office/drawing/2014/main" id="{7A5BEEB6-91FC-87DF-7CC9-C960461808E9}"/>
              </a:ext>
            </a:extLst>
          </p:cNvPr>
          <p:cNvSpPr/>
          <p:nvPr/>
        </p:nvSpPr>
        <p:spPr>
          <a:xfrm>
            <a:off x="2250210" y="993739"/>
            <a:ext cx="5643562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企业信息</a:t>
            </a:r>
            <a:endParaRPr lang="en-US" sz="1100" dirty="0"/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5C465A5B-52AC-E270-012C-85E28DC77B2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1D792A90-10C8-4697-8002-623B1ED9D6E4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BDEB5B18-4C70-28A8-790E-9DB22D89C14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D6105340-6AA4-1C54-EE43-4CFD485756F1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1E61C6C4-BC6A-578D-0289-8BE18A14DC64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DCF3EA67-C6AC-ECFE-7767-C42389EF3E04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7382A00E-3A84-0912-DC48-2BD147465F7F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CD93BA1B-7320-E90F-2A71-8EE660F27818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CF7B1776-D1B5-6440-8449-EAD5B36427C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144528DC-E75D-44AE-2440-B7BCE29AD5D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59A97894-DB8E-C992-BE02-B4A8463A8C88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C52BCCDC-0D89-B85C-23BC-606D066AE91B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383E3F37-E6BF-8470-CCBB-79919920165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239B1866-0E6D-1220-E3AC-9D94DCFABB4D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F92D5CD2-3FDB-E488-DBAB-6E3A5CD6A36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3CB732D3-D3BA-6AF0-4EB9-ADF997E341B1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DA8CCFC9-575F-A583-1DAC-AC26A09A6123}"/>
              </a:ext>
            </a:extLst>
          </p:cNvPr>
          <p:cNvSpPr/>
          <p:nvPr/>
        </p:nvSpPr>
        <p:spPr>
          <a:xfrm>
            <a:off x="2250209" y="1761063"/>
            <a:ext cx="9473867" cy="4671268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5">
            <a:extLst>
              <a:ext uri="{FF2B5EF4-FFF2-40B4-BE49-F238E27FC236}">
                <a16:creationId xmlns:a16="http://schemas.microsoft.com/office/drawing/2014/main" id="{579D93CD-2F8F-89E9-9BEE-3FE3119E8B07}"/>
              </a:ext>
            </a:extLst>
          </p:cNvPr>
          <p:cNvSpPr/>
          <p:nvPr/>
        </p:nvSpPr>
        <p:spPr>
          <a:xfrm>
            <a:off x="2467450" y="1941592"/>
            <a:ext cx="6097430" cy="2759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企业列表</a:t>
            </a:r>
            <a:endParaRPr lang="en-US" sz="1100" dirty="0"/>
          </a:p>
        </p:txBody>
      </p:sp>
      <p:pic>
        <p:nvPicPr>
          <p:cNvPr id="148" name="Picture 6">
            <a:extLst>
              <a:ext uri="{FF2B5EF4-FFF2-40B4-BE49-F238E27FC236}">
                <a16:creationId xmlns:a16="http://schemas.microsoft.com/office/drawing/2014/main" id="{5AF7FEAB-2155-45AA-DA4D-A0815F826F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2448916"/>
            <a:ext cx="203200" cy="203200"/>
          </a:xfrm>
          <a:prstGeom prst="rect">
            <a:avLst/>
          </a:prstGeom>
        </p:spPr>
      </p:pic>
      <p:sp>
        <p:nvSpPr>
          <p:cNvPr id="149" name="AutoShape 7">
            <a:extLst>
              <a:ext uri="{FF2B5EF4-FFF2-40B4-BE49-F238E27FC236}">
                <a16:creationId xmlns:a16="http://schemas.microsoft.com/office/drawing/2014/main" id="{D720962A-F144-C285-2208-7646A75B1F1F}"/>
              </a:ext>
            </a:extLst>
          </p:cNvPr>
          <p:cNvSpPr/>
          <p:nvPr/>
        </p:nvSpPr>
        <p:spPr>
          <a:xfrm>
            <a:off x="965200" y="23981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信息披露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pic>
        <p:nvPicPr>
          <p:cNvPr id="14" name="Picture 12">
            <a:extLst>
              <a:ext uri="{FF2B5EF4-FFF2-40B4-BE49-F238E27FC236}">
                <a16:creationId xmlns:a16="http://schemas.microsoft.com/office/drawing/2014/main" id="{D7256826-57BE-93D9-EEFF-6F58F81769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" y="3511142"/>
            <a:ext cx="203200" cy="203200"/>
          </a:xfrm>
          <a:prstGeom prst="rect">
            <a:avLst/>
          </a:prstGeom>
        </p:spPr>
      </p:pic>
      <p:sp>
        <p:nvSpPr>
          <p:cNvPr id="15" name="AutoShape 13">
            <a:extLst>
              <a:ext uri="{FF2B5EF4-FFF2-40B4-BE49-F238E27FC236}">
                <a16:creationId xmlns:a16="http://schemas.microsoft.com/office/drawing/2014/main" id="{61DFB2DF-5D82-13F9-FDDF-98FF363E6CE7}"/>
              </a:ext>
            </a:extLst>
          </p:cNvPr>
          <p:cNvSpPr/>
          <p:nvPr/>
        </p:nvSpPr>
        <p:spPr>
          <a:xfrm>
            <a:off x="965200" y="3460342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结算报告</a:t>
            </a:r>
            <a:endParaRPr lang="en-US" sz="1100" dirty="0"/>
          </a:p>
        </p:txBody>
      </p:sp>
      <p:sp>
        <p:nvSpPr>
          <p:cNvPr id="19" name="AutoShape 5">
            <a:extLst>
              <a:ext uri="{FF2B5EF4-FFF2-40B4-BE49-F238E27FC236}">
                <a16:creationId xmlns:a16="http://schemas.microsoft.com/office/drawing/2014/main" id="{B990A7C6-D123-C158-4F65-81856CF38B90}"/>
              </a:ext>
            </a:extLst>
          </p:cNvPr>
          <p:cNvSpPr/>
          <p:nvPr/>
        </p:nvSpPr>
        <p:spPr>
          <a:xfrm>
            <a:off x="464624" y="1320800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8">
            <a:extLst>
              <a:ext uri="{FF2B5EF4-FFF2-40B4-BE49-F238E27FC236}">
                <a16:creationId xmlns:a16="http://schemas.microsoft.com/office/drawing/2014/main" id="{44B5BDA4-461C-9C6A-196D-5DCF0E272FB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" y="1440873"/>
            <a:ext cx="203200" cy="203200"/>
          </a:xfrm>
          <a:prstGeom prst="rect">
            <a:avLst/>
          </a:prstGeom>
        </p:spPr>
      </p:pic>
      <p:sp>
        <p:nvSpPr>
          <p:cNvPr id="29" name="AutoShape 9">
            <a:extLst>
              <a:ext uri="{FF2B5EF4-FFF2-40B4-BE49-F238E27FC236}">
                <a16:creationId xmlns:a16="http://schemas.microsoft.com/office/drawing/2014/main" id="{DD70C6E7-1BBF-C23B-3E02-E24AD97E715C}"/>
              </a:ext>
            </a:extLst>
          </p:cNvPr>
          <p:cNvSpPr/>
          <p:nvPr/>
        </p:nvSpPr>
        <p:spPr>
          <a:xfrm>
            <a:off x="965200" y="13900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企业信息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FE8DE277-1FA9-C85D-B627-8939698409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468965"/>
              </p:ext>
            </p:extLst>
          </p:nvPr>
        </p:nvGraphicFramePr>
        <p:xfrm>
          <a:off x="2467450" y="2565400"/>
          <a:ext cx="2336800" cy="1988820"/>
        </p:xfrm>
        <a:graphic>
          <a:graphicData uri="http://schemas.openxmlformats.org/drawingml/2006/table">
            <a:tbl>
              <a:tblPr/>
              <a:tblGrid>
                <a:gridCol w="1320800">
                  <a:extLst>
                    <a:ext uri="{9D8B030D-6E8A-4147-A177-3AD203B41FA5}">
                      <a16:colId xmlns:a16="http://schemas.microsoft.com/office/drawing/2014/main" val="305782585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514374737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火电厂编号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火电厂名称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40135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ThermalPlant_1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G13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904023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ThermalPlant_2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G14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132767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ThermalPlant_3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G15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517017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ThermalPlant_4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G16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48426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ThermalPlant_5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G17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13869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ThermalPlant_6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G18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099053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ThermalPlant_7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G19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44035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ThermalPlant_8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G20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8885352"/>
                  </a:ext>
                </a:extLst>
              </a:tr>
            </a:tbl>
          </a:graphicData>
        </a:graphic>
      </p:graphicFrame>
      <p:sp>
        <p:nvSpPr>
          <p:cNvPr id="5" name="AutoShape 13">
            <a:extLst>
              <a:ext uri="{FF2B5EF4-FFF2-40B4-BE49-F238E27FC236}">
                <a16:creationId xmlns:a16="http://schemas.microsoft.com/office/drawing/2014/main" id="{73FC4603-041C-B822-C472-FE19C237D7EE}"/>
              </a:ext>
            </a:extLst>
          </p:cNvPr>
          <p:cNvSpPr/>
          <p:nvPr/>
        </p:nvSpPr>
        <p:spPr>
          <a:xfrm>
            <a:off x="965200" y="1905094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成交历史</a:t>
            </a:r>
            <a:endParaRPr lang="en-US" sz="1100" dirty="0"/>
          </a:p>
        </p:txBody>
      </p:sp>
      <p:pic>
        <p:nvPicPr>
          <p:cNvPr id="8" name="Picture 14">
            <a:extLst>
              <a:ext uri="{FF2B5EF4-FFF2-40B4-BE49-F238E27FC236}">
                <a16:creationId xmlns:a16="http://schemas.microsoft.com/office/drawing/2014/main" id="{0252A5A1-55E9-85E0-278B-70635AEF012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" y="1955894"/>
            <a:ext cx="2032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513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47359-03ED-FB3E-FE3C-217C633C6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6C38A7F-E56B-A10F-2C22-3A4E6D6F05AE}"/>
              </a:ext>
            </a:extLst>
          </p:cNvPr>
          <p:cNvSpPr/>
          <p:nvPr/>
        </p:nvSpPr>
        <p:spPr>
          <a:xfrm>
            <a:off x="508000" y="203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电力市场</a:t>
            </a:r>
            <a:r>
              <a:rPr lang="en-US" sz="1800" b="1" i="0" u="none" strike="noStrike" dirty="0" err="1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lang="en-US" sz="1100" dirty="0"/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0893EFB5-842B-0366-3E88-DF1E5CBD2A44}"/>
              </a:ext>
            </a:extLst>
          </p:cNvPr>
          <p:cNvCxnSpPr/>
          <p:nvPr/>
        </p:nvCxnSpPr>
        <p:spPr>
          <a:xfrm rot="-3906">
            <a:off x="508004" y="704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C64F3FD2-1961-F763-A07C-EE872768E52D}"/>
              </a:ext>
            </a:extLst>
          </p:cNvPr>
          <p:cNvSpPr/>
          <p:nvPr/>
        </p:nvSpPr>
        <p:spPr>
          <a:xfrm>
            <a:off x="508000" y="914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lang="en-US" sz="1100" dirty="0"/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99B0930C-F921-BA80-6595-906A24EB5373}"/>
              </a:ext>
            </a:extLst>
          </p:cNvPr>
          <p:cNvCxnSpPr>
            <a:cxnSpLocks/>
          </p:cNvCxnSpPr>
          <p:nvPr/>
        </p:nvCxnSpPr>
        <p:spPr>
          <a:xfrm>
            <a:off x="1990706" y="942109"/>
            <a:ext cx="20461" cy="796287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>
            <a:extLst>
              <a:ext uri="{FF2B5EF4-FFF2-40B4-BE49-F238E27FC236}">
                <a16:creationId xmlns:a16="http://schemas.microsoft.com/office/drawing/2014/main" id="{4E03999D-D51D-B45B-4171-DF995F713C4B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A28AEC94-4BE7-5060-CF82-BE26348C60E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A5BDD5A1-3493-8438-B680-2E1432A6E8D2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49BA7C75-94FF-1573-B65D-6EAD2A0B083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FDA5DF2E-9492-0541-4173-8A342824B0F4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6F2C2ED0-B704-7D13-982F-B1508082432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D5A86346-BC41-FAB9-84AA-6F889D6A800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8D5C0878-530E-ABB8-9DB8-7F432E786658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A804E086-20CB-31B7-D33C-1C8B07A3679B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282485C8-9A8D-1946-0101-93AA4C05C38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A591C998-CE7A-EB07-20BB-ACCE22F9B218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E8FB970E-319F-6BE0-74DC-228D13638CF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F8C48C70-FD0E-53ED-D7DF-E8FA156E882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B211976F-C2B2-20D3-4A37-3A7BD097965D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EFE852D4-F623-5B28-717A-BB4C2306315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A1318F95-4BA6-91C2-7575-FDA61E06F53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A2807A9E-CC93-BC62-2D0E-5E9193F64ADB}"/>
              </a:ext>
            </a:extLst>
          </p:cNvPr>
          <p:cNvSpPr/>
          <p:nvPr/>
        </p:nvSpPr>
        <p:spPr>
          <a:xfrm>
            <a:off x="2250209" y="1761063"/>
            <a:ext cx="9921330" cy="4893737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5">
            <a:extLst>
              <a:ext uri="{FF2B5EF4-FFF2-40B4-BE49-F238E27FC236}">
                <a16:creationId xmlns:a16="http://schemas.microsoft.com/office/drawing/2014/main" id="{A258FC99-E6A1-5C17-0CBB-32BBDA000597}"/>
              </a:ext>
            </a:extLst>
          </p:cNvPr>
          <p:cNvSpPr/>
          <p:nvPr/>
        </p:nvSpPr>
        <p:spPr>
          <a:xfrm>
            <a:off x="2467450" y="1941592"/>
            <a:ext cx="2116667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机组</a:t>
            </a:r>
            <a:r>
              <a:rPr lang="zh-CN" alt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信息</a:t>
            </a:r>
            <a:endParaRPr lang="en-US" sz="1100" dirty="0"/>
          </a:p>
        </p:txBody>
      </p:sp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7322E266-F03C-87EE-11FE-F79A3582D4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358122"/>
              </p:ext>
            </p:extLst>
          </p:nvPr>
        </p:nvGraphicFramePr>
        <p:xfrm>
          <a:off x="2465686" y="2311019"/>
          <a:ext cx="4622800" cy="4198620"/>
        </p:xfrm>
        <a:graphic>
          <a:graphicData uri="http://schemas.openxmlformats.org/drawingml/2006/table">
            <a:tbl>
              <a:tblPr/>
              <a:tblGrid>
                <a:gridCol w="3670300">
                  <a:extLst>
                    <a:ext uri="{9D8B030D-6E8A-4147-A177-3AD203B41FA5}">
                      <a16:colId xmlns:a16="http://schemas.microsoft.com/office/drawing/2014/main" val="3406018738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417259633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火电机组编号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Thermal_1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17537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所在母线编号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Bus_8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1331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装机容量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(100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59322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初始开机状态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TRUE/FALSE)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FALSE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289166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初始状态已持续时间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(h)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218275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最小技术出力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(100MW)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93897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上爬坡速率 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(100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MW/h)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94473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下爬坡速率 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(100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MW/h)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57855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最短开机时间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92680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最短关机时间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85357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启动成本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万元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次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581069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关停成本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万元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次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30699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燃料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煤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78725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运行成本曲线系数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A(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吨标准煤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/(100MW)^2)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31442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运行成本曲线系数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B(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吨标准煤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/100MW)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23.5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637922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运行成本曲线系数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C(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吨标准煤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23.0194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62345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调频响应时间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(min)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1.2402334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595167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调频调节误差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(%)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2.164578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25389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调节速度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MW/min)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11.354614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926717"/>
                  </a:ext>
                </a:extLst>
              </a:tr>
            </a:tbl>
          </a:graphicData>
        </a:graphic>
      </p:graphicFrame>
      <p:graphicFrame>
        <p:nvGraphicFramePr>
          <p:cNvPr id="34" name="表格 33">
            <a:extLst>
              <a:ext uri="{FF2B5EF4-FFF2-40B4-BE49-F238E27FC236}">
                <a16:creationId xmlns:a16="http://schemas.microsoft.com/office/drawing/2014/main" id="{2DB012B7-D282-04B3-3DAF-3E3FB38165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324850"/>
              </p:ext>
            </p:extLst>
          </p:nvPr>
        </p:nvGraphicFramePr>
        <p:xfrm>
          <a:off x="7303963" y="2291392"/>
          <a:ext cx="4622800" cy="4198620"/>
        </p:xfrm>
        <a:graphic>
          <a:graphicData uri="http://schemas.openxmlformats.org/drawingml/2006/table">
            <a:tbl>
              <a:tblPr/>
              <a:tblGrid>
                <a:gridCol w="3670300">
                  <a:extLst>
                    <a:ext uri="{9D8B030D-6E8A-4147-A177-3AD203B41FA5}">
                      <a16:colId xmlns:a16="http://schemas.microsoft.com/office/drawing/2014/main" val="3406018738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417259633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火电机组编号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Thermal_2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17537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所在母线编号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Bus_8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1331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装机容量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(100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59322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初始开机状态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TRUE/FALSE)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FALSE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289166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初始状态已持续时间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(h)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218275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最小技术出力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(100MW)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93897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上爬坡速率 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(100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MW/h)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94473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下爬坡速率 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(100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MW/h)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57855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最短开机时间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92680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最短关机时间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85357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启动成本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万元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次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581069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关停成本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万元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次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30699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燃料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煤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78725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运行成本曲线系数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A(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吨标准煤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/(100MW)^2)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31442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运行成本曲线系数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B(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吨标准煤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/100MW)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23.5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637922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运行成本曲线系数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C(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吨标准煤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23.0194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62345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调频响应时间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(min)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1.2402334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595167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调频调节误差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(%)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2.164578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25389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调节速度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MW/min)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11.354614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926717"/>
                  </a:ext>
                </a:extLst>
              </a:tr>
            </a:tbl>
          </a:graphicData>
        </a:graphic>
      </p:graphicFrame>
      <p:sp>
        <p:nvSpPr>
          <p:cNvPr id="9" name="AutoShape 5">
            <a:extLst>
              <a:ext uri="{FF2B5EF4-FFF2-40B4-BE49-F238E27FC236}">
                <a16:creationId xmlns:a16="http://schemas.microsoft.com/office/drawing/2014/main" id="{A6D2EE45-A6C9-3370-A164-09284017AB1B}"/>
              </a:ext>
            </a:extLst>
          </p:cNvPr>
          <p:cNvSpPr/>
          <p:nvPr/>
        </p:nvSpPr>
        <p:spPr>
          <a:xfrm>
            <a:off x="2250209" y="1174364"/>
            <a:ext cx="720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企业名称：</a:t>
            </a:r>
            <a:r>
              <a:rPr lang="en-US" altLang="zh-CN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G13 </a:t>
            </a:r>
            <a:r>
              <a:rPr lang="zh-CN" alt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企业类型：火电公司</a:t>
            </a:r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B4D098A7-F4AF-5E94-4348-3072B02AD8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" y="2982316"/>
            <a:ext cx="203200" cy="203200"/>
          </a:xfrm>
          <a:prstGeom prst="rect">
            <a:avLst/>
          </a:prstGeom>
        </p:spPr>
      </p:pic>
      <p:sp>
        <p:nvSpPr>
          <p:cNvPr id="7" name="AutoShape 11">
            <a:extLst>
              <a:ext uri="{FF2B5EF4-FFF2-40B4-BE49-F238E27FC236}">
                <a16:creationId xmlns:a16="http://schemas.microsoft.com/office/drawing/2014/main" id="{4A1490CE-07B0-E5CD-148F-FC6F25D3C23D}"/>
              </a:ext>
            </a:extLst>
          </p:cNvPr>
          <p:cNvSpPr/>
          <p:nvPr/>
        </p:nvSpPr>
        <p:spPr>
          <a:xfrm>
            <a:off x="965200" y="29315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市场交易</a:t>
            </a:r>
            <a:endParaRPr lang="en-US" sz="1100" dirty="0"/>
          </a:p>
        </p:txBody>
      </p:sp>
      <p:pic>
        <p:nvPicPr>
          <p:cNvPr id="12" name="Picture 6">
            <a:extLst>
              <a:ext uri="{FF2B5EF4-FFF2-40B4-BE49-F238E27FC236}">
                <a16:creationId xmlns:a16="http://schemas.microsoft.com/office/drawing/2014/main" id="{E88FD802-0DDA-1E86-D50F-7249D557D8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2448916"/>
            <a:ext cx="203200" cy="203200"/>
          </a:xfrm>
          <a:prstGeom prst="rect">
            <a:avLst/>
          </a:prstGeom>
        </p:spPr>
      </p:pic>
      <p:sp>
        <p:nvSpPr>
          <p:cNvPr id="17" name="AutoShape 7">
            <a:extLst>
              <a:ext uri="{FF2B5EF4-FFF2-40B4-BE49-F238E27FC236}">
                <a16:creationId xmlns:a16="http://schemas.microsoft.com/office/drawing/2014/main" id="{991D8AEF-FF7C-17C4-1CE1-EB9792F76DB0}"/>
              </a:ext>
            </a:extLst>
          </p:cNvPr>
          <p:cNvSpPr/>
          <p:nvPr/>
        </p:nvSpPr>
        <p:spPr>
          <a:xfrm>
            <a:off x="965200" y="23981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信息披露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pic>
        <p:nvPicPr>
          <p:cNvPr id="19" name="Picture 12">
            <a:extLst>
              <a:ext uri="{FF2B5EF4-FFF2-40B4-BE49-F238E27FC236}">
                <a16:creationId xmlns:a16="http://schemas.microsoft.com/office/drawing/2014/main" id="{EB792735-400C-32D9-F482-E8B0541F96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" y="3511142"/>
            <a:ext cx="203200" cy="203200"/>
          </a:xfrm>
          <a:prstGeom prst="rect">
            <a:avLst/>
          </a:prstGeom>
        </p:spPr>
      </p:pic>
      <p:sp>
        <p:nvSpPr>
          <p:cNvPr id="20" name="AutoShape 13">
            <a:extLst>
              <a:ext uri="{FF2B5EF4-FFF2-40B4-BE49-F238E27FC236}">
                <a16:creationId xmlns:a16="http://schemas.microsoft.com/office/drawing/2014/main" id="{39902DDF-ED11-7D60-4641-D51526A5E1A6}"/>
              </a:ext>
            </a:extLst>
          </p:cNvPr>
          <p:cNvSpPr/>
          <p:nvPr/>
        </p:nvSpPr>
        <p:spPr>
          <a:xfrm>
            <a:off x="965200" y="3460342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结算报告</a:t>
            </a:r>
            <a:endParaRPr lang="en-US" sz="1100" dirty="0"/>
          </a:p>
        </p:txBody>
      </p:sp>
      <p:sp>
        <p:nvSpPr>
          <p:cNvPr id="29" name="AutoShape 5">
            <a:extLst>
              <a:ext uri="{FF2B5EF4-FFF2-40B4-BE49-F238E27FC236}">
                <a16:creationId xmlns:a16="http://schemas.microsoft.com/office/drawing/2014/main" id="{F0DB359B-79BE-1D1C-925B-BE123D6BC2DC}"/>
              </a:ext>
            </a:extLst>
          </p:cNvPr>
          <p:cNvSpPr/>
          <p:nvPr/>
        </p:nvSpPr>
        <p:spPr>
          <a:xfrm>
            <a:off x="464624" y="1320800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1" name="Picture 8">
            <a:extLst>
              <a:ext uri="{FF2B5EF4-FFF2-40B4-BE49-F238E27FC236}">
                <a16:creationId xmlns:a16="http://schemas.microsoft.com/office/drawing/2014/main" id="{509F8774-C20C-2EBE-BC92-DE40C58C2FC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" y="1440873"/>
            <a:ext cx="203200" cy="203200"/>
          </a:xfrm>
          <a:prstGeom prst="rect">
            <a:avLst/>
          </a:prstGeom>
        </p:spPr>
      </p:pic>
      <p:sp>
        <p:nvSpPr>
          <p:cNvPr id="32" name="AutoShape 9">
            <a:extLst>
              <a:ext uri="{FF2B5EF4-FFF2-40B4-BE49-F238E27FC236}">
                <a16:creationId xmlns:a16="http://schemas.microsoft.com/office/drawing/2014/main" id="{9F415F3F-3FC8-66D8-B0E2-0EF5FCC58345}"/>
              </a:ext>
            </a:extLst>
          </p:cNvPr>
          <p:cNvSpPr/>
          <p:nvPr/>
        </p:nvSpPr>
        <p:spPr>
          <a:xfrm>
            <a:off x="965200" y="13900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企业信息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sp>
        <p:nvSpPr>
          <p:cNvPr id="35" name="AutoShape 13">
            <a:extLst>
              <a:ext uri="{FF2B5EF4-FFF2-40B4-BE49-F238E27FC236}">
                <a16:creationId xmlns:a16="http://schemas.microsoft.com/office/drawing/2014/main" id="{C685D150-8115-289E-47FE-8A125872FA4A}"/>
              </a:ext>
            </a:extLst>
          </p:cNvPr>
          <p:cNvSpPr/>
          <p:nvPr/>
        </p:nvSpPr>
        <p:spPr>
          <a:xfrm>
            <a:off x="965200" y="1905094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成交历史</a:t>
            </a:r>
            <a:endParaRPr lang="en-US" sz="1100" dirty="0"/>
          </a:p>
        </p:txBody>
      </p:sp>
      <p:pic>
        <p:nvPicPr>
          <p:cNvPr id="36" name="Picture 14">
            <a:extLst>
              <a:ext uri="{FF2B5EF4-FFF2-40B4-BE49-F238E27FC236}">
                <a16:creationId xmlns:a16="http://schemas.microsoft.com/office/drawing/2014/main" id="{7E135167-DFD6-1483-093E-B9BB8F11B6C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" y="1955894"/>
            <a:ext cx="2032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583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2E13B-E694-D2D9-F9EC-DC7C29427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3999A3F-F0C4-C744-6894-E7BC6D352A50}"/>
              </a:ext>
            </a:extLst>
          </p:cNvPr>
          <p:cNvSpPr/>
          <p:nvPr/>
        </p:nvSpPr>
        <p:spPr>
          <a:xfrm>
            <a:off x="508000" y="203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电力市场</a:t>
            </a:r>
            <a:r>
              <a:rPr lang="en-US" sz="1800" b="1" i="0" u="none" strike="noStrike" dirty="0" err="1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lang="en-US" sz="1100" dirty="0"/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B536AEF1-793F-5BB5-463F-DFC3A5F61572}"/>
              </a:ext>
            </a:extLst>
          </p:cNvPr>
          <p:cNvCxnSpPr/>
          <p:nvPr/>
        </p:nvCxnSpPr>
        <p:spPr>
          <a:xfrm rot="-3906">
            <a:off x="508004" y="704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C60157D6-B098-36ED-B128-57AC4DC10D22}"/>
              </a:ext>
            </a:extLst>
          </p:cNvPr>
          <p:cNvSpPr/>
          <p:nvPr/>
        </p:nvSpPr>
        <p:spPr>
          <a:xfrm>
            <a:off x="508000" y="914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lang="en-US" sz="1100" dirty="0"/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B8EB5BD0-F193-5521-B4A6-D1A221646D10}"/>
              </a:ext>
            </a:extLst>
          </p:cNvPr>
          <p:cNvCxnSpPr>
            <a:cxnSpLocks/>
          </p:cNvCxnSpPr>
          <p:nvPr/>
        </p:nvCxnSpPr>
        <p:spPr>
          <a:xfrm>
            <a:off x="1990706" y="942109"/>
            <a:ext cx="20461" cy="796287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>
            <a:extLst>
              <a:ext uri="{FF2B5EF4-FFF2-40B4-BE49-F238E27FC236}">
                <a16:creationId xmlns:a16="http://schemas.microsoft.com/office/drawing/2014/main" id="{7067854C-D9B5-EFEB-CEA3-CF216D8C1B24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508B0D4D-BA30-FAD5-933A-A1CA215D41F8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E88A8EB7-1749-8D2B-000C-C57FEF4F698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253CC12B-4946-2AD6-ECD0-A240BB1DC01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2ACCADAF-C294-61DC-5BEF-6971C0C54CBD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C3FFC2D7-7463-B815-1804-3CF5553D68A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9BF41408-FC21-A198-F911-49391CB16CBD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F047B209-E280-4CBD-ADAD-37D9E8A5356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E36C3C0B-FAC3-FDC4-4FA4-9DDE315A8A5B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C5DA89BF-58CA-5F22-75F5-0A6561AC386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350C1E55-A67C-C801-0515-762978C8249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CC9D26A4-26F1-A7E1-BD4F-5D39A6FB27C8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03C04CDC-0B8E-6562-4391-DE42FDFD3B7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DAC1C6F0-9EBB-2DD7-8FA8-E86CB266868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2C41FBFA-5982-FD4B-5CEC-0C787C83A12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2D545F11-60EC-D341-7016-69033301131A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E166CF50-80DF-F410-0EEF-DAF1676AD3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144" y="2956748"/>
            <a:ext cx="203200" cy="203200"/>
          </a:xfrm>
          <a:prstGeom prst="rect">
            <a:avLst/>
          </a:prstGeom>
        </p:spPr>
      </p:pic>
      <p:sp>
        <p:nvSpPr>
          <p:cNvPr id="8" name="AutoShape 11">
            <a:extLst>
              <a:ext uri="{FF2B5EF4-FFF2-40B4-BE49-F238E27FC236}">
                <a16:creationId xmlns:a16="http://schemas.microsoft.com/office/drawing/2014/main" id="{8036B5C4-E8E6-F435-28F1-923B4AE5C01F}"/>
              </a:ext>
            </a:extLst>
          </p:cNvPr>
          <p:cNvSpPr/>
          <p:nvPr/>
        </p:nvSpPr>
        <p:spPr>
          <a:xfrm>
            <a:off x="944944" y="2905948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市场交易</a:t>
            </a:r>
            <a:endParaRPr lang="en-US" altLang="zh-CN" sz="1100" dirty="0"/>
          </a:p>
        </p:txBody>
      </p:sp>
      <p:pic>
        <p:nvPicPr>
          <p:cNvPr id="19" name="Picture 8">
            <a:extLst>
              <a:ext uri="{FF2B5EF4-FFF2-40B4-BE49-F238E27FC236}">
                <a16:creationId xmlns:a16="http://schemas.microsoft.com/office/drawing/2014/main" id="{B3AD5AAF-74B5-44B5-EDE8-809FCA7C04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1440873"/>
            <a:ext cx="203200" cy="203200"/>
          </a:xfrm>
          <a:prstGeom prst="rect">
            <a:avLst/>
          </a:prstGeom>
        </p:spPr>
      </p:pic>
      <p:sp>
        <p:nvSpPr>
          <p:cNvPr id="20" name="AutoShape 9">
            <a:extLst>
              <a:ext uri="{FF2B5EF4-FFF2-40B4-BE49-F238E27FC236}">
                <a16:creationId xmlns:a16="http://schemas.microsoft.com/office/drawing/2014/main" id="{1936E843-97DE-7D8D-2143-B3AE64A3E28D}"/>
              </a:ext>
            </a:extLst>
          </p:cNvPr>
          <p:cNvSpPr/>
          <p:nvPr/>
        </p:nvSpPr>
        <p:spPr>
          <a:xfrm>
            <a:off x="965200" y="13900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企业信息</a:t>
            </a:r>
            <a:endParaRPr lang="en-US" sz="1100" dirty="0"/>
          </a:p>
        </p:txBody>
      </p:sp>
      <p:pic>
        <p:nvPicPr>
          <p:cNvPr id="33" name="Picture 12">
            <a:extLst>
              <a:ext uri="{FF2B5EF4-FFF2-40B4-BE49-F238E27FC236}">
                <a16:creationId xmlns:a16="http://schemas.microsoft.com/office/drawing/2014/main" id="{1EDD933A-2BF9-A557-B7B1-28896590032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144" y="3485574"/>
            <a:ext cx="203200" cy="203200"/>
          </a:xfrm>
          <a:prstGeom prst="rect">
            <a:avLst/>
          </a:prstGeom>
        </p:spPr>
      </p:pic>
      <p:sp>
        <p:nvSpPr>
          <p:cNvPr id="34" name="AutoShape 13">
            <a:extLst>
              <a:ext uri="{FF2B5EF4-FFF2-40B4-BE49-F238E27FC236}">
                <a16:creationId xmlns:a16="http://schemas.microsoft.com/office/drawing/2014/main" id="{DFC3730A-5A75-69F7-C885-62A9F1524914}"/>
              </a:ext>
            </a:extLst>
          </p:cNvPr>
          <p:cNvSpPr/>
          <p:nvPr/>
        </p:nvSpPr>
        <p:spPr>
          <a:xfrm>
            <a:off x="944944" y="3434774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结算报告</a:t>
            </a:r>
            <a:endParaRPr lang="en-US" altLang="zh-CN" sz="1100" dirty="0"/>
          </a:p>
        </p:txBody>
      </p:sp>
      <p:sp>
        <p:nvSpPr>
          <p:cNvPr id="36" name="AutoShape 5">
            <a:extLst>
              <a:ext uri="{FF2B5EF4-FFF2-40B4-BE49-F238E27FC236}">
                <a16:creationId xmlns:a16="http://schemas.microsoft.com/office/drawing/2014/main" id="{1D808DAE-83F4-67B2-6BB2-52157860000F}"/>
              </a:ext>
            </a:extLst>
          </p:cNvPr>
          <p:cNvSpPr/>
          <p:nvPr/>
        </p:nvSpPr>
        <p:spPr>
          <a:xfrm>
            <a:off x="561058" y="1772763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F8989BD4-B9A3-B51C-F187-789E31ABFC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678242"/>
              </p:ext>
            </p:extLst>
          </p:nvPr>
        </p:nvGraphicFramePr>
        <p:xfrm>
          <a:off x="2655614" y="1755654"/>
          <a:ext cx="4673600" cy="1325880"/>
        </p:xfrm>
        <a:graphic>
          <a:graphicData uri="http://schemas.openxmlformats.org/drawingml/2006/table">
            <a:tbl>
              <a:tblPr/>
              <a:tblGrid>
                <a:gridCol w="1206500">
                  <a:extLst>
                    <a:ext uri="{9D8B030D-6E8A-4147-A177-3AD203B41FA5}">
                      <a16:colId xmlns:a16="http://schemas.microsoft.com/office/drawing/2014/main" val="4088135211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3451582266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573640865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256978484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名称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时段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时段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时段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15488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出清电价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248.40816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247.68016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247.36712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63204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风电消纳功率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2.084606584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2.038552301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2.152029634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7643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光伏消纳功率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66304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总负荷功率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57.42181911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56.1613802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55.15079709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867632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供需比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1.601567058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1.601567058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1.601567058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041923"/>
                  </a:ext>
                </a:extLst>
              </a:tr>
            </a:tbl>
          </a:graphicData>
        </a:graphic>
      </p:graphicFrame>
      <p:sp>
        <p:nvSpPr>
          <p:cNvPr id="6" name="AutoShape 5">
            <a:extLst>
              <a:ext uri="{FF2B5EF4-FFF2-40B4-BE49-F238E27FC236}">
                <a16:creationId xmlns:a16="http://schemas.microsoft.com/office/drawing/2014/main" id="{7380E23B-D06C-5486-FD2B-6CAAE3F44497}"/>
              </a:ext>
            </a:extLst>
          </p:cNvPr>
          <p:cNvSpPr/>
          <p:nvPr/>
        </p:nvSpPr>
        <p:spPr>
          <a:xfrm>
            <a:off x="2233571" y="808770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3">
            <a:extLst>
              <a:ext uri="{FF2B5EF4-FFF2-40B4-BE49-F238E27FC236}">
                <a16:creationId xmlns:a16="http://schemas.microsoft.com/office/drawing/2014/main" id="{DDA41E7C-64B7-0C2D-4E9D-C93765F66E39}"/>
              </a:ext>
            </a:extLst>
          </p:cNvPr>
          <p:cNvSpPr/>
          <p:nvPr/>
        </p:nvSpPr>
        <p:spPr>
          <a:xfrm>
            <a:off x="2381404" y="89414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历史总览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sp>
        <p:nvSpPr>
          <p:cNvPr id="9" name="AutoShape 11">
            <a:extLst>
              <a:ext uri="{FF2B5EF4-FFF2-40B4-BE49-F238E27FC236}">
                <a16:creationId xmlns:a16="http://schemas.microsoft.com/office/drawing/2014/main" id="{8D71C74F-FF36-2A59-9136-650A2C5C0F3B}"/>
              </a:ext>
            </a:extLst>
          </p:cNvPr>
          <p:cNvSpPr/>
          <p:nvPr/>
        </p:nvSpPr>
        <p:spPr>
          <a:xfrm>
            <a:off x="3736084" y="88497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历史详情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sp>
        <p:nvSpPr>
          <p:cNvPr id="10" name="AutoShape 13">
            <a:extLst>
              <a:ext uri="{FF2B5EF4-FFF2-40B4-BE49-F238E27FC236}">
                <a16:creationId xmlns:a16="http://schemas.microsoft.com/office/drawing/2014/main" id="{FA6A3586-0CE3-C2F6-97DB-355EE452F54A}"/>
              </a:ext>
            </a:extLst>
          </p:cNvPr>
          <p:cNvSpPr/>
          <p:nvPr/>
        </p:nvSpPr>
        <p:spPr>
          <a:xfrm>
            <a:off x="965200" y="1826004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成交历史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pic>
        <p:nvPicPr>
          <p:cNvPr id="11" name="Picture 14">
            <a:extLst>
              <a:ext uri="{FF2B5EF4-FFF2-40B4-BE49-F238E27FC236}">
                <a16:creationId xmlns:a16="http://schemas.microsoft.com/office/drawing/2014/main" id="{5C97EB45-9466-9897-B4DB-FDE43A674B8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" y="1876804"/>
            <a:ext cx="203200" cy="203200"/>
          </a:xfrm>
          <a:prstGeom prst="rect">
            <a:avLst/>
          </a:prstGeom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FBBCB681-67C0-7BB1-8929-FE86F819EAD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" y="2448916"/>
            <a:ext cx="203200" cy="203200"/>
          </a:xfrm>
          <a:prstGeom prst="rect">
            <a:avLst/>
          </a:prstGeom>
        </p:spPr>
      </p:pic>
      <p:sp>
        <p:nvSpPr>
          <p:cNvPr id="13" name="AutoShape 7">
            <a:extLst>
              <a:ext uri="{FF2B5EF4-FFF2-40B4-BE49-F238E27FC236}">
                <a16:creationId xmlns:a16="http://schemas.microsoft.com/office/drawing/2014/main" id="{66048A61-5681-F7B0-B8F0-EE8F421B1E04}"/>
              </a:ext>
            </a:extLst>
          </p:cNvPr>
          <p:cNvSpPr/>
          <p:nvPr/>
        </p:nvSpPr>
        <p:spPr>
          <a:xfrm>
            <a:off x="965200" y="23981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信息披露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3412581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27387-EB4F-C9B1-C786-1D52AFA46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84653AB-642C-DB8D-0B5D-5C67271ECA70}"/>
              </a:ext>
            </a:extLst>
          </p:cNvPr>
          <p:cNvSpPr/>
          <p:nvPr/>
        </p:nvSpPr>
        <p:spPr>
          <a:xfrm>
            <a:off x="508000" y="203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电力市场</a:t>
            </a:r>
            <a:r>
              <a:rPr lang="en-US" sz="1800" b="1" i="0" u="none" strike="noStrike" dirty="0" err="1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lang="en-US" sz="1100" dirty="0"/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30564177-2CD2-AD05-5601-F101468E2AAE}"/>
              </a:ext>
            </a:extLst>
          </p:cNvPr>
          <p:cNvCxnSpPr/>
          <p:nvPr/>
        </p:nvCxnSpPr>
        <p:spPr>
          <a:xfrm rot="-3906">
            <a:off x="508004" y="704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68A155A3-4D4B-ABA0-3962-E5D8FCB21D31}"/>
              </a:ext>
            </a:extLst>
          </p:cNvPr>
          <p:cNvSpPr/>
          <p:nvPr/>
        </p:nvSpPr>
        <p:spPr>
          <a:xfrm>
            <a:off x="508000" y="914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lang="en-US" sz="1100" dirty="0"/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82D9F2D9-9A44-AFDD-CDF6-E7C783455C76}"/>
              </a:ext>
            </a:extLst>
          </p:cNvPr>
          <p:cNvCxnSpPr>
            <a:cxnSpLocks/>
          </p:cNvCxnSpPr>
          <p:nvPr/>
        </p:nvCxnSpPr>
        <p:spPr>
          <a:xfrm>
            <a:off x="1990706" y="942109"/>
            <a:ext cx="20461" cy="796287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>
            <a:extLst>
              <a:ext uri="{FF2B5EF4-FFF2-40B4-BE49-F238E27FC236}">
                <a16:creationId xmlns:a16="http://schemas.microsoft.com/office/drawing/2014/main" id="{F7FCBCFF-F565-1DD4-280C-7A9C1BAAB50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DA736D26-2BCE-42FF-B712-E552DE126CA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ADB0157B-55D6-6C9D-50F3-699B0FB4DDA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19098BDD-0E7C-3FE9-BD06-EA0EAB1A09C2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110D9E0E-608C-F910-CCFA-96A66FCF2E7B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5332D2F1-96B4-851A-9613-C5BDF193EDD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11F4E1B5-BA38-BAE2-0CF5-D34EAC71043A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347A9468-C20A-7EFA-1775-C9536DC53FC8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BAA46D43-859F-FC61-A808-1AFDDF7C151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0FA2F84D-8F46-9764-DF5F-C1F9E29595C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AD7AB0A5-BBA2-8FF6-64C5-EA320F6FEEC2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F4053F8C-B86F-C16F-9A2E-1C6A540515FB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6826E21A-4AEC-3DE4-AA66-7DD9AD5F437B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B3E13520-C60D-159F-71D9-B31E26E7FFA1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590E7CF7-FB6D-5F76-5E1E-7679AAD1DBC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F1DFA385-2027-D83D-664E-528856D79B8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B5F2076-C71E-805A-C851-C4BCE1C49A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697579"/>
              </p:ext>
            </p:extLst>
          </p:nvPr>
        </p:nvGraphicFramePr>
        <p:xfrm>
          <a:off x="2511779" y="2141325"/>
          <a:ext cx="4546600" cy="2430780"/>
        </p:xfrm>
        <a:graphic>
          <a:graphicData uri="http://schemas.openxmlformats.org/drawingml/2006/table">
            <a:tbl>
              <a:tblPr/>
              <a:tblGrid>
                <a:gridCol w="939800">
                  <a:extLst>
                    <a:ext uri="{9D8B030D-6E8A-4147-A177-3AD203B41FA5}">
                      <a16:colId xmlns:a16="http://schemas.microsoft.com/office/drawing/2014/main" val="374157835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31648256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782523960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3623491188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编号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机组编号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报价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报量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179074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Thermal_1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222.38944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2321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Thermal_1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223.50328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60421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Thermal_1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224.61712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179173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Thermal_1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225.73096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627050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Thermal_1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226.8448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10282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Thermal_1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227.95864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01444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Thermal_1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229.07248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737092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Thermal_1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230.18632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334140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Thermal_1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231.30016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20889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Thermal_1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232.414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98853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F65C5097-BF91-EA42-7673-BB193A4851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866191"/>
              </p:ext>
            </p:extLst>
          </p:nvPr>
        </p:nvGraphicFramePr>
        <p:xfrm>
          <a:off x="2452909" y="5382260"/>
          <a:ext cx="4546600" cy="662940"/>
        </p:xfrm>
        <a:graphic>
          <a:graphicData uri="http://schemas.openxmlformats.org/drawingml/2006/table">
            <a:tbl>
              <a:tblPr/>
              <a:tblGrid>
                <a:gridCol w="939800">
                  <a:extLst>
                    <a:ext uri="{9D8B030D-6E8A-4147-A177-3AD203B41FA5}">
                      <a16:colId xmlns:a16="http://schemas.microsoft.com/office/drawing/2014/main" val="210082497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827005334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1707547404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3794586865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编号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机组编号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报价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报量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187911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Thermal_1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8.2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008207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Thermal_2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6.3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307564"/>
                  </a:ext>
                </a:extLst>
              </a:tr>
            </a:tbl>
          </a:graphicData>
        </a:graphic>
      </p:graphicFrame>
      <p:sp>
        <p:nvSpPr>
          <p:cNvPr id="12" name="AutoShape 5">
            <a:extLst>
              <a:ext uri="{FF2B5EF4-FFF2-40B4-BE49-F238E27FC236}">
                <a16:creationId xmlns:a16="http://schemas.microsoft.com/office/drawing/2014/main" id="{1D37FFBE-9CAC-30B5-CD32-14473240B5F3}"/>
              </a:ext>
            </a:extLst>
          </p:cNvPr>
          <p:cNvSpPr/>
          <p:nvPr/>
        </p:nvSpPr>
        <p:spPr>
          <a:xfrm>
            <a:off x="3899811" y="812800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1170994A-4E13-C0C0-8DCF-A7C5B14812BF}"/>
              </a:ext>
            </a:extLst>
          </p:cNvPr>
          <p:cNvSpPr/>
          <p:nvPr/>
        </p:nvSpPr>
        <p:spPr>
          <a:xfrm>
            <a:off x="4047644" y="8981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历史详情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sp>
        <p:nvSpPr>
          <p:cNvPr id="14" name="AutoShape 11">
            <a:extLst>
              <a:ext uri="{FF2B5EF4-FFF2-40B4-BE49-F238E27FC236}">
                <a16:creationId xmlns:a16="http://schemas.microsoft.com/office/drawing/2014/main" id="{09414297-1198-28BC-8FC6-16238EC0E5A7}"/>
              </a:ext>
            </a:extLst>
          </p:cNvPr>
          <p:cNvSpPr/>
          <p:nvPr/>
        </p:nvSpPr>
        <p:spPr>
          <a:xfrm>
            <a:off x="2407093" y="91242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历史总览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5F11C869-C9FE-B5ED-8263-7E1A9B14A82F}"/>
              </a:ext>
            </a:extLst>
          </p:cNvPr>
          <p:cNvSpPr/>
          <p:nvPr/>
        </p:nvSpPr>
        <p:spPr>
          <a:xfrm>
            <a:off x="2496000" y="1367120"/>
            <a:ext cx="720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现货市场申报</a:t>
            </a: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B0DBBB25-5FFA-576E-7440-2EAEC2F60EC5}"/>
              </a:ext>
            </a:extLst>
          </p:cNvPr>
          <p:cNvSpPr/>
          <p:nvPr/>
        </p:nvSpPr>
        <p:spPr>
          <a:xfrm>
            <a:off x="2452909" y="4670583"/>
            <a:ext cx="720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辅助服务市场申报</a:t>
            </a:r>
          </a:p>
        </p:txBody>
      </p:sp>
      <p:pic>
        <p:nvPicPr>
          <p:cNvPr id="8" name="Picture 10">
            <a:extLst>
              <a:ext uri="{FF2B5EF4-FFF2-40B4-BE49-F238E27FC236}">
                <a16:creationId xmlns:a16="http://schemas.microsoft.com/office/drawing/2014/main" id="{DE048364-995F-604F-AE91-2AFBF80E6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144" y="2956748"/>
            <a:ext cx="203200" cy="203200"/>
          </a:xfrm>
          <a:prstGeom prst="rect">
            <a:avLst/>
          </a:prstGeom>
        </p:spPr>
      </p:pic>
      <p:sp>
        <p:nvSpPr>
          <p:cNvPr id="10" name="AutoShape 11">
            <a:extLst>
              <a:ext uri="{FF2B5EF4-FFF2-40B4-BE49-F238E27FC236}">
                <a16:creationId xmlns:a16="http://schemas.microsoft.com/office/drawing/2014/main" id="{8B9B8DE7-A006-8830-BEA3-F06760BD44A0}"/>
              </a:ext>
            </a:extLst>
          </p:cNvPr>
          <p:cNvSpPr/>
          <p:nvPr/>
        </p:nvSpPr>
        <p:spPr>
          <a:xfrm>
            <a:off x="944944" y="2905948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市场交易</a:t>
            </a:r>
            <a:endParaRPr lang="en-US" altLang="zh-CN" sz="1100" dirty="0"/>
          </a:p>
        </p:txBody>
      </p:sp>
      <p:pic>
        <p:nvPicPr>
          <p:cNvPr id="11" name="Picture 8">
            <a:extLst>
              <a:ext uri="{FF2B5EF4-FFF2-40B4-BE49-F238E27FC236}">
                <a16:creationId xmlns:a16="http://schemas.microsoft.com/office/drawing/2014/main" id="{885593C0-F289-CDC5-85C2-038CABB709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1440873"/>
            <a:ext cx="203200" cy="203200"/>
          </a:xfrm>
          <a:prstGeom prst="rect">
            <a:avLst/>
          </a:prstGeom>
        </p:spPr>
      </p:pic>
      <p:sp>
        <p:nvSpPr>
          <p:cNvPr id="19" name="AutoShape 9">
            <a:extLst>
              <a:ext uri="{FF2B5EF4-FFF2-40B4-BE49-F238E27FC236}">
                <a16:creationId xmlns:a16="http://schemas.microsoft.com/office/drawing/2014/main" id="{9552FC96-B68C-7350-BD7B-982D64996B99}"/>
              </a:ext>
            </a:extLst>
          </p:cNvPr>
          <p:cNvSpPr/>
          <p:nvPr/>
        </p:nvSpPr>
        <p:spPr>
          <a:xfrm>
            <a:off x="965200" y="13900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企业信息</a:t>
            </a:r>
            <a:endParaRPr lang="en-US" sz="1100" dirty="0"/>
          </a:p>
        </p:txBody>
      </p:sp>
      <p:pic>
        <p:nvPicPr>
          <p:cNvPr id="20" name="Picture 12">
            <a:extLst>
              <a:ext uri="{FF2B5EF4-FFF2-40B4-BE49-F238E27FC236}">
                <a16:creationId xmlns:a16="http://schemas.microsoft.com/office/drawing/2014/main" id="{D7AE792C-A4AB-3639-6D5A-A7988EB6DA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144" y="3485574"/>
            <a:ext cx="203200" cy="203200"/>
          </a:xfrm>
          <a:prstGeom prst="rect">
            <a:avLst/>
          </a:prstGeom>
        </p:spPr>
      </p:pic>
      <p:sp>
        <p:nvSpPr>
          <p:cNvPr id="33" name="AutoShape 13">
            <a:extLst>
              <a:ext uri="{FF2B5EF4-FFF2-40B4-BE49-F238E27FC236}">
                <a16:creationId xmlns:a16="http://schemas.microsoft.com/office/drawing/2014/main" id="{4A086521-0B02-75C9-5F25-8D19D7BC6428}"/>
              </a:ext>
            </a:extLst>
          </p:cNvPr>
          <p:cNvSpPr/>
          <p:nvPr/>
        </p:nvSpPr>
        <p:spPr>
          <a:xfrm>
            <a:off x="944944" y="3434774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结算报告</a:t>
            </a:r>
            <a:endParaRPr lang="en-US" altLang="zh-CN" sz="1100" dirty="0"/>
          </a:p>
        </p:txBody>
      </p:sp>
      <p:sp>
        <p:nvSpPr>
          <p:cNvPr id="34" name="AutoShape 5">
            <a:extLst>
              <a:ext uri="{FF2B5EF4-FFF2-40B4-BE49-F238E27FC236}">
                <a16:creationId xmlns:a16="http://schemas.microsoft.com/office/drawing/2014/main" id="{AF5921EE-1BBD-DC55-F968-AA90203109D0}"/>
              </a:ext>
            </a:extLst>
          </p:cNvPr>
          <p:cNvSpPr/>
          <p:nvPr/>
        </p:nvSpPr>
        <p:spPr>
          <a:xfrm>
            <a:off x="561058" y="1772763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13">
            <a:extLst>
              <a:ext uri="{FF2B5EF4-FFF2-40B4-BE49-F238E27FC236}">
                <a16:creationId xmlns:a16="http://schemas.microsoft.com/office/drawing/2014/main" id="{DC61D0C6-C5AE-34C4-DD74-7C8FC7C53AF2}"/>
              </a:ext>
            </a:extLst>
          </p:cNvPr>
          <p:cNvSpPr/>
          <p:nvPr/>
        </p:nvSpPr>
        <p:spPr>
          <a:xfrm>
            <a:off x="965200" y="1826004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成交历史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pic>
        <p:nvPicPr>
          <p:cNvPr id="45" name="Picture 14">
            <a:extLst>
              <a:ext uri="{FF2B5EF4-FFF2-40B4-BE49-F238E27FC236}">
                <a16:creationId xmlns:a16="http://schemas.microsoft.com/office/drawing/2014/main" id="{5276EE76-10ED-633C-4785-34BFD3290F4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" y="1876804"/>
            <a:ext cx="203200" cy="203200"/>
          </a:xfrm>
          <a:prstGeom prst="rect">
            <a:avLst/>
          </a:prstGeom>
        </p:spPr>
      </p:pic>
      <p:pic>
        <p:nvPicPr>
          <p:cNvPr id="46" name="Picture 6">
            <a:extLst>
              <a:ext uri="{FF2B5EF4-FFF2-40B4-BE49-F238E27FC236}">
                <a16:creationId xmlns:a16="http://schemas.microsoft.com/office/drawing/2014/main" id="{F4C96E37-56C3-A074-2426-ABE0B7589F8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" y="2448916"/>
            <a:ext cx="203200" cy="203200"/>
          </a:xfrm>
          <a:prstGeom prst="rect">
            <a:avLst/>
          </a:prstGeom>
        </p:spPr>
      </p:pic>
      <p:sp>
        <p:nvSpPr>
          <p:cNvPr id="50" name="AutoShape 7">
            <a:extLst>
              <a:ext uri="{FF2B5EF4-FFF2-40B4-BE49-F238E27FC236}">
                <a16:creationId xmlns:a16="http://schemas.microsoft.com/office/drawing/2014/main" id="{3230B6AE-C101-72EA-A665-453DEE834DE4}"/>
              </a:ext>
            </a:extLst>
          </p:cNvPr>
          <p:cNvSpPr/>
          <p:nvPr/>
        </p:nvSpPr>
        <p:spPr>
          <a:xfrm>
            <a:off x="965200" y="23981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信息披露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sp>
        <p:nvSpPr>
          <p:cNvPr id="51" name="AutoShape 5">
            <a:extLst>
              <a:ext uri="{FF2B5EF4-FFF2-40B4-BE49-F238E27FC236}">
                <a16:creationId xmlns:a16="http://schemas.microsoft.com/office/drawing/2014/main" id="{69675D67-BE8F-9B88-C428-1CF64C061EA7}"/>
              </a:ext>
            </a:extLst>
          </p:cNvPr>
          <p:cNvSpPr/>
          <p:nvPr/>
        </p:nvSpPr>
        <p:spPr>
          <a:xfrm>
            <a:off x="2496000" y="1730218"/>
            <a:ext cx="720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报价单位为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元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/MWh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，报量单位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MW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，报价和报量下数字表示第几段报价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2" name="AutoShape 5">
            <a:extLst>
              <a:ext uri="{FF2B5EF4-FFF2-40B4-BE49-F238E27FC236}">
                <a16:creationId xmlns:a16="http://schemas.microsoft.com/office/drawing/2014/main" id="{D929FB8B-C6AB-9761-7FDA-E5A1F200B14A}"/>
              </a:ext>
            </a:extLst>
          </p:cNvPr>
          <p:cNvSpPr/>
          <p:nvPr/>
        </p:nvSpPr>
        <p:spPr>
          <a:xfrm>
            <a:off x="2452909" y="4980820"/>
            <a:ext cx="720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报价单位为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元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/MWh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，报量单位为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MW</a:t>
            </a:r>
          </a:p>
        </p:txBody>
      </p:sp>
      <p:graphicFrame>
        <p:nvGraphicFramePr>
          <p:cNvPr id="53" name="表格 52">
            <a:extLst>
              <a:ext uri="{FF2B5EF4-FFF2-40B4-BE49-F238E27FC236}">
                <a16:creationId xmlns:a16="http://schemas.microsoft.com/office/drawing/2014/main" id="{CFB77595-3E28-CA40-69E5-51D27CB474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137578"/>
              </p:ext>
            </p:extLst>
          </p:nvPr>
        </p:nvGraphicFramePr>
        <p:xfrm>
          <a:off x="7422700" y="2121220"/>
          <a:ext cx="4546600" cy="883920"/>
        </p:xfrm>
        <a:graphic>
          <a:graphicData uri="http://schemas.openxmlformats.org/drawingml/2006/table">
            <a:tbl>
              <a:tblPr/>
              <a:tblGrid>
                <a:gridCol w="939800">
                  <a:extLst>
                    <a:ext uri="{9D8B030D-6E8A-4147-A177-3AD203B41FA5}">
                      <a16:colId xmlns:a16="http://schemas.microsoft.com/office/drawing/2014/main" val="374157835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31648256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782523960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3623491188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编号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机组编号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报价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报量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179074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1 2 3 10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992230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Thermal_1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222.38944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2321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Thermal_2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223.50328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604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2731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2A020-1B1A-0C1E-B851-77A55199B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A6B14F1-A2D1-AB36-A340-C9CCC56C8F3F}"/>
              </a:ext>
            </a:extLst>
          </p:cNvPr>
          <p:cNvSpPr/>
          <p:nvPr/>
        </p:nvSpPr>
        <p:spPr>
          <a:xfrm>
            <a:off x="508000" y="203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电力市场</a:t>
            </a:r>
            <a:r>
              <a:rPr lang="en-US" sz="1800" b="1" i="0" u="none" strike="noStrike" dirty="0" err="1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lang="en-US" sz="1100" dirty="0"/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C7DA7E6C-0E6F-CE85-4EB4-41EBA011A0FF}"/>
              </a:ext>
            </a:extLst>
          </p:cNvPr>
          <p:cNvCxnSpPr/>
          <p:nvPr/>
        </p:nvCxnSpPr>
        <p:spPr>
          <a:xfrm rot="-3906">
            <a:off x="508004" y="704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ACB89F1B-8065-8D49-ED33-4F4CC2A70F46}"/>
              </a:ext>
            </a:extLst>
          </p:cNvPr>
          <p:cNvSpPr/>
          <p:nvPr/>
        </p:nvSpPr>
        <p:spPr>
          <a:xfrm>
            <a:off x="508000" y="914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lang="en-US" sz="1100" dirty="0"/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3D3A669F-78ED-6218-1E34-E4D1C76FF2FB}"/>
              </a:ext>
            </a:extLst>
          </p:cNvPr>
          <p:cNvCxnSpPr>
            <a:cxnSpLocks/>
          </p:cNvCxnSpPr>
          <p:nvPr/>
        </p:nvCxnSpPr>
        <p:spPr>
          <a:xfrm>
            <a:off x="1990706" y="942109"/>
            <a:ext cx="20461" cy="796287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>
            <a:extLst>
              <a:ext uri="{FF2B5EF4-FFF2-40B4-BE49-F238E27FC236}">
                <a16:creationId xmlns:a16="http://schemas.microsoft.com/office/drawing/2014/main" id="{1A22CC52-B4FE-9704-4B37-37C716A99E94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92AA36E8-65E4-A423-208A-A150F944CD5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24DCE978-297F-246D-0209-39C9D703BA8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E744CA1B-749D-D4BB-5B49-7332F706411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8F088A48-8632-7E4A-7C6A-AA8629119E1D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56DEEDE8-49FC-5CE1-15FE-7704A2D5038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C9846077-CF7B-598F-0914-9705A69A06E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F11FB8F7-BBF0-1245-B9F4-F28C6BA0E304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E79497C9-9D1F-0CD4-0096-1068F21C5DAF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0A8A1B6B-EA4F-0914-2B91-7EA2EE5DE5D1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755D9E3E-CFFB-4875-4339-18727901B5AD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935988B8-3E6E-9AFF-E384-AB8D6CF29C3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EA4CAFD1-0500-CCAB-0312-BBE19923A9C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BA480BA9-51BF-B15A-D49F-D2F8D67C4FAB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055BF7C6-2614-1E84-7414-04C22F85153D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8BB35342-7F64-2FC4-60CF-5B6088C9E02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9A806A5-6ED6-C920-ECB4-38F02F7DB2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102951"/>
              </p:ext>
            </p:extLst>
          </p:nvPr>
        </p:nvGraphicFramePr>
        <p:xfrm>
          <a:off x="3036673" y="2279650"/>
          <a:ext cx="3721100" cy="548640"/>
        </p:xfrm>
        <a:graphic>
          <a:graphicData uri="http://schemas.openxmlformats.org/drawingml/2006/table">
            <a:tbl>
              <a:tblPr/>
              <a:tblGrid>
                <a:gridCol w="930275">
                  <a:extLst>
                    <a:ext uri="{9D8B030D-6E8A-4147-A177-3AD203B41FA5}">
                      <a16:colId xmlns:a16="http://schemas.microsoft.com/office/drawing/2014/main" val="1447535226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713488200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1463587908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420613421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机组编号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类型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时段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时段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7290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Thermal_1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中标出力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555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555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31521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Thermal_2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中标出力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555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555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09508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49A719B-C98B-F08E-EE02-EA9B26CF9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939015"/>
              </p:ext>
            </p:extLst>
          </p:nvPr>
        </p:nvGraphicFramePr>
        <p:xfrm>
          <a:off x="3036673" y="4216400"/>
          <a:ext cx="3721100" cy="548640"/>
        </p:xfrm>
        <a:graphic>
          <a:graphicData uri="http://schemas.openxmlformats.org/drawingml/2006/table">
            <a:tbl>
              <a:tblPr/>
              <a:tblGrid>
                <a:gridCol w="930275">
                  <a:extLst>
                    <a:ext uri="{9D8B030D-6E8A-4147-A177-3AD203B41FA5}">
                      <a16:colId xmlns:a16="http://schemas.microsoft.com/office/drawing/2014/main" val="1447535226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713488200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1463587908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420613421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机组编号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类型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时段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时段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7290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Thermal_1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中标容量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31521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Thermal_2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中标容量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09508"/>
                  </a:ext>
                </a:extLst>
              </a:tr>
            </a:tbl>
          </a:graphicData>
        </a:graphic>
      </p:graphicFrame>
      <p:sp>
        <p:nvSpPr>
          <p:cNvPr id="7" name="AutoShape 5">
            <a:extLst>
              <a:ext uri="{FF2B5EF4-FFF2-40B4-BE49-F238E27FC236}">
                <a16:creationId xmlns:a16="http://schemas.microsoft.com/office/drawing/2014/main" id="{AC964003-5084-9440-5F5C-DFABAB11D650}"/>
              </a:ext>
            </a:extLst>
          </p:cNvPr>
          <p:cNvSpPr/>
          <p:nvPr/>
        </p:nvSpPr>
        <p:spPr>
          <a:xfrm>
            <a:off x="3899811" y="812800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13">
            <a:extLst>
              <a:ext uri="{FF2B5EF4-FFF2-40B4-BE49-F238E27FC236}">
                <a16:creationId xmlns:a16="http://schemas.microsoft.com/office/drawing/2014/main" id="{3C52B384-D6A0-DB21-2C74-4DEA72128E19}"/>
              </a:ext>
            </a:extLst>
          </p:cNvPr>
          <p:cNvSpPr/>
          <p:nvPr/>
        </p:nvSpPr>
        <p:spPr>
          <a:xfrm>
            <a:off x="4047644" y="8981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历史详情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AA167213-EB02-9739-4D1F-237EEFA0289E}"/>
              </a:ext>
            </a:extLst>
          </p:cNvPr>
          <p:cNvSpPr/>
          <p:nvPr/>
        </p:nvSpPr>
        <p:spPr>
          <a:xfrm>
            <a:off x="2407093" y="91242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历史总览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59C47134-E470-8CDA-1FB4-DB15E52090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144" y="2956748"/>
            <a:ext cx="203200" cy="203200"/>
          </a:xfrm>
          <a:prstGeom prst="rect">
            <a:avLst/>
          </a:prstGeom>
        </p:spPr>
      </p:pic>
      <p:sp>
        <p:nvSpPr>
          <p:cNvPr id="8" name="AutoShape 11">
            <a:extLst>
              <a:ext uri="{FF2B5EF4-FFF2-40B4-BE49-F238E27FC236}">
                <a16:creationId xmlns:a16="http://schemas.microsoft.com/office/drawing/2014/main" id="{9F3B3D4E-D644-62EC-9D07-26F3455177C5}"/>
              </a:ext>
            </a:extLst>
          </p:cNvPr>
          <p:cNvSpPr/>
          <p:nvPr/>
        </p:nvSpPr>
        <p:spPr>
          <a:xfrm>
            <a:off x="944944" y="2905948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市场交易</a:t>
            </a:r>
            <a:endParaRPr lang="en-US" altLang="zh-CN" sz="1100" dirty="0"/>
          </a:p>
        </p:txBody>
      </p:sp>
      <p:pic>
        <p:nvPicPr>
          <p:cNvPr id="19" name="Picture 8">
            <a:extLst>
              <a:ext uri="{FF2B5EF4-FFF2-40B4-BE49-F238E27FC236}">
                <a16:creationId xmlns:a16="http://schemas.microsoft.com/office/drawing/2014/main" id="{0EB8E268-27F4-5B8F-9E6E-F1F8F471C6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1440873"/>
            <a:ext cx="203200" cy="203200"/>
          </a:xfrm>
          <a:prstGeom prst="rect">
            <a:avLst/>
          </a:prstGeom>
        </p:spPr>
      </p:pic>
      <p:sp>
        <p:nvSpPr>
          <p:cNvPr id="20" name="AutoShape 9">
            <a:extLst>
              <a:ext uri="{FF2B5EF4-FFF2-40B4-BE49-F238E27FC236}">
                <a16:creationId xmlns:a16="http://schemas.microsoft.com/office/drawing/2014/main" id="{AE3BBC1B-44EB-899F-C8FA-6A276BC2B03C}"/>
              </a:ext>
            </a:extLst>
          </p:cNvPr>
          <p:cNvSpPr/>
          <p:nvPr/>
        </p:nvSpPr>
        <p:spPr>
          <a:xfrm>
            <a:off x="965200" y="13900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企业信息</a:t>
            </a:r>
            <a:endParaRPr lang="en-US" sz="1100" dirty="0"/>
          </a:p>
        </p:txBody>
      </p:sp>
      <p:pic>
        <p:nvPicPr>
          <p:cNvPr id="33" name="Picture 12">
            <a:extLst>
              <a:ext uri="{FF2B5EF4-FFF2-40B4-BE49-F238E27FC236}">
                <a16:creationId xmlns:a16="http://schemas.microsoft.com/office/drawing/2014/main" id="{F8F08E4E-E0B4-A4CE-30E1-7F508E9A0DA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144" y="3485574"/>
            <a:ext cx="203200" cy="203200"/>
          </a:xfrm>
          <a:prstGeom prst="rect">
            <a:avLst/>
          </a:prstGeom>
        </p:spPr>
      </p:pic>
      <p:sp>
        <p:nvSpPr>
          <p:cNvPr id="34" name="AutoShape 13">
            <a:extLst>
              <a:ext uri="{FF2B5EF4-FFF2-40B4-BE49-F238E27FC236}">
                <a16:creationId xmlns:a16="http://schemas.microsoft.com/office/drawing/2014/main" id="{FA984FF6-3005-ABF6-7AAD-B0C0B6A6DFAF}"/>
              </a:ext>
            </a:extLst>
          </p:cNvPr>
          <p:cNvSpPr/>
          <p:nvPr/>
        </p:nvSpPr>
        <p:spPr>
          <a:xfrm>
            <a:off x="944944" y="3434774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结算报告</a:t>
            </a:r>
            <a:endParaRPr lang="en-US" altLang="zh-CN" sz="1100" dirty="0"/>
          </a:p>
        </p:txBody>
      </p:sp>
      <p:sp>
        <p:nvSpPr>
          <p:cNvPr id="36" name="AutoShape 5">
            <a:extLst>
              <a:ext uri="{FF2B5EF4-FFF2-40B4-BE49-F238E27FC236}">
                <a16:creationId xmlns:a16="http://schemas.microsoft.com/office/drawing/2014/main" id="{EDE89126-413E-086A-CAFC-C43E0737C4E7}"/>
              </a:ext>
            </a:extLst>
          </p:cNvPr>
          <p:cNvSpPr/>
          <p:nvPr/>
        </p:nvSpPr>
        <p:spPr>
          <a:xfrm>
            <a:off x="561058" y="1772763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AutoShape 13">
            <a:extLst>
              <a:ext uri="{FF2B5EF4-FFF2-40B4-BE49-F238E27FC236}">
                <a16:creationId xmlns:a16="http://schemas.microsoft.com/office/drawing/2014/main" id="{C9FCD590-6C72-7075-5635-543D3B5CB1C5}"/>
              </a:ext>
            </a:extLst>
          </p:cNvPr>
          <p:cNvSpPr/>
          <p:nvPr/>
        </p:nvSpPr>
        <p:spPr>
          <a:xfrm>
            <a:off x="965200" y="1826004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成交历史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pic>
        <p:nvPicPr>
          <p:cNvPr id="46" name="Picture 14">
            <a:extLst>
              <a:ext uri="{FF2B5EF4-FFF2-40B4-BE49-F238E27FC236}">
                <a16:creationId xmlns:a16="http://schemas.microsoft.com/office/drawing/2014/main" id="{F85AC4F1-EBEE-266D-A77B-8FC3E426A47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" y="1876804"/>
            <a:ext cx="203200" cy="203200"/>
          </a:xfrm>
          <a:prstGeom prst="rect">
            <a:avLst/>
          </a:prstGeom>
        </p:spPr>
      </p:pic>
      <p:pic>
        <p:nvPicPr>
          <p:cNvPr id="47" name="Picture 6">
            <a:extLst>
              <a:ext uri="{FF2B5EF4-FFF2-40B4-BE49-F238E27FC236}">
                <a16:creationId xmlns:a16="http://schemas.microsoft.com/office/drawing/2014/main" id="{5746A138-942C-7168-44CF-FD13AD2A3ED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" y="2448916"/>
            <a:ext cx="203200" cy="203200"/>
          </a:xfrm>
          <a:prstGeom prst="rect">
            <a:avLst/>
          </a:prstGeom>
        </p:spPr>
      </p:pic>
      <p:sp>
        <p:nvSpPr>
          <p:cNvPr id="48" name="AutoShape 7">
            <a:extLst>
              <a:ext uri="{FF2B5EF4-FFF2-40B4-BE49-F238E27FC236}">
                <a16:creationId xmlns:a16="http://schemas.microsoft.com/office/drawing/2014/main" id="{BEE9ADD8-FD82-FCAD-EF32-68E142807543}"/>
              </a:ext>
            </a:extLst>
          </p:cNvPr>
          <p:cNvSpPr/>
          <p:nvPr/>
        </p:nvSpPr>
        <p:spPr>
          <a:xfrm>
            <a:off x="965200" y="23981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信息披露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sp>
        <p:nvSpPr>
          <p:cNvPr id="49" name="AutoShape 5">
            <a:extLst>
              <a:ext uri="{FF2B5EF4-FFF2-40B4-BE49-F238E27FC236}">
                <a16:creationId xmlns:a16="http://schemas.microsoft.com/office/drawing/2014/main" id="{0DD3809F-BD51-29FC-4B94-F3FB84035266}"/>
              </a:ext>
            </a:extLst>
          </p:cNvPr>
          <p:cNvSpPr/>
          <p:nvPr/>
        </p:nvSpPr>
        <p:spPr>
          <a:xfrm>
            <a:off x="2496000" y="1367120"/>
            <a:ext cx="720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电能量市场中标结果</a:t>
            </a:r>
            <a:endParaRPr lang="zh-CN" altLang="en-US" sz="16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3BEE2119-086A-E02C-8E98-5327661783EE}"/>
              </a:ext>
            </a:extLst>
          </p:cNvPr>
          <p:cNvSpPr/>
          <p:nvPr/>
        </p:nvSpPr>
        <p:spPr>
          <a:xfrm>
            <a:off x="2496000" y="1730218"/>
            <a:ext cx="720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中标出力单位为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MW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，中标均价单位为元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/MWh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2" name="AutoShape 5">
            <a:extLst>
              <a:ext uri="{FF2B5EF4-FFF2-40B4-BE49-F238E27FC236}">
                <a16:creationId xmlns:a16="http://schemas.microsoft.com/office/drawing/2014/main" id="{A0CD5433-4E40-ADFC-BEF5-128AF39D3799}"/>
              </a:ext>
            </a:extLst>
          </p:cNvPr>
          <p:cNvSpPr/>
          <p:nvPr/>
        </p:nvSpPr>
        <p:spPr>
          <a:xfrm>
            <a:off x="2496000" y="3282374"/>
            <a:ext cx="720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辅助服务市场中标结果</a:t>
            </a:r>
            <a:endParaRPr lang="zh-CN" altLang="en-US" sz="16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3" name="AutoShape 5">
            <a:extLst>
              <a:ext uri="{FF2B5EF4-FFF2-40B4-BE49-F238E27FC236}">
                <a16:creationId xmlns:a16="http://schemas.microsoft.com/office/drawing/2014/main" id="{B56B0FE6-5A84-4451-0544-29D3208466F2}"/>
              </a:ext>
            </a:extLst>
          </p:cNvPr>
          <p:cNvSpPr/>
          <p:nvPr/>
        </p:nvSpPr>
        <p:spPr>
          <a:xfrm>
            <a:off x="2496000" y="3645472"/>
            <a:ext cx="720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中标容量单位为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MW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，中标均价单位为元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/MWh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8662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B4903-8F54-C6A4-10CC-508AEDC4F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06D273F-EEF9-F366-9183-1AD3838018FC}"/>
              </a:ext>
            </a:extLst>
          </p:cNvPr>
          <p:cNvSpPr/>
          <p:nvPr/>
        </p:nvSpPr>
        <p:spPr>
          <a:xfrm>
            <a:off x="508000" y="203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电力市场</a:t>
            </a:r>
            <a:r>
              <a:rPr lang="en-US" sz="1800" b="1" i="0" u="none" strike="noStrike" dirty="0" err="1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lang="en-US" sz="1100" dirty="0"/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7D4EE923-4954-30F6-B853-E3E9212DB15B}"/>
              </a:ext>
            </a:extLst>
          </p:cNvPr>
          <p:cNvCxnSpPr/>
          <p:nvPr/>
        </p:nvCxnSpPr>
        <p:spPr>
          <a:xfrm rot="-3906">
            <a:off x="508004" y="704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72318D81-714D-03B7-6118-F4E6BB09D310}"/>
              </a:ext>
            </a:extLst>
          </p:cNvPr>
          <p:cNvSpPr/>
          <p:nvPr/>
        </p:nvSpPr>
        <p:spPr>
          <a:xfrm>
            <a:off x="508000" y="914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lang="en-US" sz="1100" dirty="0"/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992F416E-C1C9-D88C-4ABF-2761924125A9}"/>
              </a:ext>
            </a:extLst>
          </p:cNvPr>
          <p:cNvCxnSpPr>
            <a:cxnSpLocks/>
          </p:cNvCxnSpPr>
          <p:nvPr/>
        </p:nvCxnSpPr>
        <p:spPr>
          <a:xfrm>
            <a:off x="1990706" y="942109"/>
            <a:ext cx="20461" cy="796287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>
            <a:extLst>
              <a:ext uri="{FF2B5EF4-FFF2-40B4-BE49-F238E27FC236}">
                <a16:creationId xmlns:a16="http://schemas.microsoft.com/office/drawing/2014/main" id="{C444DDAE-43F3-92E7-D9BB-90FC90BAE26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0C9540E7-3DC1-25CC-341E-5E895635AA4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DCEBFAC4-AA41-9804-CE75-6FC0E2D3E191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DB38F700-B664-DC79-DABE-8F6B725C569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746FB6F9-99C6-0BFD-349D-027AA55F9C4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D4456A34-09C4-F884-04D3-99B7423B8B5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E98FFFA6-9D1A-E380-C444-6EB48250D5E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14993B3E-5341-DE57-7866-CCC6C24A1EA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9981F76E-E7B8-B743-F5FB-9D414D4ED46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9F62904D-F738-9D8F-9CD5-97A871DD685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4F76DCBD-675F-D68E-B0A2-9C8F3FADD07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90A91EEA-4790-7CE7-AB6F-5F9454E1061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59983D70-E247-383E-3CF9-7B5D7E632D8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1F8F7756-0274-E8DD-5107-499CD634898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B5AD090E-9C3F-78B6-A386-882CFB4A3D12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0123DD02-C073-938C-D0EF-F5EBB6BB178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D3102FE-FFAA-F88B-4415-22EC771857CB}"/>
              </a:ext>
            </a:extLst>
          </p:cNvPr>
          <p:cNvGrpSpPr/>
          <p:nvPr/>
        </p:nvGrpSpPr>
        <p:grpSpPr>
          <a:xfrm>
            <a:off x="2535433" y="1825502"/>
            <a:ext cx="7432420" cy="2292595"/>
            <a:chOff x="2039248" y="1447800"/>
            <a:chExt cx="9644751" cy="2292595"/>
          </a:xfrm>
        </p:grpSpPr>
        <p:sp>
          <p:nvSpPr>
            <p:cNvPr id="9" name="AutoShape 7">
              <a:extLst>
                <a:ext uri="{FF2B5EF4-FFF2-40B4-BE49-F238E27FC236}">
                  <a16:creationId xmlns:a16="http://schemas.microsoft.com/office/drawing/2014/main" id="{C45C5896-3ADB-E209-CBDC-15C699B7804E}"/>
                </a:ext>
              </a:extLst>
            </p:cNvPr>
            <p:cNvSpPr/>
            <p:nvPr/>
          </p:nvSpPr>
          <p:spPr>
            <a:xfrm>
              <a:off x="2039248" y="1447800"/>
              <a:ext cx="9644751" cy="2292595"/>
            </a:xfrm>
            <a:prstGeom prst="roundRect">
              <a:avLst>
                <a:gd name="adj" fmla="val 4444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E5E6EB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0" name="AutoShape 8">
              <a:extLst>
                <a:ext uri="{FF2B5EF4-FFF2-40B4-BE49-F238E27FC236}">
                  <a16:creationId xmlns:a16="http://schemas.microsoft.com/office/drawing/2014/main" id="{4EA69178-D7ED-E264-143D-22B324962AC9}"/>
                </a:ext>
              </a:extLst>
            </p:cNvPr>
            <p:cNvSpPr/>
            <p:nvPr/>
          </p:nvSpPr>
          <p:spPr>
            <a:xfrm>
              <a:off x="2502484" y="1612022"/>
              <a:ext cx="2672096" cy="267578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600" b="1" i="0" u="none" strike="noStrike" dirty="0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电价预测</a:t>
              </a:r>
              <a:endParaRPr lang="en-US" sz="1100" dirty="0"/>
            </a:p>
          </p:txBody>
        </p:sp>
        <p:sp>
          <p:nvSpPr>
            <p:cNvPr id="11" name="AutoShape 16">
              <a:extLst>
                <a:ext uri="{FF2B5EF4-FFF2-40B4-BE49-F238E27FC236}">
                  <a16:creationId xmlns:a16="http://schemas.microsoft.com/office/drawing/2014/main" id="{5022FF11-BBD3-9E04-CFF0-53FC8D530195}"/>
                </a:ext>
              </a:extLst>
            </p:cNvPr>
            <p:cNvSpPr/>
            <p:nvPr/>
          </p:nvSpPr>
          <p:spPr>
            <a:xfrm>
              <a:off x="2395698" y="2050909"/>
              <a:ext cx="1266718" cy="176818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100" b="0" i="0" u="none" strike="noStrike" dirty="0" err="1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电价</a:t>
              </a:r>
              <a:r>
                <a:rPr lang="en-US" sz="1100" b="0" i="0" u="none" strike="noStrike" dirty="0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(元/kWh)</a:t>
              </a:r>
              <a:endParaRPr lang="en-US" sz="1100" dirty="0"/>
            </a:p>
          </p:txBody>
        </p:sp>
        <p:cxnSp>
          <p:nvCxnSpPr>
            <p:cNvPr id="12" name="Connector 17">
              <a:extLst>
                <a:ext uri="{FF2B5EF4-FFF2-40B4-BE49-F238E27FC236}">
                  <a16:creationId xmlns:a16="http://schemas.microsoft.com/office/drawing/2014/main" id="{76F83637-BE75-F12E-72E4-5140F0C1979A}"/>
                </a:ext>
              </a:extLst>
            </p:cNvPr>
            <p:cNvCxnSpPr>
              <a:cxnSpLocks/>
            </p:cNvCxnSpPr>
            <p:nvPr/>
          </p:nvCxnSpPr>
          <p:spPr>
            <a:xfrm>
              <a:off x="2501035" y="3426235"/>
              <a:ext cx="8971862" cy="41888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CCCC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" name="AutoShape 19">
              <a:extLst>
                <a:ext uri="{FF2B5EF4-FFF2-40B4-BE49-F238E27FC236}">
                  <a16:creationId xmlns:a16="http://schemas.microsoft.com/office/drawing/2014/main" id="{CCE3A2C7-B53D-E840-BB9B-B4F41BF0402F}"/>
                </a:ext>
              </a:extLst>
            </p:cNvPr>
            <p:cNvSpPr/>
            <p:nvPr/>
          </p:nvSpPr>
          <p:spPr>
            <a:xfrm>
              <a:off x="2712138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dirty="0">
                  <a:solidFill>
                    <a:srgbClr val="8C8C8C"/>
                  </a:solidFill>
                  <a:latin typeface="Noto Sans SC"/>
                  <a:ea typeface="Noto Sans SC"/>
                  <a:sym typeface="Noto Sans SC"/>
                </a:rPr>
                <a:t>第一天</a:t>
              </a:r>
              <a:endParaRPr lang="en-US" sz="1100" dirty="0"/>
            </a:p>
          </p:txBody>
        </p:sp>
        <p:sp>
          <p:nvSpPr>
            <p:cNvPr id="14" name="AutoShape 20">
              <a:extLst>
                <a:ext uri="{FF2B5EF4-FFF2-40B4-BE49-F238E27FC236}">
                  <a16:creationId xmlns:a16="http://schemas.microsoft.com/office/drawing/2014/main" id="{B4996921-4C9D-8AF7-BB24-0738F080AFDF}"/>
                </a:ext>
              </a:extLst>
            </p:cNvPr>
            <p:cNvSpPr/>
            <p:nvPr/>
          </p:nvSpPr>
          <p:spPr>
            <a:xfrm>
              <a:off x="4084305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第二天</a:t>
              </a:r>
              <a:endParaRPr lang="en-US" sz="1100" dirty="0"/>
            </a:p>
          </p:txBody>
        </p:sp>
        <p:sp>
          <p:nvSpPr>
            <p:cNvPr id="15" name="AutoShape 21">
              <a:extLst>
                <a:ext uri="{FF2B5EF4-FFF2-40B4-BE49-F238E27FC236}">
                  <a16:creationId xmlns:a16="http://schemas.microsoft.com/office/drawing/2014/main" id="{1CA5B1F7-6F05-ED07-91B4-F704CCC946A3}"/>
                </a:ext>
              </a:extLst>
            </p:cNvPr>
            <p:cNvSpPr/>
            <p:nvPr/>
          </p:nvSpPr>
          <p:spPr>
            <a:xfrm>
              <a:off x="5456472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第三天</a:t>
              </a:r>
              <a:endParaRPr lang="en-US" sz="1100" dirty="0"/>
            </a:p>
          </p:txBody>
        </p:sp>
        <p:sp>
          <p:nvSpPr>
            <p:cNvPr id="18" name="AutoShape 22">
              <a:extLst>
                <a:ext uri="{FF2B5EF4-FFF2-40B4-BE49-F238E27FC236}">
                  <a16:creationId xmlns:a16="http://schemas.microsoft.com/office/drawing/2014/main" id="{513A114D-2736-16DF-22C3-4518DDAEA6A2}"/>
                </a:ext>
              </a:extLst>
            </p:cNvPr>
            <p:cNvSpPr/>
            <p:nvPr/>
          </p:nvSpPr>
          <p:spPr>
            <a:xfrm>
              <a:off x="6828639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第四天</a:t>
              </a:r>
              <a:endParaRPr lang="en-US" sz="1100" dirty="0"/>
            </a:p>
          </p:txBody>
        </p:sp>
        <p:sp>
          <p:nvSpPr>
            <p:cNvPr id="29" name="AutoShape 23">
              <a:extLst>
                <a:ext uri="{FF2B5EF4-FFF2-40B4-BE49-F238E27FC236}">
                  <a16:creationId xmlns:a16="http://schemas.microsoft.com/office/drawing/2014/main" id="{5B23E0C4-0D62-936A-78CA-C658DB0DAA22}"/>
                </a:ext>
              </a:extLst>
            </p:cNvPr>
            <p:cNvSpPr/>
            <p:nvPr/>
          </p:nvSpPr>
          <p:spPr>
            <a:xfrm>
              <a:off x="8200806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第五天</a:t>
              </a:r>
              <a:endParaRPr lang="en-US" sz="1100" dirty="0"/>
            </a:p>
          </p:txBody>
        </p:sp>
        <p:sp>
          <p:nvSpPr>
            <p:cNvPr id="32" name="AutoShape 24">
              <a:extLst>
                <a:ext uri="{FF2B5EF4-FFF2-40B4-BE49-F238E27FC236}">
                  <a16:creationId xmlns:a16="http://schemas.microsoft.com/office/drawing/2014/main" id="{AC816A9E-7EE7-DB49-389B-CCC949BEEA77}"/>
                </a:ext>
              </a:extLst>
            </p:cNvPr>
            <p:cNvSpPr/>
            <p:nvPr/>
          </p:nvSpPr>
          <p:spPr>
            <a:xfrm>
              <a:off x="9572974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第六天</a:t>
              </a:r>
              <a:endParaRPr lang="en-US" sz="1100" dirty="0"/>
            </a:p>
          </p:txBody>
        </p:sp>
        <p:sp>
          <p:nvSpPr>
            <p:cNvPr id="35" name="AutoShape 25">
              <a:extLst>
                <a:ext uri="{FF2B5EF4-FFF2-40B4-BE49-F238E27FC236}">
                  <a16:creationId xmlns:a16="http://schemas.microsoft.com/office/drawing/2014/main" id="{DEA199E6-214E-80E0-C5FF-F75B874A1B0C}"/>
                </a:ext>
              </a:extLst>
            </p:cNvPr>
            <p:cNvSpPr/>
            <p:nvPr/>
          </p:nvSpPr>
          <p:spPr>
            <a:xfrm>
              <a:off x="10945141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第七天</a:t>
              </a:r>
              <a:endParaRPr lang="en-US" sz="1100" dirty="0"/>
            </a:p>
          </p:txBody>
        </p:sp>
        <p:cxnSp>
          <p:nvCxnSpPr>
            <p:cNvPr id="47" name="Connector 26">
              <a:extLst>
                <a:ext uri="{FF2B5EF4-FFF2-40B4-BE49-F238E27FC236}">
                  <a16:creationId xmlns:a16="http://schemas.microsoft.com/office/drawing/2014/main" id="{ADA2774A-1022-32FD-8C63-A8B63F8C928A}"/>
                </a:ext>
              </a:extLst>
            </p:cNvPr>
            <p:cNvCxnSpPr>
              <a:cxnSpLocks/>
            </p:cNvCxnSpPr>
            <p:nvPr/>
          </p:nvCxnSpPr>
          <p:spPr>
            <a:xfrm rot="20858847">
              <a:off x="2804124" y="2583232"/>
              <a:ext cx="1293811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48" name="Connector 27">
              <a:extLst>
                <a:ext uri="{FF2B5EF4-FFF2-40B4-BE49-F238E27FC236}">
                  <a16:creationId xmlns:a16="http://schemas.microsoft.com/office/drawing/2014/main" id="{94D50972-F5C6-2367-8149-5E4DE844EF60}"/>
                </a:ext>
              </a:extLst>
            </p:cNvPr>
            <p:cNvCxnSpPr>
              <a:cxnSpLocks/>
            </p:cNvCxnSpPr>
            <p:nvPr/>
          </p:nvCxnSpPr>
          <p:spPr>
            <a:xfrm rot="296636">
              <a:off x="4081172" y="2530880"/>
              <a:ext cx="137849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49" name="Connector 28">
              <a:extLst>
                <a:ext uri="{FF2B5EF4-FFF2-40B4-BE49-F238E27FC236}">
                  <a16:creationId xmlns:a16="http://schemas.microsoft.com/office/drawing/2014/main" id="{62F5A992-8915-868C-06BD-FE849FCB2EDF}"/>
                </a:ext>
              </a:extLst>
            </p:cNvPr>
            <p:cNvCxnSpPr>
              <a:cxnSpLocks/>
            </p:cNvCxnSpPr>
            <p:nvPr/>
          </p:nvCxnSpPr>
          <p:spPr>
            <a:xfrm rot="20914409">
              <a:off x="5443932" y="2478512"/>
              <a:ext cx="1397309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0" name="Connector 29">
              <a:extLst>
                <a:ext uri="{FF2B5EF4-FFF2-40B4-BE49-F238E27FC236}">
                  <a16:creationId xmlns:a16="http://schemas.microsoft.com/office/drawing/2014/main" id="{FF849712-3097-5CFC-BF68-02081717656B}"/>
                </a:ext>
              </a:extLst>
            </p:cNvPr>
            <p:cNvCxnSpPr>
              <a:cxnSpLocks/>
            </p:cNvCxnSpPr>
            <p:nvPr/>
          </p:nvCxnSpPr>
          <p:spPr>
            <a:xfrm rot="459717">
              <a:off x="6821571" y="2452341"/>
              <a:ext cx="138636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1" name="Connector 30">
              <a:extLst>
                <a:ext uri="{FF2B5EF4-FFF2-40B4-BE49-F238E27FC236}">
                  <a16:creationId xmlns:a16="http://schemas.microsoft.com/office/drawing/2014/main" id="{C47902D7-42EA-60FF-C1F6-FA22CF0672D1}"/>
                </a:ext>
              </a:extLst>
            </p:cNvPr>
            <p:cNvCxnSpPr>
              <a:cxnSpLocks/>
            </p:cNvCxnSpPr>
            <p:nvPr/>
          </p:nvCxnSpPr>
          <p:spPr>
            <a:xfrm rot="296636">
              <a:off x="8197673" y="2583240"/>
              <a:ext cx="137849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2" name="Connector 31">
              <a:extLst>
                <a:ext uri="{FF2B5EF4-FFF2-40B4-BE49-F238E27FC236}">
                  <a16:creationId xmlns:a16="http://schemas.microsoft.com/office/drawing/2014/main" id="{CBCDFE6B-B06F-25C7-6925-601586EEB11E}"/>
                </a:ext>
              </a:extLst>
            </p:cNvPr>
            <p:cNvCxnSpPr>
              <a:cxnSpLocks/>
            </p:cNvCxnSpPr>
            <p:nvPr/>
          </p:nvCxnSpPr>
          <p:spPr>
            <a:xfrm rot="21335983">
              <a:off x="9571453" y="2598944"/>
              <a:ext cx="1375271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3" name="Connector 18">
              <a:extLst>
                <a:ext uri="{FF2B5EF4-FFF2-40B4-BE49-F238E27FC236}">
                  <a16:creationId xmlns:a16="http://schemas.microsoft.com/office/drawing/2014/main" id="{D9CB3ADF-9856-2B15-6BC2-5C9F85B89DBA}"/>
                </a:ext>
              </a:extLst>
            </p:cNvPr>
            <p:cNvCxnSpPr>
              <a:cxnSpLocks/>
            </p:cNvCxnSpPr>
            <p:nvPr/>
          </p:nvCxnSpPr>
          <p:spPr>
            <a:xfrm rot="5365623">
              <a:off x="1991309" y="2893681"/>
              <a:ext cx="1047201" cy="13194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CCCC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4" name="AutoShape 44">
              <a:extLst>
                <a:ext uri="{FF2B5EF4-FFF2-40B4-BE49-F238E27FC236}">
                  <a16:creationId xmlns:a16="http://schemas.microsoft.com/office/drawing/2014/main" id="{A3786D60-3FC3-BA38-D6AC-ECDF2264783E}"/>
                </a:ext>
              </a:extLst>
            </p:cNvPr>
            <p:cNvSpPr/>
            <p:nvPr/>
          </p:nvSpPr>
          <p:spPr>
            <a:xfrm>
              <a:off x="2053123" y="2324291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3</a:t>
              </a: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00</a:t>
              </a:r>
              <a:endParaRPr lang="en-US" sz="1100" dirty="0"/>
            </a:p>
          </p:txBody>
        </p:sp>
        <p:sp>
          <p:nvSpPr>
            <p:cNvPr id="55" name="AutoShape 45">
              <a:extLst>
                <a:ext uri="{FF2B5EF4-FFF2-40B4-BE49-F238E27FC236}">
                  <a16:creationId xmlns:a16="http://schemas.microsoft.com/office/drawing/2014/main" id="{E82BA697-8D1F-9554-E511-0794C7DF8F05}"/>
                </a:ext>
              </a:extLst>
            </p:cNvPr>
            <p:cNvSpPr/>
            <p:nvPr/>
          </p:nvSpPr>
          <p:spPr>
            <a:xfrm>
              <a:off x="2053123" y="2669868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2</a:t>
              </a: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00</a:t>
              </a:r>
              <a:endParaRPr lang="en-US" sz="1100" dirty="0"/>
            </a:p>
          </p:txBody>
        </p:sp>
        <p:sp>
          <p:nvSpPr>
            <p:cNvPr id="56" name="AutoShape 46">
              <a:extLst>
                <a:ext uri="{FF2B5EF4-FFF2-40B4-BE49-F238E27FC236}">
                  <a16:creationId xmlns:a16="http://schemas.microsoft.com/office/drawing/2014/main" id="{02C56400-A165-A12A-CFA7-221AE86D90F9}"/>
                </a:ext>
              </a:extLst>
            </p:cNvPr>
            <p:cNvSpPr/>
            <p:nvPr/>
          </p:nvSpPr>
          <p:spPr>
            <a:xfrm>
              <a:off x="2053123" y="3015444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1</a:t>
              </a: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00</a:t>
              </a:r>
              <a:endParaRPr lang="en-US" sz="1100" dirty="0"/>
            </a:p>
          </p:txBody>
        </p:sp>
        <p:sp>
          <p:nvSpPr>
            <p:cNvPr id="57" name="AutoShape 47">
              <a:extLst>
                <a:ext uri="{FF2B5EF4-FFF2-40B4-BE49-F238E27FC236}">
                  <a16:creationId xmlns:a16="http://schemas.microsoft.com/office/drawing/2014/main" id="{4B3AA4D3-C087-9C32-4CA8-CA0D406697E0}"/>
                </a:ext>
              </a:extLst>
            </p:cNvPr>
            <p:cNvSpPr/>
            <p:nvPr/>
          </p:nvSpPr>
          <p:spPr>
            <a:xfrm>
              <a:off x="2053123" y="3361021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</a:t>
              </a:r>
              <a:endParaRPr lang="en-US" sz="1100" dirty="0"/>
            </a:p>
          </p:txBody>
        </p:sp>
      </p:grp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DB7F8F7D-6C55-5E93-F497-4C1F68812DBA}"/>
              </a:ext>
            </a:extLst>
          </p:cNvPr>
          <p:cNvGraphicFramePr>
            <a:graphicFrameLocks noGrp="1"/>
          </p:cNvGraphicFramePr>
          <p:nvPr/>
        </p:nvGraphicFramePr>
        <p:xfrm>
          <a:off x="2546125" y="4552092"/>
          <a:ext cx="3721100" cy="365760"/>
        </p:xfrm>
        <a:graphic>
          <a:graphicData uri="http://schemas.openxmlformats.org/drawingml/2006/table">
            <a:tbl>
              <a:tblPr/>
              <a:tblGrid>
                <a:gridCol w="930275">
                  <a:extLst>
                    <a:ext uri="{9D8B030D-6E8A-4147-A177-3AD203B41FA5}">
                      <a16:colId xmlns:a16="http://schemas.microsoft.com/office/drawing/2014/main" val="1447535226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713488200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1463587908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420613421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名称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t1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t2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t96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7290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电价预测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210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220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3152111"/>
                  </a:ext>
                </a:extLst>
              </a:tr>
            </a:tbl>
          </a:graphicData>
        </a:graphic>
      </p:graphicFrame>
      <p:sp>
        <p:nvSpPr>
          <p:cNvPr id="6" name="AutoShape 5">
            <a:extLst>
              <a:ext uri="{FF2B5EF4-FFF2-40B4-BE49-F238E27FC236}">
                <a16:creationId xmlns:a16="http://schemas.microsoft.com/office/drawing/2014/main" id="{3671058F-79BD-3320-31A5-88368262DFE6}"/>
              </a:ext>
            </a:extLst>
          </p:cNvPr>
          <p:cNvSpPr/>
          <p:nvPr/>
        </p:nvSpPr>
        <p:spPr>
          <a:xfrm>
            <a:off x="2233571" y="808770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13">
            <a:extLst>
              <a:ext uri="{FF2B5EF4-FFF2-40B4-BE49-F238E27FC236}">
                <a16:creationId xmlns:a16="http://schemas.microsoft.com/office/drawing/2014/main" id="{276880DC-BBC1-83FD-CD08-B9C6869D4B4F}"/>
              </a:ext>
            </a:extLst>
          </p:cNvPr>
          <p:cNvSpPr/>
          <p:nvPr/>
        </p:nvSpPr>
        <p:spPr>
          <a:xfrm>
            <a:off x="2381404" y="88955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电价预测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sp>
        <p:nvSpPr>
          <p:cNvPr id="31" name="AutoShape 11">
            <a:extLst>
              <a:ext uri="{FF2B5EF4-FFF2-40B4-BE49-F238E27FC236}">
                <a16:creationId xmlns:a16="http://schemas.microsoft.com/office/drawing/2014/main" id="{F61FDB42-DF2A-562C-B141-AA081FCAA5B4}"/>
              </a:ext>
            </a:extLst>
          </p:cNvPr>
          <p:cNvSpPr/>
          <p:nvPr/>
        </p:nvSpPr>
        <p:spPr>
          <a:xfrm>
            <a:off x="3736084" y="88955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负荷预测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sp>
        <p:nvSpPr>
          <p:cNvPr id="58" name="AutoShape 11">
            <a:extLst>
              <a:ext uri="{FF2B5EF4-FFF2-40B4-BE49-F238E27FC236}">
                <a16:creationId xmlns:a16="http://schemas.microsoft.com/office/drawing/2014/main" id="{934FBB6B-3368-56C8-D9A0-5A678E29F479}"/>
              </a:ext>
            </a:extLst>
          </p:cNvPr>
          <p:cNvSpPr/>
          <p:nvPr/>
        </p:nvSpPr>
        <p:spPr>
          <a:xfrm>
            <a:off x="4951577" y="88955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风电功率预测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sp>
        <p:nvSpPr>
          <p:cNvPr id="59" name="AutoShape 11">
            <a:extLst>
              <a:ext uri="{FF2B5EF4-FFF2-40B4-BE49-F238E27FC236}">
                <a16:creationId xmlns:a16="http://schemas.microsoft.com/office/drawing/2014/main" id="{5E61AEF7-CCB1-CA7F-947B-538963C58FFC}"/>
              </a:ext>
            </a:extLst>
          </p:cNvPr>
          <p:cNvSpPr/>
          <p:nvPr/>
        </p:nvSpPr>
        <p:spPr>
          <a:xfrm>
            <a:off x="6754957" y="88955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光伏功率预测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sp>
        <p:nvSpPr>
          <p:cNvPr id="60" name="AutoShape 11">
            <a:extLst>
              <a:ext uri="{FF2B5EF4-FFF2-40B4-BE49-F238E27FC236}">
                <a16:creationId xmlns:a16="http://schemas.microsoft.com/office/drawing/2014/main" id="{CA666571-5DBA-F418-7C31-39CB0A30B7B8}"/>
              </a:ext>
            </a:extLst>
          </p:cNvPr>
          <p:cNvSpPr/>
          <p:nvPr/>
        </p:nvSpPr>
        <p:spPr>
          <a:xfrm>
            <a:off x="8341047" y="88497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供需比预测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pic>
        <p:nvPicPr>
          <p:cNvPr id="61" name="Picture 10">
            <a:extLst>
              <a:ext uri="{FF2B5EF4-FFF2-40B4-BE49-F238E27FC236}">
                <a16:creationId xmlns:a16="http://schemas.microsoft.com/office/drawing/2014/main" id="{BBEF99B6-1E85-E7C8-3540-FEC6391820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144" y="2956748"/>
            <a:ext cx="203200" cy="203200"/>
          </a:xfrm>
          <a:prstGeom prst="rect">
            <a:avLst/>
          </a:prstGeom>
        </p:spPr>
      </p:pic>
      <p:sp>
        <p:nvSpPr>
          <p:cNvPr id="62" name="AutoShape 11">
            <a:extLst>
              <a:ext uri="{FF2B5EF4-FFF2-40B4-BE49-F238E27FC236}">
                <a16:creationId xmlns:a16="http://schemas.microsoft.com/office/drawing/2014/main" id="{16418F11-83DB-24E4-2612-96F454A8FE2E}"/>
              </a:ext>
            </a:extLst>
          </p:cNvPr>
          <p:cNvSpPr/>
          <p:nvPr/>
        </p:nvSpPr>
        <p:spPr>
          <a:xfrm>
            <a:off x="944944" y="2905948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市场交易</a:t>
            </a:r>
            <a:endParaRPr lang="en-US" altLang="zh-CN" sz="1100" dirty="0"/>
          </a:p>
        </p:txBody>
      </p:sp>
      <p:pic>
        <p:nvPicPr>
          <p:cNvPr id="63" name="Picture 8">
            <a:extLst>
              <a:ext uri="{FF2B5EF4-FFF2-40B4-BE49-F238E27FC236}">
                <a16:creationId xmlns:a16="http://schemas.microsoft.com/office/drawing/2014/main" id="{F82F5E99-7B3C-8021-C1D4-A6D08426FC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1440873"/>
            <a:ext cx="203200" cy="203200"/>
          </a:xfrm>
          <a:prstGeom prst="rect">
            <a:avLst/>
          </a:prstGeom>
        </p:spPr>
      </p:pic>
      <p:sp>
        <p:nvSpPr>
          <p:cNvPr id="64" name="AutoShape 9">
            <a:extLst>
              <a:ext uri="{FF2B5EF4-FFF2-40B4-BE49-F238E27FC236}">
                <a16:creationId xmlns:a16="http://schemas.microsoft.com/office/drawing/2014/main" id="{2CA0EAD1-E8EA-51D8-360B-DC1689472F4C}"/>
              </a:ext>
            </a:extLst>
          </p:cNvPr>
          <p:cNvSpPr/>
          <p:nvPr/>
        </p:nvSpPr>
        <p:spPr>
          <a:xfrm>
            <a:off x="965200" y="13900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企业信息</a:t>
            </a:r>
            <a:endParaRPr lang="en-US" sz="1100" dirty="0"/>
          </a:p>
        </p:txBody>
      </p:sp>
      <p:pic>
        <p:nvPicPr>
          <p:cNvPr id="65" name="Picture 12">
            <a:extLst>
              <a:ext uri="{FF2B5EF4-FFF2-40B4-BE49-F238E27FC236}">
                <a16:creationId xmlns:a16="http://schemas.microsoft.com/office/drawing/2014/main" id="{16630626-E017-573A-CAB7-7C7D380853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144" y="3485574"/>
            <a:ext cx="203200" cy="203200"/>
          </a:xfrm>
          <a:prstGeom prst="rect">
            <a:avLst/>
          </a:prstGeom>
        </p:spPr>
      </p:pic>
      <p:sp>
        <p:nvSpPr>
          <p:cNvPr id="66" name="AutoShape 13">
            <a:extLst>
              <a:ext uri="{FF2B5EF4-FFF2-40B4-BE49-F238E27FC236}">
                <a16:creationId xmlns:a16="http://schemas.microsoft.com/office/drawing/2014/main" id="{6B9C9BB2-90E1-74FC-9F57-CCEA40157DF8}"/>
              </a:ext>
            </a:extLst>
          </p:cNvPr>
          <p:cNvSpPr/>
          <p:nvPr/>
        </p:nvSpPr>
        <p:spPr>
          <a:xfrm>
            <a:off x="944944" y="3434774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结算报告</a:t>
            </a:r>
            <a:endParaRPr lang="en-US" altLang="zh-CN" sz="1100" dirty="0"/>
          </a:p>
        </p:txBody>
      </p:sp>
      <p:sp>
        <p:nvSpPr>
          <p:cNvPr id="67" name="AutoShape 5">
            <a:extLst>
              <a:ext uri="{FF2B5EF4-FFF2-40B4-BE49-F238E27FC236}">
                <a16:creationId xmlns:a16="http://schemas.microsoft.com/office/drawing/2014/main" id="{8F4182F1-23A7-C126-35C5-DB042A3C3F64}"/>
              </a:ext>
            </a:extLst>
          </p:cNvPr>
          <p:cNvSpPr/>
          <p:nvPr/>
        </p:nvSpPr>
        <p:spPr>
          <a:xfrm>
            <a:off x="508000" y="2312735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8" name="Picture 6">
            <a:extLst>
              <a:ext uri="{FF2B5EF4-FFF2-40B4-BE49-F238E27FC236}">
                <a16:creationId xmlns:a16="http://schemas.microsoft.com/office/drawing/2014/main" id="{123E377B-1925-EB02-AC85-049AEB8ED6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" y="2439735"/>
            <a:ext cx="203200" cy="203200"/>
          </a:xfrm>
          <a:prstGeom prst="rect">
            <a:avLst/>
          </a:prstGeom>
        </p:spPr>
      </p:pic>
      <p:sp>
        <p:nvSpPr>
          <p:cNvPr id="69" name="AutoShape 7">
            <a:extLst>
              <a:ext uri="{FF2B5EF4-FFF2-40B4-BE49-F238E27FC236}">
                <a16:creationId xmlns:a16="http://schemas.microsoft.com/office/drawing/2014/main" id="{7CCC7F17-9371-D781-1E2E-933090164F31}"/>
              </a:ext>
            </a:extLst>
          </p:cNvPr>
          <p:cNvSpPr/>
          <p:nvPr/>
        </p:nvSpPr>
        <p:spPr>
          <a:xfrm>
            <a:off x="965200" y="2388935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1" i="0" u="none" strike="noStrike" dirty="0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信息披露</a:t>
            </a:r>
            <a:endParaRPr lang="en-US" sz="1100" dirty="0"/>
          </a:p>
        </p:txBody>
      </p:sp>
      <p:sp>
        <p:nvSpPr>
          <p:cNvPr id="70" name="AutoShape 13">
            <a:extLst>
              <a:ext uri="{FF2B5EF4-FFF2-40B4-BE49-F238E27FC236}">
                <a16:creationId xmlns:a16="http://schemas.microsoft.com/office/drawing/2014/main" id="{99B80BB3-62C8-1C3E-0CF2-C10870333685}"/>
              </a:ext>
            </a:extLst>
          </p:cNvPr>
          <p:cNvSpPr/>
          <p:nvPr/>
        </p:nvSpPr>
        <p:spPr>
          <a:xfrm>
            <a:off x="965200" y="1826004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成交历史</a:t>
            </a:r>
            <a:endParaRPr lang="en-US" sz="1100" dirty="0"/>
          </a:p>
        </p:txBody>
      </p:sp>
      <p:pic>
        <p:nvPicPr>
          <p:cNvPr id="71" name="Picture 14">
            <a:extLst>
              <a:ext uri="{FF2B5EF4-FFF2-40B4-BE49-F238E27FC236}">
                <a16:creationId xmlns:a16="http://schemas.microsoft.com/office/drawing/2014/main" id="{497A1B12-7321-3484-FF6A-25E1B1AC909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" y="1876804"/>
            <a:ext cx="2032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756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3ADF8-08F7-9D80-DF35-0F49A6080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22527AE-011F-AC66-2BDE-785E6E41A8F3}"/>
              </a:ext>
            </a:extLst>
          </p:cNvPr>
          <p:cNvSpPr/>
          <p:nvPr/>
        </p:nvSpPr>
        <p:spPr>
          <a:xfrm>
            <a:off x="508000" y="203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电力市场</a:t>
            </a:r>
            <a:r>
              <a:rPr lang="en-US" sz="1800" b="1" i="0" u="none" strike="noStrike" dirty="0" err="1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lang="en-US" sz="1100" dirty="0"/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1D117DFA-0A1B-839F-45C8-97B2CE9950CA}"/>
              </a:ext>
            </a:extLst>
          </p:cNvPr>
          <p:cNvCxnSpPr/>
          <p:nvPr/>
        </p:nvCxnSpPr>
        <p:spPr>
          <a:xfrm rot="-3906">
            <a:off x="508004" y="704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89BD1DCA-E822-DE98-7BDD-C49BB126FD46}"/>
              </a:ext>
            </a:extLst>
          </p:cNvPr>
          <p:cNvSpPr/>
          <p:nvPr/>
        </p:nvSpPr>
        <p:spPr>
          <a:xfrm>
            <a:off x="508000" y="914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lang="en-US" sz="1100" dirty="0"/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A5738840-C0B2-BFF5-97B8-96F062B45F90}"/>
              </a:ext>
            </a:extLst>
          </p:cNvPr>
          <p:cNvCxnSpPr>
            <a:cxnSpLocks/>
          </p:cNvCxnSpPr>
          <p:nvPr/>
        </p:nvCxnSpPr>
        <p:spPr>
          <a:xfrm>
            <a:off x="1990706" y="942109"/>
            <a:ext cx="20461" cy="796287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>
            <a:extLst>
              <a:ext uri="{FF2B5EF4-FFF2-40B4-BE49-F238E27FC236}">
                <a16:creationId xmlns:a16="http://schemas.microsoft.com/office/drawing/2014/main" id="{0410F97B-68FC-A8E4-BDD7-CDFA0B8E224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209EDCA7-CFA6-19DF-6AF1-FA4761A99E0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06B420ED-0948-38AA-F687-01A0EBCD984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7F5CA49B-A516-E54B-4AA0-9D63E6DDB098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0C467403-C69F-8AC7-DB72-400C1F0DE75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525B4A1A-C5D8-E41D-0EEB-369545E4028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9E8C82B7-416E-EB9B-D74F-C681E2CACE7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6E2BE7EC-0429-3BED-EDDF-BE11048ECA3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67A2214F-B2A5-2809-8A6B-D552050DD54D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30618946-6776-4C13-DA8B-1897C19D732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18FAB8A3-FD37-427C-91EF-7F2DC514F43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0183A627-243D-18B1-89B1-EE3C5779F491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9B4FE5C3-50D3-1529-E685-002647BB12F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CA9F14E9-55BA-6E1C-D63A-A11C6795E03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6CB31047-0978-3310-854B-0DA6EB76FDF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333E6514-171E-F118-4B4D-C3BB6C95B9E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C66CAF-17A6-FC61-89FD-29B8635DC92E}"/>
              </a:ext>
            </a:extLst>
          </p:cNvPr>
          <p:cNvGrpSpPr/>
          <p:nvPr/>
        </p:nvGrpSpPr>
        <p:grpSpPr>
          <a:xfrm>
            <a:off x="2535433" y="1825502"/>
            <a:ext cx="7432420" cy="2292595"/>
            <a:chOff x="2039248" y="1447800"/>
            <a:chExt cx="9644751" cy="2292595"/>
          </a:xfrm>
        </p:grpSpPr>
        <p:sp>
          <p:nvSpPr>
            <p:cNvPr id="9" name="AutoShape 7">
              <a:extLst>
                <a:ext uri="{FF2B5EF4-FFF2-40B4-BE49-F238E27FC236}">
                  <a16:creationId xmlns:a16="http://schemas.microsoft.com/office/drawing/2014/main" id="{FCDE3C11-55D6-A962-B06C-8B3F9DE9E001}"/>
                </a:ext>
              </a:extLst>
            </p:cNvPr>
            <p:cNvSpPr/>
            <p:nvPr/>
          </p:nvSpPr>
          <p:spPr>
            <a:xfrm>
              <a:off x="2039248" y="1447800"/>
              <a:ext cx="9644751" cy="2292595"/>
            </a:xfrm>
            <a:prstGeom prst="roundRect">
              <a:avLst>
                <a:gd name="adj" fmla="val 4444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E5E6EB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0" name="AutoShape 8">
              <a:extLst>
                <a:ext uri="{FF2B5EF4-FFF2-40B4-BE49-F238E27FC236}">
                  <a16:creationId xmlns:a16="http://schemas.microsoft.com/office/drawing/2014/main" id="{87223C74-3FD1-C8EB-23A7-F54D4FB4E96E}"/>
                </a:ext>
              </a:extLst>
            </p:cNvPr>
            <p:cNvSpPr/>
            <p:nvPr/>
          </p:nvSpPr>
          <p:spPr>
            <a:xfrm>
              <a:off x="2502484" y="1612022"/>
              <a:ext cx="2672096" cy="267578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600" b="1" i="0" u="none" strike="noStrike" dirty="0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负荷预测</a:t>
              </a:r>
              <a:endParaRPr lang="en-US" sz="1100" dirty="0"/>
            </a:p>
          </p:txBody>
        </p:sp>
        <p:sp>
          <p:nvSpPr>
            <p:cNvPr id="11" name="AutoShape 16">
              <a:extLst>
                <a:ext uri="{FF2B5EF4-FFF2-40B4-BE49-F238E27FC236}">
                  <a16:creationId xmlns:a16="http://schemas.microsoft.com/office/drawing/2014/main" id="{71815070-64F2-8E73-1309-8AAE00D871B2}"/>
                </a:ext>
              </a:extLst>
            </p:cNvPr>
            <p:cNvSpPr/>
            <p:nvPr/>
          </p:nvSpPr>
          <p:spPr>
            <a:xfrm>
              <a:off x="2395698" y="2050909"/>
              <a:ext cx="1266718" cy="176818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zh-CN" altLang="en-US" sz="1100" b="0" i="0" u="none" strike="noStrike" dirty="0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负荷</a:t>
              </a:r>
              <a:r>
                <a:rPr lang="en-US" sz="1100" b="0" i="0" u="none" strike="noStrike" dirty="0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(kW)</a:t>
              </a:r>
              <a:endParaRPr lang="en-US" sz="1100" dirty="0"/>
            </a:p>
          </p:txBody>
        </p:sp>
        <p:cxnSp>
          <p:nvCxnSpPr>
            <p:cNvPr id="12" name="Connector 17">
              <a:extLst>
                <a:ext uri="{FF2B5EF4-FFF2-40B4-BE49-F238E27FC236}">
                  <a16:creationId xmlns:a16="http://schemas.microsoft.com/office/drawing/2014/main" id="{7F30576E-81B2-D028-81C7-22E431C825DD}"/>
                </a:ext>
              </a:extLst>
            </p:cNvPr>
            <p:cNvCxnSpPr>
              <a:cxnSpLocks/>
            </p:cNvCxnSpPr>
            <p:nvPr/>
          </p:nvCxnSpPr>
          <p:spPr>
            <a:xfrm>
              <a:off x="2501035" y="3426235"/>
              <a:ext cx="8971862" cy="41888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CCCC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" name="AutoShape 19">
              <a:extLst>
                <a:ext uri="{FF2B5EF4-FFF2-40B4-BE49-F238E27FC236}">
                  <a16:creationId xmlns:a16="http://schemas.microsoft.com/office/drawing/2014/main" id="{D1CE5C49-2FAC-AD3F-8D80-5CFC84BF4960}"/>
                </a:ext>
              </a:extLst>
            </p:cNvPr>
            <p:cNvSpPr/>
            <p:nvPr/>
          </p:nvSpPr>
          <p:spPr>
            <a:xfrm>
              <a:off x="2712138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dirty="0">
                  <a:solidFill>
                    <a:srgbClr val="8C8C8C"/>
                  </a:solidFill>
                  <a:latin typeface="Noto Sans SC"/>
                  <a:ea typeface="Noto Sans SC"/>
                  <a:sym typeface="Noto Sans SC"/>
                </a:rPr>
                <a:t>第一天</a:t>
              </a:r>
              <a:endParaRPr lang="en-US" sz="1100" dirty="0"/>
            </a:p>
          </p:txBody>
        </p:sp>
        <p:sp>
          <p:nvSpPr>
            <p:cNvPr id="14" name="AutoShape 20">
              <a:extLst>
                <a:ext uri="{FF2B5EF4-FFF2-40B4-BE49-F238E27FC236}">
                  <a16:creationId xmlns:a16="http://schemas.microsoft.com/office/drawing/2014/main" id="{D601666C-ABBD-DCEC-2D0C-0738DC9BBFDB}"/>
                </a:ext>
              </a:extLst>
            </p:cNvPr>
            <p:cNvSpPr/>
            <p:nvPr/>
          </p:nvSpPr>
          <p:spPr>
            <a:xfrm>
              <a:off x="4084305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第二天</a:t>
              </a:r>
              <a:endParaRPr lang="en-US" sz="1100" dirty="0"/>
            </a:p>
          </p:txBody>
        </p:sp>
        <p:sp>
          <p:nvSpPr>
            <p:cNvPr id="15" name="AutoShape 21">
              <a:extLst>
                <a:ext uri="{FF2B5EF4-FFF2-40B4-BE49-F238E27FC236}">
                  <a16:creationId xmlns:a16="http://schemas.microsoft.com/office/drawing/2014/main" id="{42459C50-5722-58E0-5C8E-BC53AC1B5872}"/>
                </a:ext>
              </a:extLst>
            </p:cNvPr>
            <p:cNvSpPr/>
            <p:nvPr/>
          </p:nvSpPr>
          <p:spPr>
            <a:xfrm>
              <a:off x="5456472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第三天</a:t>
              </a:r>
              <a:endParaRPr lang="en-US" sz="1100" dirty="0"/>
            </a:p>
          </p:txBody>
        </p:sp>
        <p:sp>
          <p:nvSpPr>
            <p:cNvPr id="18" name="AutoShape 22">
              <a:extLst>
                <a:ext uri="{FF2B5EF4-FFF2-40B4-BE49-F238E27FC236}">
                  <a16:creationId xmlns:a16="http://schemas.microsoft.com/office/drawing/2014/main" id="{168D473B-153A-2BB8-3B5B-8BC891B12D64}"/>
                </a:ext>
              </a:extLst>
            </p:cNvPr>
            <p:cNvSpPr/>
            <p:nvPr/>
          </p:nvSpPr>
          <p:spPr>
            <a:xfrm>
              <a:off x="6828639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第四天</a:t>
              </a:r>
              <a:endParaRPr lang="en-US" sz="1100" dirty="0"/>
            </a:p>
          </p:txBody>
        </p:sp>
        <p:sp>
          <p:nvSpPr>
            <p:cNvPr id="29" name="AutoShape 23">
              <a:extLst>
                <a:ext uri="{FF2B5EF4-FFF2-40B4-BE49-F238E27FC236}">
                  <a16:creationId xmlns:a16="http://schemas.microsoft.com/office/drawing/2014/main" id="{C66A5CEE-1D9F-F8E0-6E58-ACEC5AAE1D07}"/>
                </a:ext>
              </a:extLst>
            </p:cNvPr>
            <p:cNvSpPr/>
            <p:nvPr/>
          </p:nvSpPr>
          <p:spPr>
            <a:xfrm>
              <a:off x="8200806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第五天</a:t>
              </a:r>
              <a:endParaRPr lang="en-US" sz="1100" dirty="0"/>
            </a:p>
          </p:txBody>
        </p:sp>
        <p:sp>
          <p:nvSpPr>
            <p:cNvPr id="32" name="AutoShape 24">
              <a:extLst>
                <a:ext uri="{FF2B5EF4-FFF2-40B4-BE49-F238E27FC236}">
                  <a16:creationId xmlns:a16="http://schemas.microsoft.com/office/drawing/2014/main" id="{E512915D-68EA-6B26-2666-C11CD29DF02A}"/>
                </a:ext>
              </a:extLst>
            </p:cNvPr>
            <p:cNvSpPr/>
            <p:nvPr/>
          </p:nvSpPr>
          <p:spPr>
            <a:xfrm>
              <a:off x="9572974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第六天</a:t>
              </a:r>
              <a:endParaRPr lang="en-US" sz="1100" dirty="0"/>
            </a:p>
          </p:txBody>
        </p:sp>
        <p:sp>
          <p:nvSpPr>
            <p:cNvPr id="35" name="AutoShape 25">
              <a:extLst>
                <a:ext uri="{FF2B5EF4-FFF2-40B4-BE49-F238E27FC236}">
                  <a16:creationId xmlns:a16="http://schemas.microsoft.com/office/drawing/2014/main" id="{E6BCC1BA-359C-BF96-9FEC-BE64C28FFC89}"/>
                </a:ext>
              </a:extLst>
            </p:cNvPr>
            <p:cNvSpPr/>
            <p:nvPr/>
          </p:nvSpPr>
          <p:spPr>
            <a:xfrm>
              <a:off x="10945141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第七天</a:t>
              </a:r>
              <a:endParaRPr lang="en-US" sz="1100" dirty="0"/>
            </a:p>
          </p:txBody>
        </p:sp>
        <p:cxnSp>
          <p:nvCxnSpPr>
            <p:cNvPr id="47" name="Connector 26">
              <a:extLst>
                <a:ext uri="{FF2B5EF4-FFF2-40B4-BE49-F238E27FC236}">
                  <a16:creationId xmlns:a16="http://schemas.microsoft.com/office/drawing/2014/main" id="{2434B658-018F-131C-A27F-B3BC6B432959}"/>
                </a:ext>
              </a:extLst>
            </p:cNvPr>
            <p:cNvCxnSpPr>
              <a:cxnSpLocks/>
            </p:cNvCxnSpPr>
            <p:nvPr/>
          </p:nvCxnSpPr>
          <p:spPr>
            <a:xfrm rot="20858847">
              <a:off x="2804124" y="2583232"/>
              <a:ext cx="1293811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48" name="Connector 27">
              <a:extLst>
                <a:ext uri="{FF2B5EF4-FFF2-40B4-BE49-F238E27FC236}">
                  <a16:creationId xmlns:a16="http://schemas.microsoft.com/office/drawing/2014/main" id="{8664650D-2F85-9677-802A-1B25500ABD2C}"/>
                </a:ext>
              </a:extLst>
            </p:cNvPr>
            <p:cNvCxnSpPr>
              <a:cxnSpLocks/>
            </p:cNvCxnSpPr>
            <p:nvPr/>
          </p:nvCxnSpPr>
          <p:spPr>
            <a:xfrm rot="296636">
              <a:off x="4081172" y="2530880"/>
              <a:ext cx="137849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49" name="Connector 28">
              <a:extLst>
                <a:ext uri="{FF2B5EF4-FFF2-40B4-BE49-F238E27FC236}">
                  <a16:creationId xmlns:a16="http://schemas.microsoft.com/office/drawing/2014/main" id="{F52F74C6-76DD-7DC7-B27A-F6AB2354ED89}"/>
                </a:ext>
              </a:extLst>
            </p:cNvPr>
            <p:cNvCxnSpPr>
              <a:cxnSpLocks/>
            </p:cNvCxnSpPr>
            <p:nvPr/>
          </p:nvCxnSpPr>
          <p:spPr>
            <a:xfrm rot="20914409">
              <a:off x="5443932" y="2478512"/>
              <a:ext cx="1397309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0" name="Connector 29">
              <a:extLst>
                <a:ext uri="{FF2B5EF4-FFF2-40B4-BE49-F238E27FC236}">
                  <a16:creationId xmlns:a16="http://schemas.microsoft.com/office/drawing/2014/main" id="{C8AFB2D3-BB66-5FE3-50E1-AAA7AB9803CF}"/>
                </a:ext>
              </a:extLst>
            </p:cNvPr>
            <p:cNvCxnSpPr>
              <a:cxnSpLocks/>
            </p:cNvCxnSpPr>
            <p:nvPr/>
          </p:nvCxnSpPr>
          <p:spPr>
            <a:xfrm rot="459717">
              <a:off x="6821571" y="2452341"/>
              <a:ext cx="138636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1" name="Connector 30">
              <a:extLst>
                <a:ext uri="{FF2B5EF4-FFF2-40B4-BE49-F238E27FC236}">
                  <a16:creationId xmlns:a16="http://schemas.microsoft.com/office/drawing/2014/main" id="{75BA6401-82A9-00C3-37A2-DF470B5234EC}"/>
                </a:ext>
              </a:extLst>
            </p:cNvPr>
            <p:cNvCxnSpPr>
              <a:cxnSpLocks/>
            </p:cNvCxnSpPr>
            <p:nvPr/>
          </p:nvCxnSpPr>
          <p:spPr>
            <a:xfrm rot="296636">
              <a:off x="8197673" y="2583240"/>
              <a:ext cx="137849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2" name="Connector 31">
              <a:extLst>
                <a:ext uri="{FF2B5EF4-FFF2-40B4-BE49-F238E27FC236}">
                  <a16:creationId xmlns:a16="http://schemas.microsoft.com/office/drawing/2014/main" id="{911F4780-CED0-53E9-2503-5BC4FC5F9E23}"/>
                </a:ext>
              </a:extLst>
            </p:cNvPr>
            <p:cNvCxnSpPr>
              <a:cxnSpLocks/>
            </p:cNvCxnSpPr>
            <p:nvPr/>
          </p:nvCxnSpPr>
          <p:spPr>
            <a:xfrm rot="21335983">
              <a:off x="9571453" y="2598944"/>
              <a:ext cx="1375271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3" name="Connector 18">
              <a:extLst>
                <a:ext uri="{FF2B5EF4-FFF2-40B4-BE49-F238E27FC236}">
                  <a16:creationId xmlns:a16="http://schemas.microsoft.com/office/drawing/2014/main" id="{C65D771A-8D87-A6BB-12B9-70CAFD94277D}"/>
                </a:ext>
              </a:extLst>
            </p:cNvPr>
            <p:cNvCxnSpPr>
              <a:cxnSpLocks/>
            </p:cNvCxnSpPr>
            <p:nvPr/>
          </p:nvCxnSpPr>
          <p:spPr>
            <a:xfrm rot="5365623">
              <a:off x="1991309" y="2893681"/>
              <a:ext cx="1047201" cy="13194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CCCC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4" name="AutoShape 44">
              <a:extLst>
                <a:ext uri="{FF2B5EF4-FFF2-40B4-BE49-F238E27FC236}">
                  <a16:creationId xmlns:a16="http://schemas.microsoft.com/office/drawing/2014/main" id="{E682891D-004F-8A34-E9B4-28DA976591B8}"/>
                </a:ext>
              </a:extLst>
            </p:cNvPr>
            <p:cNvSpPr/>
            <p:nvPr/>
          </p:nvSpPr>
          <p:spPr>
            <a:xfrm>
              <a:off x="2053123" y="2324291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3</a:t>
              </a: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00</a:t>
              </a:r>
              <a:endParaRPr lang="en-US" sz="1100" dirty="0"/>
            </a:p>
          </p:txBody>
        </p:sp>
        <p:sp>
          <p:nvSpPr>
            <p:cNvPr id="55" name="AutoShape 45">
              <a:extLst>
                <a:ext uri="{FF2B5EF4-FFF2-40B4-BE49-F238E27FC236}">
                  <a16:creationId xmlns:a16="http://schemas.microsoft.com/office/drawing/2014/main" id="{4975EAD0-9D46-3A12-AB9B-E99864B80082}"/>
                </a:ext>
              </a:extLst>
            </p:cNvPr>
            <p:cNvSpPr/>
            <p:nvPr/>
          </p:nvSpPr>
          <p:spPr>
            <a:xfrm>
              <a:off x="2053123" y="2669868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2</a:t>
              </a: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00</a:t>
              </a:r>
              <a:endParaRPr lang="en-US" sz="1100" dirty="0"/>
            </a:p>
          </p:txBody>
        </p:sp>
        <p:sp>
          <p:nvSpPr>
            <p:cNvPr id="56" name="AutoShape 46">
              <a:extLst>
                <a:ext uri="{FF2B5EF4-FFF2-40B4-BE49-F238E27FC236}">
                  <a16:creationId xmlns:a16="http://schemas.microsoft.com/office/drawing/2014/main" id="{039BBEC1-D488-F6F2-EA26-FEC356D5505B}"/>
                </a:ext>
              </a:extLst>
            </p:cNvPr>
            <p:cNvSpPr/>
            <p:nvPr/>
          </p:nvSpPr>
          <p:spPr>
            <a:xfrm>
              <a:off x="2053123" y="3015444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1</a:t>
              </a: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00</a:t>
              </a:r>
              <a:endParaRPr lang="en-US" sz="1100" dirty="0"/>
            </a:p>
          </p:txBody>
        </p:sp>
        <p:sp>
          <p:nvSpPr>
            <p:cNvPr id="57" name="AutoShape 47">
              <a:extLst>
                <a:ext uri="{FF2B5EF4-FFF2-40B4-BE49-F238E27FC236}">
                  <a16:creationId xmlns:a16="http://schemas.microsoft.com/office/drawing/2014/main" id="{2B15A804-8B7A-89A5-2E5D-61537B0F3307}"/>
                </a:ext>
              </a:extLst>
            </p:cNvPr>
            <p:cNvSpPr/>
            <p:nvPr/>
          </p:nvSpPr>
          <p:spPr>
            <a:xfrm>
              <a:off x="2053123" y="3361021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</a:t>
              </a:r>
              <a:endParaRPr lang="en-US" sz="1100" dirty="0"/>
            </a:p>
          </p:txBody>
        </p:sp>
      </p:grp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E76007FD-6810-41F2-B28E-C1231E83D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434928"/>
              </p:ext>
            </p:extLst>
          </p:nvPr>
        </p:nvGraphicFramePr>
        <p:xfrm>
          <a:off x="2546125" y="4552092"/>
          <a:ext cx="3721100" cy="365760"/>
        </p:xfrm>
        <a:graphic>
          <a:graphicData uri="http://schemas.openxmlformats.org/drawingml/2006/table">
            <a:tbl>
              <a:tblPr/>
              <a:tblGrid>
                <a:gridCol w="930275">
                  <a:extLst>
                    <a:ext uri="{9D8B030D-6E8A-4147-A177-3AD203B41FA5}">
                      <a16:colId xmlns:a16="http://schemas.microsoft.com/office/drawing/2014/main" val="1447535226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713488200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1463587908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420613421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名称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t1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t2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t96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7290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负荷预测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210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220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3152111"/>
                  </a:ext>
                </a:extLst>
              </a:tr>
            </a:tbl>
          </a:graphicData>
        </a:graphic>
      </p:graphicFrame>
      <p:sp>
        <p:nvSpPr>
          <p:cNvPr id="6" name="AutoShape 5">
            <a:extLst>
              <a:ext uri="{FF2B5EF4-FFF2-40B4-BE49-F238E27FC236}">
                <a16:creationId xmlns:a16="http://schemas.microsoft.com/office/drawing/2014/main" id="{DDF1B50F-B7DF-1AE0-2C0A-9752F295C102}"/>
              </a:ext>
            </a:extLst>
          </p:cNvPr>
          <p:cNvSpPr/>
          <p:nvPr/>
        </p:nvSpPr>
        <p:spPr>
          <a:xfrm>
            <a:off x="3460673" y="833347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13">
            <a:extLst>
              <a:ext uri="{FF2B5EF4-FFF2-40B4-BE49-F238E27FC236}">
                <a16:creationId xmlns:a16="http://schemas.microsoft.com/office/drawing/2014/main" id="{E7690166-670D-A01C-CC75-E5E8A127DC42}"/>
              </a:ext>
            </a:extLst>
          </p:cNvPr>
          <p:cNvSpPr/>
          <p:nvPr/>
        </p:nvSpPr>
        <p:spPr>
          <a:xfrm>
            <a:off x="3608506" y="909547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负荷预测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sp>
        <p:nvSpPr>
          <p:cNvPr id="31" name="AutoShape 11">
            <a:extLst>
              <a:ext uri="{FF2B5EF4-FFF2-40B4-BE49-F238E27FC236}">
                <a16:creationId xmlns:a16="http://schemas.microsoft.com/office/drawing/2014/main" id="{4DDA524D-0343-2F26-2D88-7B5F0D6F8249}"/>
              </a:ext>
            </a:extLst>
          </p:cNvPr>
          <p:cNvSpPr/>
          <p:nvPr/>
        </p:nvSpPr>
        <p:spPr>
          <a:xfrm>
            <a:off x="2510417" y="909547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电价预测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sp>
        <p:nvSpPr>
          <p:cNvPr id="58" name="AutoShape 11">
            <a:extLst>
              <a:ext uri="{FF2B5EF4-FFF2-40B4-BE49-F238E27FC236}">
                <a16:creationId xmlns:a16="http://schemas.microsoft.com/office/drawing/2014/main" id="{96A4B87E-24A2-3852-278F-EF266786A201}"/>
              </a:ext>
            </a:extLst>
          </p:cNvPr>
          <p:cNvSpPr/>
          <p:nvPr/>
        </p:nvSpPr>
        <p:spPr>
          <a:xfrm>
            <a:off x="4951577" y="909547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风电功率预测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sp>
        <p:nvSpPr>
          <p:cNvPr id="59" name="AutoShape 11">
            <a:extLst>
              <a:ext uri="{FF2B5EF4-FFF2-40B4-BE49-F238E27FC236}">
                <a16:creationId xmlns:a16="http://schemas.microsoft.com/office/drawing/2014/main" id="{EC02B55B-C2A4-D2BB-2965-BC64CBCA2EC6}"/>
              </a:ext>
            </a:extLst>
          </p:cNvPr>
          <p:cNvSpPr/>
          <p:nvPr/>
        </p:nvSpPr>
        <p:spPr>
          <a:xfrm>
            <a:off x="6754957" y="909547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光伏功率预测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sp>
        <p:nvSpPr>
          <p:cNvPr id="60" name="AutoShape 11">
            <a:extLst>
              <a:ext uri="{FF2B5EF4-FFF2-40B4-BE49-F238E27FC236}">
                <a16:creationId xmlns:a16="http://schemas.microsoft.com/office/drawing/2014/main" id="{2D1E5653-231E-4A38-2848-47EB2033E04B}"/>
              </a:ext>
            </a:extLst>
          </p:cNvPr>
          <p:cNvSpPr/>
          <p:nvPr/>
        </p:nvSpPr>
        <p:spPr>
          <a:xfrm>
            <a:off x="8341047" y="909547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供需比预测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pic>
        <p:nvPicPr>
          <p:cNvPr id="61" name="Picture 10">
            <a:extLst>
              <a:ext uri="{FF2B5EF4-FFF2-40B4-BE49-F238E27FC236}">
                <a16:creationId xmlns:a16="http://schemas.microsoft.com/office/drawing/2014/main" id="{601C86EA-4C5F-6964-6CC8-EF0B11B268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144" y="2956748"/>
            <a:ext cx="203200" cy="203200"/>
          </a:xfrm>
          <a:prstGeom prst="rect">
            <a:avLst/>
          </a:prstGeom>
        </p:spPr>
      </p:pic>
      <p:sp>
        <p:nvSpPr>
          <p:cNvPr id="62" name="AutoShape 11">
            <a:extLst>
              <a:ext uri="{FF2B5EF4-FFF2-40B4-BE49-F238E27FC236}">
                <a16:creationId xmlns:a16="http://schemas.microsoft.com/office/drawing/2014/main" id="{A06972BA-2DDD-63EA-F024-0B4DBB5ADA7A}"/>
              </a:ext>
            </a:extLst>
          </p:cNvPr>
          <p:cNvSpPr/>
          <p:nvPr/>
        </p:nvSpPr>
        <p:spPr>
          <a:xfrm>
            <a:off x="944944" y="2905948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市场交易</a:t>
            </a:r>
            <a:endParaRPr lang="en-US" altLang="zh-CN" sz="1100" dirty="0"/>
          </a:p>
        </p:txBody>
      </p:sp>
      <p:pic>
        <p:nvPicPr>
          <p:cNvPr id="63" name="Picture 8">
            <a:extLst>
              <a:ext uri="{FF2B5EF4-FFF2-40B4-BE49-F238E27FC236}">
                <a16:creationId xmlns:a16="http://schemas.microsoft.com/office/drawing/2014/main" id="{48416456-289F-4274-EABF-52EC8969FD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1440873"/>
            <a:ext cx="203200" cy="203200"/>
          </a:xfrm>
          <a:prstGeom prst="rect">
            <a:avLst/>
          </a:prstGeom>
        </p:spPr>
      </p:pic>
      <p:sp>
        <p:nvSpPr>
          <p:cNvPr id="64" name="AutoShape 9">
            <a:extLst>
              <a:ext uri="{FF2B5EF4-FFF2-40B4-BE49-F238E27FC236}">
                <a16:creationId xmlns:a16="http://schemas.microsoft.com/office/drawing/2014/main" id="{B88D0675-0E6B-0D58-D9A5-4C3267CD591C}"/>
              </a:ext>
            </a:extLst>
          </p:cNvPr>
          <p:cNvSpPr/>
          <p:nvPr/>
        </p:nvSpPr>
        <p:spPr>
          <a:xfrm>
            <a:off x="965200" y="13900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企业信息</a:t>
            </a:r>
            <a:endParaRPr lang="en-US" sz="1100" dirty="0"/>
          </a:p>
        </p:txBody>
      </p:sp>
      <p:pic>
        <p:nvPicPr>
          <p:cNvPr id="65" name="Picture 12">
            <a:extLst>
              <a:ext uri="{FF2B5EF4-FFF2-40B4-BE49-F238E27FC236}">
                <a16:creationId xmlns:a16="http://schemas.microsoft.com/office/drawing/2014/main" id="{B20D0021-C0E5-7F4E-B5CB-39D826B973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144" y="3485574"/>
            <a:ext cx="203200" cy="203200"/>
          </a:xfrm>
          <a:prstGeom prst="rect">
            <a:avLst/>
          </a:prstGeom>
        </p:spPr>
      </p:pic>
      <p:sp>
        <p:nvSpPr>
          <p:cNvPr id="66" name="AutoShape 13">
            <a:extLst>
              <a:ext uri="{FF2B5EF4-FFF2-40B4-BE49-F238E27FC236}">
                <a16:creationId xmlns:a16="http://schemas.microsoft.com/office/drawing/2014/main" id="{B1A74AE5-F510-A7F1-6708-5C2A0C65C7CD}"/>
              </a:ext>
            </a:extLst>
          </p:cNvPr>
          <p:cNvSpPr/>
          <p:nvPr/>
        </p:nvSpPr>
        <p:spPr>
          <a:xfrm>
            <a:off x="944944" y="3434774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结算报告</a:t>
            </a:r>
            <a:endParaRPr lang="en-US" altLang="zh-CN" sz="1100" dirty="0"/>
          </a:p>
        </p:txBody>
      </p:sp>
      <p:sp>
        <p:nvSpPr>
          <p:cNvPr id="67" name="AutoShape 5">
            <a:extLst>
              <a:ext uri="{FF2B5EF4-FFF2-40B4-BE49-F238E27FC236}">
                <a16:creationId xmlns:a16="http://schemas.microsoft.com/office/drawing/2014/main" id="{4165BE01-981F-76B6-2928-7C700496FB7E}"/>
              </a:ext>
            </a:extLst>
          </p:cNvPr>
          <p:cNvSpPr/>
          <p:nvPr/>
        </p:nvSpPr>
        <p:spPr>
          <a:xfrm>
            <a:off x="508000" y="2312735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8" name="Picture 6">
            <a:extLst>
              <a:ext uri="{FF2B5EF4-FFF2-40B4-BE49-F238E27FC236}">
                <a16:creationId xmlns:a16="http://schemas.microsoft.com/office/drawing/2014/main" id="{C3806824-4E52-9487-F6AA-793215873E3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" y="2439735"/>
            <a:ext cx="203200" cy="203200"/>
          </a:xfrm>
          <a:prstGeom prst="rect">
            <a:avLst/>
          </a:prstGeom>
        </p:spPr>
      </p:pic>
      <p:sp>
        <p:nvSpPr>
          <p:cNvPr id="69" name="AutoShape 7">
            <a:extLst>
              <a:ext uri="{FF2B5EF4-FFF2-40B4-BE49-F238E27FC236}">
                <a16:creationId xmlns:a16="http://schemas.microsoft.com/office/drawing/2014/main" id="{A152ECD6-9382-B80A-48B7-E049E229F6C3}"/>
              </a:ext>
            </a:extLst>
          </p:cNvPr>
          <p:cNvSpPr/>
          <p:nvPr/>
        </p:nvSpPr>
        <p:spPr>
          <a:xfrm>
            <a:off x="965200" y="2388935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1" i="0" u="none" strike="noStrike" dirty="0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信息披露</a:t>
            </a:r>
            <a:endParaRPr lang="en-US" sz="1100" dirty="0"/>
          </a:p>
        </p:txBody>
      </p:sp>
      <p:sp>
        <p:nvSpPr>
          <p:cNvPr id="70" name="AutoShape 13">
            <a:extLst>
              <a:ext uri="{FF2B5EF4-FFF2-40B4-BE49-F238E27FC236}">
                <a16:creationId xmlns:a16="http://schemas.microsoft.com/office/drawing/2014/main" id="{87E6CBE0-6542-D43B-8296-620F0F691F99}"/>
              </a:ext>
            </a:extLst>
          </p:cNvPr>
          <p:cNvSpPr/>
          <p:nvPr/>
        </p:nvSpPr>
        <p:spPr>
          <a:xfrm>
            <a:off x="965200" y="1826004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成交历史</a:t>
            </a:r>
            <a:endParaRPr lang="en-US" sz="1100" dirty="0"/>
          </a:p>
        </p:txBody>
      </p:sp>
      <p:pic>
        <p:nvPicPr>
          <p:cNvPr id="71" name="Picture 14">
            <a:extLst>
              <a:ext uri="{FF2B5EF4-FFF2-40B4-BE49-F238E27FC236}">
                <a16:creationId xmlns:a16="http://schemas.microsoft.com/office/drawing/2014/main" id="{5913D648-520E-9EB1-5824-B90D8F7A19D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" y="1876804"/>
            <a:ext cx="2032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94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72F20-7066-BE0C-CA64-29663F681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54B9F4E-D193-AF39-9076-E2BF13BF29F8}"/>
              </a:ext>
            </a:extLst>
          </p:cNvPr>
          <p:cNvSpPr/>
          <p:nvPr/>
        </p:nvSpPr>
        <p:spPr>
          <a:xfrm>
            <a:off x="508000" y="203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电力市场</a:t>
            </a:r>
            <a:r>
              <a:rPr lang="en-US" sz="1800" b="1" i="0" u="none" strike="noStrike" dirty="0" err="1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lang="en-US" sz="1100" dirty="0"/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AEBF44B8-5874-DF4E-9009-7DE1E5786AB6}"/>
              </a:ext>
            </a:extLst>
          </p:cNvPr>
          <p:cNvCxnSpPr/>
          <p:nvPr/>
        </p:nvCxnSpPr>
        <p:spPr>
          <a:xfrm rot="-3906">
            <a:off x="508004" y="704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51E07E20-53AE-1BFC-603A-96EFB8855ED3}"/>
              </a:ext>
            </a:extLst>
          </p:cNvPr>
          <p:cNvSpPr/>
          <p:nvPr/>
        </p:nvSpPr>
        <p:spPr>
          <a:xfrm>
            <a:off x="508000" y="914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lang="en-US" sz="1100" dirty="0"/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F897A810-15F3-BB2B-A1AD-AEA0BA8E24F2}"/>
              </a:ext>
            </a:extLst>
          </p:cNvPr>
          <p:cNvCxnSpPr>
            <a:cxnSpLocks/>
          </p:cNvCxnSpPr>
          <p:nvPr/>
        </p:nvCxnSpPr>
        <p:spPr>
          <a:xfrm>
            <a:off x="1990706" y="942109"/>
            <a:ext cx="20461" cy="796287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>
            <a:extLst>
              <a:ext uri="{FF2B5EF4-FFF2-40B4-BE49-F238E27FC236}">
                <a16:creationId xmlns:a16="http://schemas.microsoft.com/office/drawing/2014/main" id="{4BE9C3AF-671A-A3E8-9681-9A50333CE85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C924253F-D994-5F25-E0A4-05A3FF3E1BE2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21F11DFA-D253-7E34-F3D9-7FF1969646D1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F29BAA82-563B-0732-E8D5-BDD4721D6BE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94526113-B2BD-A6B7-B931-EFE4B7E9140A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B647AEC8-B832-52AC-BAEC-BD09859BE52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B791414C-1F71-50BC-2E80-FB61F0D81E22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9294FF46-90A0-B53D-E6B3-9CA2EA0F774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0DCDB939-6A6F-D40C-AD3C-756614EA1D1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837ED70B-9E6D-4367-40E4-5C5E230F0B6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7224B29D-92DB-8BC5-B161-9AF26740390B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90A5578E-088E-C030-5309-5291491C0BBA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5B05E53E-87AE-3DB9-233F-EDEE212547CD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FC0B71E5-1CAD-C1E4-C22A-72A5F0ACAF4B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C868EAD6-8B40-244B-D6BC-B738B2048DC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F435DF82-0FBB-1E22-DD25-007234C2924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CC82509-DCB4-8D93-4B53-3D07CC3F68AD}"/>
              </a:ext>
            </a:extLst>
          </p:cNvPr>
          <p:cNvGrpSpPr/>
          <p:nvPr/>
        </p:nvGrpSpPr>
        <p:grpSpPr>
          <a:xfrm>
            <a:off x="2535433" y="1825502"/>
            <a:ext cx="7432420" cy="2292595"/>
            <a:chOff x="2039248" y="1447800"/>
            <a:chExt cx="9644751" cy="2292595"/>
          </a:xfrm>
        </p:grpSpPr>
        <p:sp>
          <p:nvSpPr>
            <p:cNvPr id="9" name="AutoShape 7">
              <a:extLst>
                <a:ext uri="{FF2B5EF4-FFF2-40B4-BE49-F238E27FC236}">
                  <a16:creationId xmlns:a16="http://schemas.microsoft.com/office/drawing/2014/main" id="{B2D36042-4345-299B-D511-FB90420A3B8D}"/>
                </a:ext>
              </a:extLst>
            </p:cNvPr>
            <p:cNvSpPr/>
            <p:nvPr/>
          </p:nvSpPr>
          <p:spPr>
            <a:xfrm>
              <a:off x="2039248" y="1447800"/>
              <a:ext cx="9644751" cy="2292595"/>
            </a:xfrm>
            <a:prstGeom prst="roundRect">
              <a:avLst>
                <a:gd name="adj" fmla="val 4444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E5E6EB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0" name="AutoShape 8">
              <a:extLst>
                <a:ext uri="{FF2B5EF4-FFF2-40B4-BE49-F238E27FC236}">
                  <a16:creationId xmlns:a16="http://schemas.microsoft.com/office/drawing/2014/main" id="{0BE0B690-E7AE-C315-6EAB-59D704703F70}"/>
                </a:ext>
              </a:extLst>
            </p:cNvPr>
            <p:cNvSpPr/>
            <p:nvPr/>
          </p:nvSpPr>
          <p:spPr>
            <a:xfrm>
              <a:off x="2502484" y="1612022"/>
              <a:ext cx="2672096" cy="267578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600" b="1" i="0" u="none" strike="noStrike" dirty="0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风电功率预测</a:t>
              </a:r>
              <a:endParaRPr lang="en-US" sz="1100" dirty="0"/>
            </a:p>
          </p:txBody>
        </p:sp>
        <p:sp>
          <p:nvSpPr>
            <p:cNvPr id="11" name="AutoShape 16">
              <a:extLst>
                <a:ext uri="{FF2B5EF4-FFF2-40B4-BE49-F238E27FC236}">
                  <a16:creationId xmlns:a16="http://schemas.microsoft.com/office/drawing/2014/main" id="{5A188D49-FF21-D049-729F-EF2643D411D8}"/>
                </a:ext>
              </a:extLst>
            </p:cNvPr>
            <p:cNvSpPr/>
            <p:nvPr/>
          </p:nvSpPr>
          <p:spPr>
            <a:xfrm>
              <a:off x="2395698" y="2050909"/>
              <a:ext cx="1266718" cy="176818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zh-CN" altLang="en-US" sz="1100" b="0" i="0" u="none" strike="noStrike" dirty="0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风电功率</a:t>
              </a:r>
              <a:r>
                <a:rPr lang="en-US" sz="1100" b="0" i="0" u="none" strike="noStrike" dirty="0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(kW)</a:t>
              </a:r>
              <a:endParaRPr lang="en-US" sz="1100" dirty="0"/>
            </a:p>
          </p:txBody>
        </p:sp>
        <p:cxnSp>
          <p:nvCxnSpPr>
            <p:cNvPr id="12" name="Connector 17">
              <a:extLst>
                <a:ext uri="{FF2B5EF4-FFF2-40B4-BE49-F238E27FC236}">
                  <a16:creationId xmlns:a16="http://schemas.microsoft.com/office/drawing/2014/main" id="{03A94059-560A-7B3E-C220-B10B2E1B7362}"/>
                </a:ext>
              </a:extLst>
            </p:cNvPr>
            <p:cNvCxnSpPr>
              <a:cxnSpLocks/>
            </p:cNvCxnSpPr>
            <p:nvPr/>
          </p:nvCxnSpPr>
          <p:spPr>
            <a:xfrm>
              <a:off x="2501035" y="3426235"/>
              <a:ext cx="8971862" cy="41888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CCCC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" name="AutoShape 19">
              <a:extLst>
                <a:ext uri="{FF2B5EF4-FFF2-40B4-BE49-F238E27FC236}">
                  <a16:creationId xmlns:a16="http://schemas.microsoft.com/office/drawing/2014/main" id="{589AE04A-15CD-0CB1-A873-4561E523140E}"/>
                </a:ext>
              </a:extLst>
            </p:cNvPr>
            <p:cNvSpPr/>
            <p:nvPr/>
          </p:nvSpPr>
          <p:spPr>
            <a:xfrm>
              <a:off x="2712138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dirty="0">
                  <a:solidFill>
                    <a:srgbClr val="8C8C8C"/>
                  </a:solidFill>
                  <a:latin typeface="Noto Sans SC"/>
                  <a:ea typeface="Noto Sans SC"/>
                  <a:sym typeface="Noto Sans SC"/>
                </a:rPr>
                <a:t>第一天</a:t>
              </a:r>
              <a:endParaRPr lang="en-US" sz="1100" dirty="0"/>
            </a:p>
          </p:txBody>
        </p:sp>
        <p:sp>
          <p:nvSpPr>
            <p:cNvPr id="14" name="AutoShape 20">
              <a:extLst>
                <a:ext uri="{FF2B5EF4-FFF2-40B4-BE49-F238E27FC236}">
                  <a16:creationId xmlns:a16="http://schemas.microsoft.com/office/drawing/2014/main" id="{131FEBF5-2AD5-26B3-C5B5-64D965216102}"/>
                </a:ext>
              </a:extLst>
            </p:cNvPr>
            <p:cNvSpPr/>
            <p:nvPr/>
          </p:nvSpPr>
          <p:spPr>
            <a:xfrm>
              <a:off x="4084305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第二天</a:t>
              </a:r>
              <a:endParaRPr lang="en-US" sz="1100" dirty="0"/>
            </a:p>
          </p:txBody>
        </p:sp>
        <p:sp>
          <p:nvSpPr>
            <p:cNvPr id="15" name="AutoShape 21">
              <a:extLst>
                <a:ext uri="{FF2B5EF4-FFF2-40B4-BE49-F238E27FC236}">
                  <a16:creationId xmlns:a16="http://schemas.microsoft.com/office/drawing/2014/main" id="{38A09767-96BE-60E2-9270-3933CBB34B1C}"/>
                </a:ext>
              </a:extLst>
            </p:cNvPr>
            <p:cNvSpPr/>
            <p:nvPr/>
          </p:nvSpPr>
          <p:spPr>
            <a:xfrm>
              <a:off x="5456472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第三天</a:t>
              </a:r>
              <a:endParaRPr lang="en-US" sz="1100" dirty="0"/>
            </a:p>
          </p:txBody>
        </p:sp>
        <p:sp>
          <p:nvSpPr>
            <p:cNvPr id="18" name="AutoShape 22">
              <a:extLst>
                <a:ext uri="{FF2B5EF4-FFF2-40B4-BE49-F238E27FC236}">
                  <a16:creationId xmlns:a16="http://schemas.microsoft.com/office/drawing/2014/main" id="{C52F0759-1A80-FE4F-CFFA-B2BA3B172778}"/>
                </a:ext>
              </a:extLst>
            </p:cNvPr>
            <p:cNvSpPr/>
            <p:nvPr/>
          </p:nvSpPr>
          <p:spPr>
            <a:xfrm>
              <a:off x="6828639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第四天</a:t>
              </a:r>
              <a:endParaRPr lang="en-US" sz="1100" dirty="0"/>
            </a:p>
          </p:txBody>
        </p:sp>
        <p:sp>
          <p:nvSpPr>
            <p:cNvPr id="29" name="AutoShape 23">
              <a:extLst>
                <a:ext uri="{FF2B5EF4-FFF2-40B4-BE49-F238E27FC236}">
                  <a16:creationId xmlns:a16="http://schemas.microsoft.com/office/drawing/2014/main" id="{698DA476-487E-CB07-02FB-68F44BD202E1}"/>
                </a:ext>
              </a:extLst>
            </p:cNvPr>
            <p:cNvSpPr/>
            <p:nvPr/>
          </p:nvSpPr>
          <p:spPr>
            <a:xfrm>
              <a:off x="8200806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第五天</a:t>
              </a:r>
              <a:endParaRPr lang="en-US" sz="1100" dirty="0"/>
            </a:p>
          </p:txBody>
        </p:sp>
        <p:sp>
          <p:nvSpPr>
            <p:cNvPr id="32" name="AutoShape 24">
              <a:extLst>
                <a:ext uri="{FF2B5EF4-FFF2-40B4-BE49-F238E27FC236}">
                  <a16:creationId xmlns:a16="http://schemas.microsoft.com/office/drawing/2014/main" id="{AF73224F-6E6E-6905-591C-ADE134C78197}"/>
                </a:ext>
              </a:extLst>
            </p:cNvPr>
            <p:cNvSpPr/>
            <p:nvPr/>
          </p:nvSpPr>
          <p:spPr>
            <a:xfrm>
              <a:off x="9572974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第六天</a:t>
              </a:r>
              <a:endParaRPr lang="en-US" sz="1100" dirty="0"/>
            </a:p>
          </p:txBody>
        </p:sp>
        <p:sp>
          <p:nvSpPr>
            <p:cNvPr id="35" name="AutoShape 25">
              <a:extLst>
                <a:ext uri="{FF2B5EF4-FFF2-40B4-BE49-F238E27FC236}">
                  <a16:creationId xmlns:a16="http://schemas.microsoft.com/office/drawing/2014/main" id="{A0BDFE3A-B2B5-BA98-C891-D1C38A1D7FC9}"/>
                </a:ext>
              </a:extLst>
            </p:cNvPr>
            <p:cNvSpPr/>
            <p:nvPr/>
          </p:nvSpPr>
          <p:spPr>
            <a:xfrm>
              <a:off x="10945141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第七天</a:t>
              </a:r>
              <a:endParaRPr lang="en-US" sz="1100" dirty="0"/>
            </a:p>
          </p:txBody>
        </p:sp>
        <p:cxnSp>
          <p:nvCxnSpPr>
            <p:cNvPr id="47" name="Connector 26">
              <a:extLst>
                <a:ext uri="{FF2B5EF4-FFF2-40B4-BE49-F238E27FC236}">
                  <a16:creationId xmlns:a16="http://schemas.microsoft.com/office/drawing/2014/main" id="{C946C4C6-F066-D078-73F1-F1D1E7CC1154}"/>
                </a:ext>
              </a:extLst>
            </p:cNvPr>
            <p:cNvCxnSpPr>
              <a:cxnSpLocks/>
            </p:cNvCxnSpPr>
            <p:nvPr/>
          </p:nvCxnSpPr>
          <p:spPr>
            <a:xfrm rot="20858847">
              <a:off x="2804124" y="2583232"/>
              <a:ext cx="1293811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48" name="Connector 27">
              <a:extLst>
                <a:ext uri="{FF2B5EF4-FFF2-40B4-BE49-F238E27FC236}">
                  <a16:creationId xmlns:a16="http://schemas.microsoft.com/office/drawing/2014/main" id="{4F7D96F9-C35F-A4FD-0990-805004D91666}"/>
                </a:ext>
              </a:extLst>
            </p:cNvPr>
            <p:cNvCxnSpPr>
              <a:cxnSpLocks/>
            </p:cNvCxnSpPr>
            <p:nvPr/>
          </p:nvCxnSpPr>
          <p:spPr>
            <a:xfrm rot="296636">
              <a:off x="4081172" y="2530880"/>
              <a:ext cx="137849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49" name="Connector 28">
              <a:extLst>
                <a:ext uri="{FF2B5EF4-FFF2-40B4-BE49-F238E27FC236}">
                  <a16:creationId xmlns:a16="http://schemas.microsoft.com/office/drawing/2014/main" id="{9DCBDF64-3085-280F-5F6B-00641C78165D}"/>
                </a:ext>
              </a:extLst>
            </p:cNvPr>
            <p:cNvCxnSpPr>
              <a:cxnSpLocks/>
            </p:cNvCxnSpPr>
            <p:nvPr/>
          </p:nvCxnSpPr>
          <p:spPr>
            <a:xfrm rot="20914409">
              <a:off x="5443932" y="2478512"/>
              <a:ext cx="1397309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0" name="Connector 29">
              <a:extLst>
                <a:ext uri="{FF2B5EF4-FFF2-40B4-BE49-F238E27FC236}">
                  <a16:creationId xmlns:a16="http://schemas.microsoft.com/office/drawing/2014/main" id="{38F88674-A442-6B68-C094-260725621147}"/>
                </a:ext>
              </a:extLst>
            </p:cNvPr>
            <p:cNvCxnSpPr>
              <a:cxnSpLocks/>
            </p:cNvCxnSpPr>
            <p:nvPr/>
          </p:nvCxnSpPr>
          <p:spPr>
            <a:xfrm rot="459717">
              <a:off x="6821571" y="2452341"/>
              <a:ext cx="138636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1" name="Connector 30">
              <a:extLst>
                <a:ext uri="{FF2B5EF4-FFF2-40B4-BE49-F238E27FC236}">
                  <a16:creationId xmlns:a16="http://schemas.microsoft.com/office/drawing/2014/main" id="{EB3F5CAF-C3BA-C249-FC5A-928C02CDA719}"/>
                </a:ext>
              </a:extLst>
            </p:cNvPr>
            <p:cNvCxnSpPr>
              <a:cxnSpLocks/>
            </p:cNvCxnSpPr>
            <p:nvPr/>
          </p:nvCxnSpPr>
          <p:spPr>
            <a:xfrm rot="296636">
              <a:off x="8197673" y="2583240"/>
              <a:ext cx="137849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2" name="Connector 31">
              <a:extLst>
                <a:ext uri="{FF2B5EF4-FFF2-40B4-BE49-F238E27FC236}">
                  <a16:creationId xmlns:a16="http://schemas.microsoft.com/office/drawing/2014/main" id="{E6F1CEFA-6A5F-0637-00DE-1B40418676B0}"/>
                </a:ext>
              </a:extLst>
            </p:cNvPr>
            <p:cNvCxnSpPr>
              <a:cxnSpLocks/>
            </p:cNvCxnSpPr>
            <p:nvPr/>
          </p:nvCxnSpPr>
          <p:spPr>
            <a:xfrm rot="21335983">
              <a:off x="9571453" y="2598944"/>
              <a:ext cx="1375271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3" name="Connector 18">
              <a:extLst>
                <a:ext uri="{FF2B5EF4-FFF2-40B4-BE49-F238E27FC236}">
                  <a16:creationId xmlns:a16="http://schemas.microsoft.com/office/drawing/2014/main" id="{097824B6-CBF9-2121-0800-B1978C58A696}"/>
                </a:ext>
              </a:extLst>
            </p:cNvPr>
            <p:cNvCxnSpPr>
              <a:cxnSpLocks/>
            </p:cNvCxnSpPr>
            <p:nvPr/>
          </p:nvCxnSpPr>
          <p:spPr>
            <a:xfrm rot="5365623">
              <a:off x="1991309" y="2893681"/>
              <a:ext cx="1047201" cy="13194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CCCC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4" name="AutoShape 44">
              <a:extLst>
                <a:ext uri="{FF2B5EF4-FFF2-40B4-BE49-F238E27FC236}">
                  <a16:creationId xmlns:a16="http://schemas.microsoft.com/office/drawing/2014/main" id="{74160C2A-522C-AE5A-62E3-7D0077A80C01}"/>
                </a:ext>
              </a:extLst>
            </p:cNvPr>
            <p:cNvSpPr/>
            <p:nvPr/>
          </p:nvSpPr>
          <p:spPr>
            <a:xfrm>
              <a:off x="2053123" y="2324291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3</a:t>
              </a: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00</a:t>
              </a:r>
              <a:endParaRPr lang="en-US" sz="1100" dirty="0"/>
            </a:p>
          </p:txBody>
        </p:sp>
        <p:sp>
          <p:nvSpPr>
            <p:cNvPr id="55" name="AutoShape 45">
              <a:extLst>
                <a:ext uri="{FF2B5EF4-FFF2-40B4-BE49-F238E27FC236}">
                  <a16:creationId xmlns:a16="http://schemas.microsoft.com/office/drawing/2014/main" id="{226EC4BA-29C2-101C-D950-F6EB0264A1F3}"/>
                </a:ext>
              </a:extLst>
            </p:cNvPr>
            <p:cNvSpPr/>
            <p:nvPr/>
          </p:nvSpPr>
          <p:spPr>
            <a:xfrm>
              <a:off x="2053123" y="2669868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2</a:t>
              </a: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00</a:t>
              </a:r>
              <a:endParaRPr lang="en-US" sz="1100" dirty="0"/>
            </a:p>
          </p:txBody>
        </p:sp>
        <p:sp>
          <p:nvSpPr>
            <p:cNvPr id="56" name="AutoShape 46">
              <a:extLst>
                <a:ext uri="{FF2B5EF4-FFF2-40B4-BE49-F238E27FC236}">
                  <a16:creationId xmlns:a16="http://schemas.microsoft.com/office/drawing/2014/main" id="{648606A9-F4D0-B48E-7551-8E2DF0B2DB0A}"/>
                </a:ext>
              </a:extLst>
            </p:cNvPr>
            <p:cNvSpPr/>
            <p:nvPr/>
          </p:nvSpPr>
          <p:spPr>
            <a:xfrm>
              <a:off x="2053123" y="3015444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1</a:t>
              </a: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00</a:t>
              </a:r>
              <a:endParaRPr lang="en-US" sz="1100" dirty="0"/>
            </a:p>
          </p:txBody>
        </p:sp>
        <p:sp>
          <p:nvSpPr>
            <p:cNvPr id="57" name="AutoShape 47">
              <a:extLst>
                <a:ext uri="{FF2B5EF4-FFF2-40B4-BE49-F238E27FC236}">
                  <a16:creationId xmlns:a16="http://schemas.microsoft.com/office/drawing/2014/main" id="{2AFFD997-05FB-909C-7A00-E61EFD284DC9}"/>
                </a:ext>
              </a:extLst>
            </p:cNvPr>
            <p:cNvSpPr/>
            <p:nvPr/>
          </p:nvSpPr>
          <p:spPr>
            <a:xfrm>
              <a:off x="2053123" y="3361021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</a:t>
              </a:r>
              <a:endParaRPr lang="en-US" sz="1100" dirty="0"/>
            </a:p>
          </p:txBody>
        </p:sp>
      </p:grp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BFFFFBA5-7EA6-18CE-1D99-455D7D16B1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074453"/>
              </p:ext>
            </p:extLst>
          </p:nvPr>
        </p:nvGraphicFramePr>
        <p:xfrm>
          <a:off x="2546125" y="4552092"/>
          <a:ext cx="3721100" cy="365760"/>
        </p:xfrm>
        <a:graphic>
          <a:graphicData uri="http://schemas.openxmlformats.org/drawingml/2006/table">
            <a:tbl>
              <a:tblPr/>
              <a:tblGrid>
                <a:gridCol w="930275">
                  <a:extLst>
                    <a:ext uri="{9D8B030D-6E8A-4147-A177-3AD203B41FA5}">
                      <a16:colId xmlns:a16="http://schemas.microsoft.com/office/drawing/2014/main" val="1447535226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713488200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1463587908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420613421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名称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t1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t2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t96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7290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风电功率预测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210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220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3152111"/>
                  </a:ext>
                </a:extLst>
              </a:tr>
            </a:tbl>
          </a:graphicData>
        </a:graphic>
      </p:graphicFrame>
      <p:sp>
        <p:nvSpPr>
          <p:cNvPr id="6" name="AutoShape 5">
            <a:extLst>
              <a:ext uri="{FF2B5EF4-FFF2-40B4-BE49-F238E27FC236}">
                <a16:creationId xmlns:a16="http://schemas.microsoft.com/office/drawing/2014/main" id="{4EFF3C63-7B5F-4DDF-F605-59A919ECBA9A}"/>
              </a:ext>
            </a:extLst>
          </p:cNvPr>
          <p:cNvSpPr/>
          <p:nvPr/>
        </p:nvSpPr>
        <p:spPr>
          <a:xfrm>
            <a:off x="5155438" y="787337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13">
            <a:extLst>
              <a:ext uri="{FF2B5EF4-FFF2-40B4-BE49-F238E27FC236}">
                <a16:creationId xmlns:a16="http://schemas.microsoft.com/office/drawing/2014/main" id="{3C627F60-3708-2318-524A-7CCAC0F3AA6E}"/>
              </a:ext>
            </a:extLst>
          </p:cNvPr>
          <p:cNvSpPr/>
          <p:nvPr/>
        </p:nvSpPr>
        <p:spPr>
          <a:xfrm>
            <a:off x="5303271" y="863537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风电功率预测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sp>
        <p:nvSpPr>
          <p:cNvPr id="31" name="AutoShape 11">
            <a:extLst>
              <a:ext uri="{FF2B5EF4-FFF2-40B4-BE49-F238E27FC236}">
                <a16:creationId xmlns:a16="http://schemas.microsoft.com/office/drawing/2014/main" id="{99016286-0427-79B5-8491-4730B8662CA4}"/>
              </a:ext>
            </a:extLst>
          </p:cNvPr>
          <p:cNvSpPr/>
          <p:nvPr/>
        </p:nvSpPr>
        <p:spPr>
          <a:xfrm>
            <a:off x="3736084" y="863537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负荷预测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sp>
        <p:nvSpPr>
          <p:cNvPr id="58" name="AutoShape 11">
            <a:extLst>
              <a:ext uri="{FF2B5EF4-FFF2-40B4-BE49-F238E27FC236}">
                <a16:creationId xmlns:a16="http://schemas.microsoft.com/office/drawing/2014/main" id="{973DC6A9-4BBF-F458-E00A-F8D6D3AD67B7}"/>
              </a:ext>
            </a:extLst>
          </p:cNvPr>
          <p:cNvSpPr/>
          <p:nvPr/>
        </p:nvSpPr>
        <p:spPr>
          <a:xfrm>
            <a:off x="2535433" y="863537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电价预测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sp>
        <p:nvSpPr>
          <p:cNvPr id="59" name="AutoShape 11">
            <a:extLst>
              <a:ext uri="{FF2B5EF4-FFF2-40B4-BE49-F238E27FC236}">
                <a16:creationId xmlns:a16="http://schemas.microsoft.com/office/drawing/2014/main" id="{AF5D935A-311B-1D57-6A06-7182F35C64DF}"/>
              </a:ext>
            </a:extLst>
          </p:cNvPr>
          <p:cNvSpPr/>
          <p:nvPr/>
        </p:nvSpPr>
        <p:spPr>
          <a:xfrm>
            <a:off x="6754957" y="863537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光伏功率预测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sp>
        <p:nvSpPr>
          <p:cNvPr id="60" name="AutoShape 11">
            <a:extLst>
              <a:ext uri="{FF2B5EF4-FFF2-40B4-BE49-F238E27FC236}">
                <a16:creationId xmlns:a16="http://schemas.microsoft.com/office/drawing/2014/main" id="{A769BBB3-871D-35D1-1CA6-2EBBF75B2594}"/>
              </a:ext>
            </a:extLst>
          </p:cNvPr>
          <p:cNvSpPr/>
          <p:nvPr/>
        </p:nvSpPr>
        <p:spPr>
          <a:xfrm>
            <a:off x="8341047" y="863537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供需比预测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pic>
        <p:nvPicPr>
          <p:cNvPr id="61" name="Picture 10">
            <a:extLst>
              <a:ext uri="{FF2B5EF4-FFF2-40B4-BE49-F238E27FC236}">
                <a16:creationId xmlns:a16="http://schemas.microsoft.com/office/drawing/2014/main" id="{886D2D34-FFFF-FB34-91B8-701457AD3E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144" y="2956748"/>
            <a:ext cx="203200" cy="203200"/>
          </a:xfrm>
          <a:prstGeom prst="rect">
            <a:avLst/>
          </a:prstGeom>
        </p:spPr>
      </p:pic>
      <p:sp>
        <p:nvSpPr>
          <p:cNvPr id="62" name="AutoShape 11">
            <a:extLst>
              <a:ext uri="{FF2B5EF4-FFF2-40B4-BE49-F238E27FC236}">
                <a16:creationId xmlns:a16="http://schemas.microsoft.com/office/drawing/2014/main" id="{06F41FE3-D298-6470-102B-2A4746BBEC1B}"/>
              </a:ext>
            </a:extLst>
          </p:cNvPr>
          <p:cNvSpPr/>
          <p:nvPr/>
        </p:nvSpPr>
        <p:spPr>
          <a:xfrm>
            <a:off x="944944" y="2905948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市场交易</a:t>
            </a:r>
            <a:endParaRPr lang="en-US" altLang="zh-CN" sz="1100" dirty="0"/>
          </a:p>
        </p:txBody>
      </p:sp>
      <p:pic>
        <p:nvPicPr>
          <p:cNvPr id="63" name="Picture 8">
            <a:extLst>
              <a:ext uri="{FF2B5EF4-FFF2-40B4-BE49-F238E27FC236}">
                <a16:creationId xmlns:a16="http://schemas.microsoft.com/office/drawing/2014/main" id="{3853B66E-D41E-AF21-9D0C-F4829CA52B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1440873"/>
            <a:ext cx="203200" cy="203200"/>
          </a:xfrm>
          <a:prstGeom prst="rect">
            <a:avLst/>
          </a:prstGeom>
        </p:spPr>
      </p:pic>
      <p:sp>
        <p:nvSpPr>
          <p:cNvPr id="64" name="AutoShape 9">
            <a:extLst>
              <a:ext uri="{FF2B5EF4-FFF2-40B4-BE49-F238E27FC236}">
                <a16:creationId xmlns:a16="http://schemas.microsoft.com/office/drawing/2014/main" id="{6BF4B753-61C5-47D8-C934-E4D9A932B871}"/>
              </a:ext>
            </a:extLst>
          </p:cNvPr>
          <p:cNvSpPr/>
          <p:nvPr/>
        </p:nvSpPr>
        <p:spPr>
          <a:xfrm>
            <a:off x="965200" y="13900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企业信息</a:t>
            </a:r>
            <a:endParaRPr lang="en-US" sz="1100" dirty="0"/>
          </a:p>
        </p:txBody>
      </p:sp>
      <p:pic>
        <p:nvPicPr>
          <p:cNvPr id="65" name="Picture 12">
            <a:extLst>
              <a:ext uri="{FF2B5EF4-FFF2-40B4-BE49-F238E27FC236}">
                <a16:creationId xmlns:a16="http://schemas.microsoft.com/office/drawing/2014/main" id="{9A76D0DB-F0E3-474C-ED35-47B23735B3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144" y="3485574"/>
            <a:ext cx="203200" cy="203200"/>
          </a:xfrm>
          <a:prstGeom prst="rect">
            <a:avLst/>
          </a:prstGeom>
        </p:spPr>
      </p:pic>
      <p:sp>
        <p:nvSpPr>
          <p:cNvPr id="66" name="AutoShape 13">
            <a:extLst>
              <a:ext uri="{FF2B5EF4-FFF2-40B4-BE49-F238E27FC236}">
                <a16:creationId xmlns:a16="http://schemas.microsoft.com/office/drawing/2014/main" id="{3C258708-363E-593C-8EEA-675D23988BE9}"/>
              </a:ext>
            </a:extLst>
          </p:cNvPr>
          <p:cNvSpPr/>
          <p:nvPr/>
        </p:nvSpPr>
        <p:spPr>
          <a:xfrm>
            <a:off x="944944" y="3434774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结算报告</a:t>
            </a:r>
            <a:endParaRPr lang="en-US" altLang="zh-CN" sz="1100" dirty="0"/>
          </a:p>
        </p:txBody>
      </p:sp>
      <p:sp>
        <p:nvSpPr>
          <p:cNvPr id="67" name="AutoShape 5">
            <a:extLst>
              <a:ext uri="{FF2B5EF4-FFF2-40B4-BE49-F238E27FC236}">
                <a16:creationId xmlns:a16="http://schemas.microsoft.com/office/drawing/2014/main" id="{0EFB2114-64AE-920F-D050-11ACC3F333BE}"/>
              </a:ext>
            </a:extLst>
          </p:cNvPr>
          <p:cNvSpPr/>
          <p:nvPr/>
        </p:nvSpPr>
        <p:spPr>
          <a:xfrm>
            <a:off x="508000" y="2312735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8" name="Picture 6">
            <a:extLst>
              <a:ext uri="{FF2B5EF4-FFF2-40B4-BE49-F238E27FC236}">
                <a16:creationId xmlns:a16="http://schemas.microsoft.com/office/drawing/2014/main" id="{0C79B648-94DF-5536-3BDE-0376EA5103B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" y="2439735"/>
            <a:ext cx="203200" cy="203200"/>
          </a:xfrm>
          <a:prstGeom prst="rect">
            <a:avLst/>
          </a:prstGeom>
        </p:spPr>
      </p:pic>
      <p:sp>
        <p:nvSpPr>
          <p:cNvPr id="69" name="AutoShape 7">
            <a:extLst>
              <a:ext uri="{FF2B5EF4-FFF2-40B4-BE49-F238E27FC236}">
                <a16:creationId xmlns:a16="http://schemas.microsoft.com/office/drawing/2014/main" id="{5A034E3E-EEE1-2DE8-6405-3A06D80CCE9E}"/>
              </a:ext>
            </a:extLst>
          </p:cNvPr>
          <p:cNvSpPr/>
          <p:nvPr/>
        </p:nvSpPr>
        <p:spPr>
          <a:xfrm>
            <a:off x="965200" y="2388935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1" i="0" u="none" strike="noStrike" dirty="0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信息披露</a:t>
            </a:r>
            <a:endParaRPr lang="en-US" sz="1100" dirty="0"/>
          </a:p>
        </p:txBody>
      </p:sp>
      <p:sp>
        <p:nvSpPr>
          <p:cNvPr id="70" name="AutoShape 13">
            <a:extLst>
              <a:ext uri="{FF2B5EF4-FFF2-40B4-BE49-F238E27FC236}">
                <a16:creationId xmlns:a16="http://schemas.microsoft.com/office/drawing/2014/main" id="{74C0AB29-3751-D9EC-47EE-6628F63DA22C}"/>
              </a:ext>
            </a:extLst>
          </p:cNvPr>
          <p:cNvSpPr/>
          <p:nvPr/>
        </p:nvSpPr>
        <p:spPr>
          <a:xfrm>
            <a:off x="965200" y="1826004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成交历史</a:t>
            </a:r>
            <a:endParaRPr lang="en-US" sz="1100" dirty="0"/>
          </a:p>
        </p:txBody>
      </p:sp>
      <p:pic>
        <p:nvPicPr>
          <p:cNvPr id="71" name="Picture 14">
            <a:extLst>
              <a:ext uri="{FF2B5EF4-FFF2-40B4-BE49-F238E27FC236}">
                <a16:creationId xmlns:a16="http://schemas.microsoft.com/office/drawing/2014/main" id="{FAB9A27C-4275-985F-48ED-47AD09E593E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" y="1876804"/>
            <a:ext cx="2032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075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CB1CA-E44D-0680-A13A-9EB30C012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86C0C7D-4231-3E03-D6CD-8F38C0D11463}"/>
              </a:ext>
            </a:extLst>
          </p:cNvPr>
          <p:cNvSpPr/>
          <p:nvPr/>
        </p:nvSpPr>
        <p:spPr>
          <a:xfrm>
            <a:off x="508000" y="203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电力市场</a:t>
            </a:r>
            <a:r>
              <a:rPr lang="en-US" sz="1800" b="1" i="0" u="none" strike="noStrike" dirty="0" err="1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lang="en-US" sz="1100" dirty="0"/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BE857E92-C740-69A1-F962-53B728C925E6}"/>
              </a:ext>
            </a:extLst>
          </p:cNvPr>
          <p:cNvCxnSpPr/>
          <p:nvPr/>
        </p:nvCxnSpPr>
        <p:spPr>
          <a:xfrm rot="-3906">
            <a:off x="508004" y="704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4DC8AEE2-36AB-0451-33B1-12DC88BA2EB3}"/>
              </a:ext>
            </a:extLst>
          </p:cNvPr>
          <p:cNvSpPr/>
          <p:nvPr/>
        </p:nvSpPr>
        <p:spPr>
          <a:xfrm>
            <a:off x="508000" y="914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lang="en-US" sz="1100" dirty="0"/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E27473D1-3505-0F57-8BB0-F431BCE8344A}"/>
              </a:ext>
            </a:extLst>
          </p:cNvPr>
          <p:cNvCxnSpPr>
            <a:cxnSpLocks/>
          </p:cNvCxnSpPr>
          <p:nvPr/>
        </p:nvCxnSpPr>
        <p:spPr>
          <a:xfrm>
            <a:off x="1990706" y="942109"/>
            <a:ext cx="20461" cy="796287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>
            <a:extLst>
              <a:ext uri="{FF2B5EF4-FFF2-40B4-BE49-F238E27FC236}">
                <a16:creationId xmlns:a16="http://schemas.microsoft.com/office/drawing/2014/main" id="{B569384C-D4FF-9DFB-A65E-5289F10FC02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8214D75E-F9DD-A469-6A04-392675ECFA2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4F3065B1-93FB-3EB7-323F-CFE248958C6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85CBA531-977E-E4A7-9D87-E644C229EB2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EF5770D4-2264-BC2E-B596-27E9816AF84D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8272CDCD-C850-A34D-C6C5-8B662923AE32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D2A3F2A2-0E3A-5418-D0CF-69C91F8D263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23685760-9DCF-AFF0-9914-7DA6E4639B3D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B95B854B-DA81-419C-FEEC-E139C2B4D50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60AB3E6F-6DB6-633C-CBDD-9B1E67450AD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5CEF6B56-D606-BFE6-AA14-98CA649ED76B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213471B6-D7A8-F7D3-B66D-A36FB4EC07A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39FDEC39-90D7-C2B7-B72E-8F770DBDCF12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16CEE384-B875-7D36-C1CA-350551F861F1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975D0ED1-6F88-B6BD-FB80-3520ED830AD2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59047E93-7E1D-6D1A-FA17-DCA5AE4A6E9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AA403535-CB23-A471-7482-62D543A80995}"/>
              </a:ext>
            </a:extLst>
          </p:cNvPr>
          <p:cNvGrpSpPr/>
          <p:nvPr/>
        </p:nvGrpSpPr>
        <p:grpSpPr>
          <a:xfrm>
            <a:off x="2535433" y="1825502"/>
            <a:ext cx="7432420" cy="2292595"/>
            <a:chOff x="2039248" y="1447800"/>
            <a:chExt cx="9644751" cy="2292595"/>
          </a:xfrm>
        </p:grpSpPr>
        <p:sp>
          <p:nvSpPr>
            <p:cNvPr id="9" name="AutoShape 7">
              <a:extLst>
                <a:ext uri="{FF2B5EF4-FFF2-40B4-BE49-F238E27FC236}">
                  <a16:creationId xmlns:a16="http://schemas.microsoft.com/office/drawing/2014/main" id="{3B17436C-EAFD-FEC4-8941-815F68C6AB84}"/>
                </a:ext>
              </a:extLst>
            </p:cNvPr>
            <p:cNvSpPr/>
            <p:nvPr/>
          </p:nvSpPr>
          <p:spPr>
            <a:xfrm>
              <a:off x="2039248" y="1447800"/>
              <a:ext cx="9644751" cy="2292595"/>
            </a:xfrm>
            <a:prstGeom prst="roundRect">
              <a:avLst>
                <a:gd name="adj" fmla="val 4444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E5E6EB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0" name="AutoShape 8">
              <a:extLst>
                <a:ext uri="{FF2B5EF4-FFF2-40B4-BE49-F238E27FC236}">
                  <a16:creationId xmlns:a16="http://schemas.microsoft.com/office/drawing/2014/main" id="{EE93CD9C-51F9-C457-DD49-6A507DD7E3B7}"/>
                </a:ext>
              </a:extLst>
            </p:cNvPr>
            <p:cNvSpPr/>
            <p:nvPr/>
          </p:nvSpPr>
          <p:spPr>
            <a:xfrm>
              <a:off x="2502484" y="1612022"/>
              <a:ext cx="2672096" cy="267578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600" b="1" i="0" u="none" strike="noStrike" dirty="0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光伏功率预测</a:t>
              </a:r>
              <a:endParaRPr lang="en-US" sz="1100" dirty="0"/>
            </a:p>
          </p:txBody>
        </p:sp>
        <p:sp>
          <p:nvSpPr>
            <p:cNvPr id="11" name="AutoShape 16">
              <a:extLst>
                <a:ext uri="{FF2B5EF4-FFF2-40B4-BE49-F238E27FC236}">
                  <a16:creationId xmlns:a16="http://schemas.microsoft.com/office/drawing/2014/main" id="{1B8CDD24-0BB8-CC34-E943-C9A8BF0F11B3}"/>
                </a:ext>
              </a:extLst>
            </p:cNvPr>
            <p:cNvSpPr/>
            <p:nvPr/>
          </p:nvSpPr>
          <p:spPr>
            <a:xfrm>
              <a:off x="2395698" y="2050909"/>
              <a:ext cx="1266718" cy="176818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zh-CN" altLang="en-US" sz="1100" b="0" i="0" u="none" strike="noStrike" dirty="0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光伏功率</a:t>
              </a:r>
              <a:r>
                <a:rPr lang="en-US" sz="1100" b="0" i="0" u="none" strike="noStrike" dirty="0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(kW)</a:t>
              </a:r>
              <a:endParaRPr lang="en-US" sz="1100" dirty="0"/>
            </a:p>
          </p:txBody>
        </p:sp>
        <p:cxnSp>
          <p:nvCxnSpPr>
            <p:cNvPr id="12" name="Connector 17">
              <a:extLst>
                <a:ext uri="{FF2B5EF4-FFF2-40B4-BE49-F238E27FC236}">
                  <a16:creationId xmlns:a16="http://schemas.microsoft.com/office/drawing/2014/main" id="{12B5C9FA-6F49-6838-AC3A-9801E34D3020}"/>
                </a:ext>
              </a:extLst>
            </p:cNvPr>
            <p:cNvCxnSpPr>
              <a:cxnSpLocks/>
            </p:cNvCxnSpPr>
            <p:nvPr/>
          </p:nvCxnSpPr>
          <p:spPr>
            <a:xfrm>
              <a:off x="2501035" y="3426235"/>
              <a:ext cx="8971862" cy="41888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CCCC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" name="AutoShape 19">
              <a:extLst>
                <a:ext uri="{FF2B5EF4-FFF2-40B4-BE49-F238E27FC236}">
                  <a16:creationId xmlns:a16="http://schemas.microsoft.com/office/drawing/2014/main" id="{07B5E79E-DA1E-7613-1416-5944928C8EC9}"/>
                </a:ext>
              </a:extLst>
            </p:cNvPr>
            <p:cNvSpPr/>
            <p:nvPr/>
          </p:nvSpPr>
          <p:spPr>
            <a:xfrm>
              <a:off x="2712138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dirty="0">
                  <a:solidFill>
                    <a:srgbClr val="8C8C8C"/>
                  </a:solidFill>
                  <a:latin typeface="Noto Sans SC"/>
                  <a:ea typeface="Noto Sans SC"/>
                  <a:sym typeface="Noto Sans SC"/>
                </a:rPr>
                <a:t>第一天</a:t>
              </a:r>
              <a:endParaRPr lang="en-US" sz="1100" dirty="0"/>
            </a:p>
          </p:txBody>
        </p:sp>
        <p:sp>
          <p:nvSpPr>
            <p:cNvPr id="14" name="AutoShape 20">
              <a:extLst>
                <a:ext uri="{FF2B5EF4-FFF2-40B4-BE49-F238E27FC236}">
                  <a16:creationId xmlns:a16="http://schemas.microsoft.com/office/drawing/2014/main" id="{2F8B273C-2C7F-60BF-0D06-7355F05E07FC}"/>
                </a:ext>
              </a:extLst>
            </p:cNvPr>
            <p:cNvSpPr/>
            <p:nvPr/>
          </p:nvSpPr>
          <p:spPr>
            <a:xfrm>
              <a:off x="4084305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第二天</a:t>
              </a:r>
              <a:endParaRPr lang="en-US" sz="1100" dirty="0"/>
            </a:p>
          </p:txBody>
        </p:sp>
        <p:sp>
          <p:nvSpPr>
            <p:cNvPr id="15" name="AutoShape 21">
              <a:extLst>
                <a:ext uri="{FF2B5EF4-FFF2-40B4-BE49-F238E27FC236}">
                  <a16:creationId xmlns:a16="http://schemas.microsoft.com/office/drawing/2014/main" id="{54C73A0C-A6A0-662E-0174-7A71804C42A8}"/>
                </a:ext>
              </a:extLst>
            </p:cNvPr>
            <p:cNvSpPr/>
            <p:nvPr/>
          </p:nvSpPr>
          <p:spPr>
            <a:xfrm>
              <a:off x="5456472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第三天</a:t>
              </a:r>
              <a:endParaRPr lang="en-US" sz="1100" dirty="0"/>
            </a:p>
          </p:txBody>
        </p:sp>
        <p:sp>
          <p:nvSpPr>
            <p:cNvPr id="18" name="AutoShape 22">
              <a:extLst>
                <a:ext uri="{FF2B5EF4-FFF2-40B4-BE49-F238E27FC236}">
                  <a16:creationId xmlns:a16="http://schemas.microsoft.com/office/drawing/2014/main" id="{C77EF0FC-402D-0D54-E1C5-CDE6B27CC304}"/>
                </a:ext>
              </a:extLst>
            </p:cNvPr>
            <p:cNvSpPr/>
            <p:nvPr/>
          </p:nvSpPr>
          <p:spPr>
            <a:xfrm>
              <a:off x="6828639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第四天</a:t>
              </a:r>
              <a:endParaRPr lang="en-US" sz="1100" dirty="0"/>
            </a:p>
          </p:txBody>
        </p:sp>
        <p:sp>
          <p:nvSpPr>
            <p:cNvPr id="29" name="AutoShape 23">
              <a:extLst>
                <a:ext uri="{FF2B5EF4-FFF2-40B4-BE49-F238E27FC236}">
                  <a16:creationId xmlns:a16="http://schemas.microsoft.com/office/drawing/2014/main" id="{3D285E16-A087-73DA-87FF-F2DB47BF1311}"/>
                </a:ext>
              </a:extLst>
            </p:cNvPr>
            <p:cNvSpPr/>
            <p:nvPr/>
          </p:nvSpPr>
          <p:spPr>
            <a:xfrm>
              <a:off x="8200806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第五天</a:t>
              </a:r>
              <a:endParaRPr lang="en-US" sz="1100" dirty="0"/>
            </a:p>
          </p:txBody>
        </p:sp>
        <p:sp>
          <p:nvSpPr>
            <p:cNvPr id="32" name="AutoShape 24">
              <a:extLst>
                <a:ext uri="{FF2B5EF4-FFF2-40B4-BE49-F238E27FC236}">
                  <a16:creationId xmlns:a16="http://schemas.microsoft.com/office/drawing/2014/main" id="{EF63488B-9BA2-1CEF-C07C-25E5E701EB56}"/>
                </a:ext>
              </a:extLst>
            </p:cNvPr>
            <p:cNvSpPr/>
            <p:nvPr/>
          </p:nvSpPr>
          <p:spPr>
            <a:xfrm>
              <a:off x="9572974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第六天</a:t>
              </a:r>
              <a:endParaRPr lang="en-US" sz="1100" dirty="0"/>
            </a:p>
          </p:txBody>
        </p:sp>
        <p:sp>
          <p:nvSpPr>
            <p:cNvPr id="35" name="AutoShape 25">
              <a:extLst>
                <a:ext uri="{FF2B5EF4-FFF2-40B4-BE49-F238E27FC236}">
                  <a16:creationId xmlns:a16="http://schemas.microsoft.com/office/drawing/2014/main" id="{17E3EEFD-5B73-4D61-2AD7-1B1D0AB00111}"/>
                </a:ext>
              </a:extLst>
            </p:cNvPr>
            <p:cNvSpPr/>
            <p:nvPr/>
          </p:nvSpPr>
          <p:spPr>
            <a:xfrm>
              <a:off x="10945141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第七天</a:t>
              </a:r>
              <a:endParaRPr lang="en-US" sz="1100" dirty="0"/>
            </a:p>
          </p:txBody>
        </p:sp>
        <p:cxnSp>
          <p:nvCxnSpPr>
            <p:cNvPr id="47" name="Connector 26">
              <a:extLst>
                <a:ext uri="{FF2B5EF4-FFF2-40B4-BE49-F238E27FC236}">
                  <a16:creationId xmlns:a16="http://schemas.microsoft.com/office/drawing/2014/main" id="{4D2C9A0E-2162-DA4B-AB74-341A33AF8A29}"/>
                </a:ext>
              </a:extLst>
            </p:cNvPr>
            <p:cNvCxnSpPr>
              <a:cxnSpLocks/>
            </p:cNvCxnSpPr>
            <p:nvPr/>
          </p:nvCxnSpPr>
          <p:spPr>
            <a:xfrm rot="20858847">
              <a:off x="2804124" y="2583232"/>
              <a:ext cx="1293811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48" name="Connector 27">
              <a:extLst>
                <a:ext uri="{FF2B5EF4-FFF2-40B4-BE49-F238E27FC236}">
                  <a16:creationId xmlns:a16="http://schemas.microsoft.com/office/drawing/2014/main" id="{A24A9E5D-EAFD-8C0E-F28B-32E6B102A713}"/>
                </a:ext>
              </a:extLst>
            </p:cNvPr>
            <p:cNvCxnSpPr>
              <a:cxnSpLocks/>
            </p:cNvCxnSpPr>
            <p:nvPr/>
          </p:nvCxnSpPr>
          <p:spPr>
            <a:xfrm rot="296636">
              <a:off x="4081172" y="2530880"/>
              <a:ext cx="137849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49" name="Connector 28">
              <a:extLst>
                <a:ext uri="{FF2B5EF4-FFF2-40B4-BE49-F238E27FC236}">
                  <a16:creationId xmlns:a16="http://schemas.microsoft.com/office/drawing/2014/main" id="{AA433814-4AF3-5B49-6494-1A5597EA5D3C}"/>
                </a:ext>
              </a:extLst>
            </p:cNvPr>
            <p:cNvCxnSpPr>
              <a:cxnSpLocks/>
            </p:cNvCxnSpPr>
            <p:nvPr/>
          </p:nvCxnSpPr>
          <p:spPr>
            <a:xfrm rot="20914409">
              <a:off x="5443932" y="2478512"/>
              <a:ext cx="1397309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0" name="Connector 29">
              <a:extLst>
                <a:ext uri="{FF2B5EF4-FFF2-40B4-BE49-F238E27FC236}">
                  <a16:creationId xmlns:a16="http://schemas.microsoft.com/office/drawing/2014/main" id="{53192DD7-B75D-F1A3-6F41-1596E7D520D3}"/>
                </a:ext>
              </a:extLst>
            </p:cNvPr>
            <p:cNvCxnSpPr>
              <a:cxnSpLocks/>
            </p:cNvCxnSpPr>
            <p:nvPr/>
          </p:nvCxnSpPr>
          <p:spPr>
            <a:xfrm rot="459717">
              <a:off x="6821571" y="2452341"/>
              <a:ext cx="138636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1" name="Connector 30">
              <a:extLst>
                <a:ext uri="{FF2B5EF4-FFF2-40B4-BE49-F238E27FC236}">
                  <a16:creationId xmlns:a16="http://schemas.microsoft.com/office/drawing/2014/main" id="{D4A3FD08-6191-D594-DB1E-0179E1AF906A}"/>
                </a:ext>
              </a:extLst>
            </p:cNvPr>
            <p:cNvCxnSpPr>
              <a:cxnSpLocks/>
            </p:cNvCxnSpPr>
            <p:nvPr/>
          </p:nvCxnSpPr>
          <p:spPr>
            <a:xfrm rot="296636">
              <a:off x="8197673" y="2583240"/>
              <a:ext cx="137849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2" name="Connector 31">
              <a:extLst>
                <a:ext uri="{FF2B5EF4-FFF2-40B4-BE49-F238E27FC236}">
                  <a16:creationId xmlns:a16="http://schemas.microsoft.com/office/drawing/2014/main" id="{97C597FF-B93F-2BBB-00A4-603B66821306}"/>
                </a:ext>
              </a:extLst>
            </p:cNvPr>
            <p:cNvCxnSpPr>
              <a:cxnSpLocks/>
            </p:cNvCxnSpPr>
            <p:nvPr/>
          </p:nvCxnSpPr>
          <p:spPr>
            <a:xfrm rot="21335983">
              <a:off x="9571453" y="2598944"/>
              <a:ext cx="1375271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3" name="Connector 18">
              <a:extLst>
                <a:ext uri="{FF2B5EF4-FFF2-40B4-BE49-F238E27FC236}">
                  <a16:creationId xmlns:a16="http://schemas.microsoft.com/office/drawing/2014/main" id="{C7E70F58-5BA2-B56A-D4C7-F798CDBFC8DC}"/>
                </a:ext>
              </a:extLst>
            </p:cNvPr>
            <p:cNvCxnSpPr>
              <a:cxnSpLocks/>
            </p:cNvCxnSpPr>
            <p:nvPr/>
          </p:nvCxnSpPr>
          <p:spPr>
            <a:xfrm rot="5365623">
              <a:off x="1991309" y="2893681"/>
              <a:ext cx="1047201" cy="13194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CCCC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4" name="AutoShape 44">
              <a:extLst>
                <a:ext uri="{FF2B5EF4-FFF2-40B4-BE49-F238E27FC236}">
                  <a16:creationId xmlns:a16="http://schemas.microsoft.com/office/drawing/2014/main" id="{3174A756-D7E5-421F-A9B2-C8F2627B8855}"/>
                </a:ext>
              </a:extLst>
            </p:cNvPr>
            <p:cNvSpPr/>
            <p:nvPr/>
          </p:nvSpPr>
          <p:spPr>
            <a:xfrm>
              <a:off x="2053123" y="2324291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3</a:t>
              </a: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00</a:t>
              </a:r>
              <a:endParaRPr lang="en-US" sz="1100" dirty="0"/>
            </a:p>
          </p:txBody>
        </p:sp>
        <p:sp>
          <p:nvSpPr>
            <p:cNvPr id="55" name="AutoShape 45">
              <a:extLst>
                <a:ext uri="{FF2B5EF4-FFF2-40B4-BE49-F238E27FC236}">
                  <a16:creationId xmlns:a16="http://schemas.microsoft.com/office/drawing/2014/main" id="{749B0C6C-B8B2-E63C-3C24-8FEFFCDEBFF5}"/>
                </a:ext>
              </a:extLst>
            </p:cNvPr>
            <p:cNvSpPr/>
            <p:nvPr/>
          </p:nvSpPr>
          <p:spPr>
            <a:xfrm>
              <a:off x="2053123" y="2669868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2</a:t>
              </a: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00</a:t>
              </a:r>
              <a:endParaRPr lang="en-US" sz="1100" dirty="0"/>
            </a:p>
          </p:txBody>
        </p:sp>
        <p:sp>
          <p:nvSpPr>
            <p:cNvPr id="56" name="AutoShape 46">
              <a:extLst>
                <a:ext uri="{FF2B5EF4-FFF2-40B4-BE49-F238E27FC236}">
                  <a16:creationId xmlns:a16="http://schemas.microsoft.com/office/drawing/2014/main" id="{DE7BACBA-D374-CE1B-E31B-E2E86BB94FD2}"/>
                </a:ext>
              </a:extLst>
            </p:cNvPr>
            <p:cNvSpPr/>
            <p:nvPr/>
          </p:nvSpPr>
          <p:spPr>
            <a:xfrm>
              <a:off x="2053123" y="3015444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1</a:t>
              </a: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00</a:t>
              </a:r>
              <a:endParaRPr lang="en-US" sz="1100" dirty="0"/>
            </a:p>
          </p:txBody>
        </p:sp>
        <p:sp>
          <p:nvSpPr>
            <p:cNvPr id="57" name="AutoShape 47">
              <a:extLst>
                <a:ext uri="{FF2B5EF4-FFF2-40B4-BE49-F238E27FC236}">
                  <a16:creationId xmlns:a16="http://schemas.microsoft.com/office/drawing/2014/main" id="{89F601E9-3EB7-9F03-8271-B91EB238A03B}"/>
                </a:ext>
              </a:extLst>
            </p:cNvPr>
            <p:cNvSpPr/>
            <p:nvPr/>
          </p:nvSpPr>
          <p:spPr>
            <a:xfrm>
              <a:off x="2053123" y="3361021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</a:t>
              </a:r>
              <a:endParaRPr lang="en-US" sz="1100" dirty="0"/>
            </a:p>
          </p:txBody>
        </p:sp>
      </p:grp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5476A432-7DE5-1476-DC81-1A9FF5B5F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710001"/>
              </p:ext>
            </p:extLst>
          </p:nvPr>
        </p:nvGraphicFramePr>
        <p:xfrm>
          <a:off x="2546125" y="4552092"/>
          <a:ext cx="3721100" cy="365760"/>
        </p:xfrm>
        <a:graphic>
          <a:graphicData uri="http://schemas.openxmlformats.org/drawingml/2006/table">
            <a:tbl>
              <a:tblPr/>
              <a:tblGrid>
                <a:gridCol w="930275">
                  <a:extLst>
                    <a:ext uri="{9D8B030D-6E8A-4147-A177-3AD203B41FA5}">
                      <a16:colId xmlns:a16="http://schemas.microsoft.com/office/drawing/2014/main" val="1447535226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713488200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1463587908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420613421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名称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t1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t2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t96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7290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光伏功率预测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210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220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3152111"/>
                  </a:ext>
                </a:extLst>
              </a:tr>
            </a:tbl>
          </a:graphicData>
        </a:graphic>
      </p:graphicFrame>
      <p:sp>
        <p:nvSpPr>
          <p:cNvPr id="6" name="AutoShape 5">
            <a:extLst>
              <a:ext uri="{FF2B5EF4-FFF2-40B4-BE49-F238E27FC236}">
                <a16:creationId xmlns:a16="http://schemas.microsoft.com/office/drawing/2014/main" id="{4D4FC0BC-E107-649C-2218-5404C7EC5F10}"/>
              </a:ext>
            </a:extLst>
          </p:cNvPr>
          <p:cNvSpPr/>
          <p:nvPr/>
        </p:nvSpPr>
        <p:spPr>
          <a:xfrm>
            <a:off x="6653507" y="818640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13">
            <a:extLst>
              <a:ext uri="{FF2B5EF4-FFF2-40B4-BE49-F238E27FC236}">
                <a16:creationId xmlns:a16="http://schemas.microsoft.com/office/drawing/2014/main" id="{B5721D2C-60DE-549A-4C4E-0EDE63CD3F32}"/>
              </a:ext>
            </a:extLst>
          </p:cNvPr>
          <p:cNvSpPr/>
          <p:nvPr/>
        </p:nvSpPr>
        <p:spPr>
          <a:xfrm>
            <a:off x="6801340" y="89484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光伏功率预测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sp>
        <p:nvSpPr>
          <p:cNvPr id="31" name="AutoShape 11">
            <a:extLst>
              <a:ext uri="{FF2B5EF4-FFF2-40B4-BE49-F238E27FC236}">
                <a16:creationId xmlns:a16="http://schemas.microsoft.com/office/drawing/2014/main" id="{C525EEF0-6AA7-71EE-947F-A07A71512034}"/>
              </a:ext>
            </a:extLst>
          </p:cNvPr>
          <p:cNvSpPr/>
          <p:nvPr/>
        </p:nvSpPr>
        <p:spPr>
          <a:xfrm>
            <a:off x="3838674" y="89484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负荷预测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sp>
        <p:nvSpPr>
          <p:cNvPr id="58" name="AutoShape 11">
            <a:extLst>
              <a:ext uri="{FF2B5EF4-FFF2-40B4-BE49-F238E27FC236}">
                <a16:creationId xmlns:a16="http://schemas.microsoft.com/office/drawing/2014/main" id="{35591B88-141A-055A-567C-51559D57BA9E}"/>
              </a:ext>
            </a:extLst>
          </p:cNvPr>
          <p:cNvSpPr/>
          <p:nvPr/>
        </p:nvSpPr>
        <p:spPr>
          <a:xfrm>
            <a:off x="4951577" y="89484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风电功率预测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sp>
        <p:nvSpPr>
          <p:cNvPr id="59" name="AutoShape 11">
            <a:extLst>
              <a:ext uri="{FF2B5EF4-FFF2-40B4-BE49-F238E27FC236}">
                <a16:creationId xmlns:a16="http://schemas.microsoft.com/office/drawing/2014/main" id="{366D4DA4-A9D2-104D-BDBC-70D33D8053EC}"/>
              </a:ext>
            </a:extLst>
          </p:cNvPr>
          <p:cNvSpPr/>
          <p:nvPr/>
        </p:nvSpPr>
        <p:spPr>
          <a:xfrm>
            <a:off x="2554337" y="89484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电价预测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sp>
        <p:nvSpPr>
          <p:cNvPr id="60" name="AutoShape 11">
            <a:extLst>
              <a:ext uri="{FF2B5EF4-FFF2-40B4-BE49-F238E27FC236}">
                <a16:creationId xmlns:a16="http://schemas.microsoft.com/office/drawing/2014/main" id="{90081C42-E6EC-DA2B-B06E-43CB562E00C0}"/>
              </a:ext>
            </a:extLst>
          </p:cNvPr>
          <p:cNvSpPr/>
          <p:nvPr/>
        </p:nvSpPr>
        <p:spPr>
          <a:xfrm>
            <a:off x="8341047" y="89484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供需比预测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pic>
        <p:nvPicPr>
          <p:cNvPr id="61" name="Picture 10">
            <a:extLst>
              <a:ext uri="{FF2B5EF4-FFF2-40B4-BE49-F238E27FC236}">
                <a16:creationId xmlns:a16="http://schemas.microsoft.com/office/drawing/2014/main" id="{147BB20F-9C9E-0A51-2B05-CE27C43F88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144" y="2956748"/>
            <a:ext cx="203200" cy="203200"/>
          </a:xfrm>
          <a:prstGeom prst="rect">
            <a:avLst/>
          </a:prstGeom>
        </p:spPr>
      </p:pic>
      <p:sp>
        <p:nvSpPr>
          <p:cNvPr id="62" name="AutoShape 11">
            <a:extLst>
              <a:ext uri="{FF2B5EF4-FFF2-40B4-BE49-F238E27FC236}">
                <a16:creationId xmlns:a16="http://schemas.microsoft.com/office/drawing/2014/main" id="{872E3889-B7FB-524C-6BE6-38A5B0573790}"/>
              </a:ext>
            </a:extLst>
          </p:cNvPr>
          <p:cNvSpPr/>
          <p:nvPr/>
        </p:nvSpPr>
        <p:spPr>
          <a:xfrm>
            <a:off x="944944" y="2905948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市场交易</a:t>
            </a:r>
            <a:endParaRPr lang="en-US" altLang="zh-CN" sz="1100" dirty="0"/>
          </a:p>
        </p:txBody>
      </p:sp>
      <p:pic>
        <p:nvPicPr>
          <p:cNvPr id="63" name="Picture 8">
            <a:extLst>
              <a:ext uri="{FF2B5EF4-FFF2-40B4-BE49-F238E27FC236}">
                <a16:creationId xmlns:a16="http://schemas.microsoft.com/office/drawing/2014/main" id="{4333C82F-570E-1640-DCFA-296FFEB4F5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1440873"/>
            <a:ext cx="203200" cy="203200"/>
          </a:xfrm>
          <a:prstGeom prst="rect">
            <a:avLst/>
          </a:prstGeom>
        </p:spPr>
      </p:pic>
      <p:sp>
        <p:nvSpPr>
          <p:cNvPr id="64" name="AutoShape 9">
            <a:extLst>
              <a:ext uri="{FF2B5EF4-FFF2-40B4-BE49-F238E27FC236}">
                <a16:creationId xmlns:a16="http://schemas.microsoft.com/office/drawing/2014/main" id="{073C6036-4614-7A2A-AAA4-66B65A44FD5F}"/>
              </a:ext>
            </a:extLst>
          </p:cNvPr>
          <p:cNvSpPr/>
          <p:nvPr/>
        </p:nvSpPr>
        <p:spPr>
          <a:xfrm>
            <a:off x="965200" y="13900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企业信息</a:t>
            </a:r>
            <a:endParaRPr lang="en-US" sz="1100" dirty="0"/>
          </a:p>
        </p:txBody>
      </p:sp>
      <p:pic>
        <p:nvPicPr>
          <p:cNvPr id="65" name="Picture 12">
            <a:extLst>
              <a:ext uri="{FF2B5EF4-FFF2-40B4-BE49-F238E27FC236}">
                <a16:creationId xmlns:a16="http://schemas.microsoft.com/office/drawing/2014/main" id="{F2F3AF79-9430-5512-614B-B1AC3A6F42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144" y="3485574"/>
            <a:ext cx="203200" cy="203200"/>
          </a:xfrm>
          <a:prstGeom prst="rect">
            <a:avLst/>
          </a:prstGeom>
        </p:spPr>
      </p:pic>
      <p:sp>
        <p:nvSpPr>
          <p:cNvPr id="66" name="AutoShape 13">
            <a:extLst>
              <a:ext uri="{FF2B5EF4-FFF2-40B4-BE49-F238E27FC236}">
                <a16:creationId xmlns:a16="http://schemas.microsoft.com/office/drawing/2014/main" id="{04B88DDB-6D0E-BEF9-4DAF-913E9570119C}"/>
              </a:ext>
            </a:extLst>
          </p:cNvPr>
          <p:cNvSpPr/>
          <p:nvPr/>
        </p:nvSpPr>
        <p:spPr>
          <a:xfrm>
            <a:off x="944944" y="3434774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结算报告</a:t>
            </a:r>
            <a:endParaRPr lang="en-US" altLang="zh-CN" sz="1100" dirty="0"/>
          </a:p>
        </p:txBody>
      </p:sp>
      <p:sp>
        <p:nvSpPr>
          <p:cNvPr id="67" name="AutoShape 5">
            <a:extLst>
              <a:ext uri="{FF2B5EF4-FFF2-40B4-BE49-F238E27FC236}">
                <a16:creationId xmlns:a16="http://schemas.microsoft.com/office/drawing/2014/main" id="{C1D90275-B324-70AA-7D41-912835BAA030}"/>
              </a:ext>
            </a:extLst>
          </p:cNvPr>
          <p:cNvSpPr/>
          <p:nvPr/>
        </p:nvSpPr>
        <p:spPr>
          <a:xfrm>
            <a:off x="508000" y="2312735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8" name="Picture 6">
            <a:extLst>
              <a:ext uri="{FF2B5EF4-FFF2-40B4-BE49-F238E27FC236}">
                <a16:creationId xmlns:a16="http://schemas.microsoft.com/office/drawing/2014/main" id="{100A38A0-0BDF-6C84-75FE-8E7548F95C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" y="2439735"/>
            <a:ext cx="203200" cy="203200"/>
          </a:xfrm>
          <a:prstGeom prst="rect">
            <a:avLst/>
          </a:prstGeom>
        </p:spPr>
      </p:pic>
      <p:sp>
        <p:nvSpPr>
          <p:cNvPr id="69" name="AutoShape 7">
            <a:extLst>
              <a:ext uri="{FF2B5EF4-FFF2-40B4-BE49-F238E27FC236}">
                <a16:creationId xmlns:a16="http://schemas.microsoft.com/office/drawing/2014/main" id="{580AEC27-CA1B-46B5-E047-1612D684A3BA}"/>
              </a:ext>
            </a:extLst>
          </p:cNvPr>
          <p:cNvSpPr/>
          <p:nvPr/>
        </p:nvSpPr>
        <p:spPr>
          <a:xfrm>
            <a:off x="965200" y="2388935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1" i="0" u="none" strike="noStrike" dirty="0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信息披露</a:t>
            </a:r>
            <a:endParaRPr lang="en-US" sz="1100" dirty="0"/>
          </a:p>
        </p:txBody>
      </p:sp>
      <p:sp>
        <p:nvSpPr>
          <p:cNvPr id="70" name="AutoShape 13">
            <a:extLst>
              <a:ext uri="{FF2B5EF4-FFF2-40B4-BE49-F238E27FC236}">
                <a16:creationId xmlns:a16="http://schemas.microsoft.com/office/drawing/2014/main" id="{92DE6DBE-0E98-3DA3-8E53-5BA8E487D115}"/>
              </a:ext>
            </a:extLst>
          </p:cNvPr>
          <p:cNvSpPr/>
          <p:nvPr/>
        </p:nvSpPr>
        <p:spPr>
          <a:xfrm>
            <a:off x="965200" y="1826004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成交历史</a:t>
            </a:r>
            <a:endParaRPr lang="en-US" sz="1100" dirty="0"/>
          </a:p>
        </p:txBody>
      </p:sp>
      <p:pic>
        <p:nvPicPr>
          <p:cNvPr id="71" name="Picture 14">
            <a:extLst>
              <a:ext uri="{FF2B5EF4-FFF2-40B4-BE49-F238E27FC236}">
                <a16:creationId xmlns:a16="http://schemas.microsoft.com/office/drawing/2014/main" id="{6E05EC7C-87CE-0000-A149-4EF7F205138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" y="1876804"/>
            <a:ext cx="2032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65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57AE0-ACE6-CF68-5FE4-BD2F29908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59E7A56-EA83-B64B-3CEC-4BED0B11B83E}"/>
              </a:ext>
            </a:extLst>
          </p:cNvPr>
          <p:cNvSpPr/>
          <p:nvPr/>
        </p:nvSpPr>
        <p:spPr>
          <a:xfrm>
            <a:off x="508000" y="203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电力市场</a:t>
            </a:r>
            <a:r>
              <a:rPr lang="en-US" sz="1800" b="1" i="0" u="none" strike="noStrike" dirty="0" err="1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lang="en-US" sz="1100" dirty="0"/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36E4971A-77B8-FB31-8DD5-CD07080ACE79}"/>
              </a:ext>
            </a:extLst>
          </p:cNvPr>
          <p:cNvCxnSpPr/>
          <p:nvPr/>
        </p:nvCxnSpPr>
        <p:spPr>
          <a:xfrm rot="-3906">
            <a:off x="508004" y="704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69FA3187-B047-7644-F738-E0120479B494}"/>
              </a:ext>
            </a:extLst>
          </p:cNvPr>
          <p:cNvSpPr/>
          <p:nvPr/>
        </p:nvSpPr>
        <p:spPr>
          <a:xfrm>
            <a:off x="508000" y="914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lang="en-US" sz="1100" dirty="0"/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8EF2EAAE-3113-5482-143C-77C51908A9C9}"/>
              </a:ext>
            </a:extLst>
          </p:cNvPr>
          <p:cNvCxnSpPr>
            <a:cxnSpLocks/>
          </p:cNvCxnSpPr>
          <p:nvPr/>
        </p:nvCxnSpPr>
        <p:spPr>
          <a:xfrm>
            <a:off x="1990706" y="942109"/>
            <a:ext cx="20461" cy="796287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>
            <a:extLst>
              <a:ext uri="{FF2B5EF4-FFF2-40B4-BE49-F238E27FC236}">
                <a16:creationId xmlns:a16="http://schemas.microsoft.com/office/drawing/2014/main" id="{0500A569-7CF1-26D3-C8C0-DFDFBF11BED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695FA8A3-45DA-ECFA-6F12-4A2BAACF2A6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4D1EFD4B-511A-9DD8-D684-45ED4DE9335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96B7AD2A-86AE-5921-2387-CD8AF334D40A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F024A494-797A-8B8E-C829-BC5DB34FA9F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8D8BC165-51BE-A189-1711-7F86218F2432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E49CEF80-CED8-C64C-5FEA-C19287E3DB44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946D3803-A027-4D2C-EB0B-B7816B7222D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ECC7F169-371D-380A-F463-81D7EB33ABA2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F9153F0C-392E-870F-E65D-FC66A1686C1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DC570905-9C86-3607-ADB3-0F2533125CC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3914D231-767C-507D-FDAC-5A518D56570F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FAA9C88D-3630-713C-B5BA-3DF9675B661D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FF5D0178-EEF8-F6AD-3CA0-4BEE6DBD861A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BBA4D2C1-FEC9-2D46-1ACA-F66B072926A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68429BD2-C1A5-AD1A-60EA-2515D147BA34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7631593B-B453-CDA7-6F67-DED42AE6D330}"/>
              </a:ext>
            </a:extLst>
          </p:cNvPr>
          <p:cNvGrpSpPr/>
          <p:nvPr/>
        </p:nvGrpSpPr>
        <p:grpSpPr>
          <a:xfrm>
            <a:off x="2535433" y="1825502"/>
            <a:ext cx="7432420" cy="2292595"/>
            <a:chOff x="2039248" y="1447800"/>
            <a:chExt cx="9644751" cy="2292595"/>
          </a:xfrm>
        </p:grpSpPr>
        <p:sp>
          <p:nvSpPr>
            <p:cNvPr id="9" name="AutoShape 7">
              <a:extLst>
                <a:ext uri="{FF2B5EF4-FFF2-40B4-BE49-F238E27FC236}">
                  <a16:creationId xmlns:a16="http://schemas.microsoft.com/office/drawing/2014/main" id="{4021E483-2AF0-9BD4-48E2-01685B8E0020}"/>
                </a:ext>
              </a:extLst>
            </p:cNvPr>
            <p:cNvSpPr/>
            <p:nvPr/>
          </p:nvSpPr>
          <p:spPr>
            <a:xfrm>
              <a:off x="2039248" y="1447800"/>
              <a:ext cx="9644751" cy="2292595"/>
            </a:xfrm>
            <a:prstGeom prst="roundRect">
              <a:avLst>
                <a:gd name="adj" fmla="val 4444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E5E6EB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0" name="AutoShape 8">
              <a:extLst>
                <a:ext uri="{FF2B5EF4-FFF2-40B4-BE49-F238E27FC236}">
                  <a16:creationId xmlns:a16="http://schemas.microsoft.com/office/drawing/2014/main" id="{897F9A36-A015-05D4-B2F7-D75C18A62610}"/>
                </a:ext>
              </a:extLst>
            </p:cNvPr>
            <p:cNvSpPr/>
            <p:nvPr/>
          </p:nvSpPr>
          <p:spPr>
            <a:xfrm>
              <a:off x="2502484" y="1612022"/>
              <a:ext cx="2672096" cy="267578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600" b="1" i="0" u="none" strike="noStrike" dirty="0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供需比预测</a:t>
              </a:r>
              <a:endParaRPr lang="en-US" sz="1100" dirty="0"/>
            </a:p>
          </p:txBody>
        </p:sp>
        <p:sp>
          <p:nvSpPr>
            <p:cNvPr id="11" name="AutoShape 16">
              <a:extLst>
                <a:ext uri="{FF2B5EF4-FFF2-40B4-BE49-F238E27FC236}">
                  <a16:creationId xmlns:a16="http://schemas.microsoft.com/office/drawing/2014/main" id="{DB12DBF6-4612-2F95-692D-9A02E5BE63D3}"/>
                </a:ext>
              </a:extLst>
            </p:cNvPr>
            <p:cNvSpPr/>
            <p:nvPr/>
          </p:nvSpPr>
          <p:spPr>
            <a:xfrm>
              <a:off x="2395698" y="2050909"/>
              <a:ext cx="1266718" cy="176818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zh-CN" altLang="en-US" sz="1100" b="0" i="0" u="none" strike="noStrike" dirty="0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供需比</a:t>
              </a:r>
              <a:r>
                <a:rPr lang="en-US" sz="1100" b="0" i="0" u="none" strike="noStrike" dirty="0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(kW)</a:t>
              </a:r>
              <a:endParaRPr lang="en-US" sz="1100" dirty="0"/>
            </a:p>
          </p:txBody>
        </p:sp>
        <p:cxnSp>
          <p:nvCxnSpPr>
            <p:cNvPr id="12" name="Connector 17">
              <a:extLst>
                <a:ext uri="{FF2B5EF4-FFF2-40B4-BE49-F238E27FC236}">
                  <a16:creationId xmlns:a16="http://schemas.microsoft.com/office/drawing/2014/main" id="{DD62A5FE-B231-682C-756D-976F279E73C9}"/>
                </a:ext>
              </a:extLst>
            </p:cNvPr>
            <p:cNvCxnSpPr>
              <a:cxnSpLocks/>
            </p:cNvCxnSpPr>
            <p:nvPr/>
          </p:nvCxnSpPr>
          <p:spPr>
            <a:xfrm>
              <a:off x="2501035" y="3426235"/>
              <a:ext cx="8971862" cy="41888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CCCC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" name="AutoShape 19">
              <a:extLst>
                <a:ext uri="{FF2B5EF4-FFF2-40B4-BE49-F238E27FC236}">
                  <a16:creationId xmlns:a16="http://schemas.microsoft.com/office/drawing/2014/main" id="{4B5A4D2E-6B03-1459-216B-5E74FC7081D2}"/>
                </a:ext>
              </a:extLst>
            </p:cNvPr>
            <p:cNvSpPr/>
            <p:nvPr/>
          </p:nvSpPr>
          <p:spPr>
            <a:xfrm>
              <a:off x="2712138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dirty="0">
                  <a:solidFill>
                    <a:srgbClr val="8C8C8C"/>
                  </a:solidFill>
                  <a:latin typeface="Noto Sans SC"/>
                  <a:ea typeface="Noto Sans SC"/>
                  <a:sym typeface="Noto Sans SC"/>
                </a:rPr>
                <a:t>第一天</a:t>
              </a:r>
              <a:endParaRPr lang="en-US" sz="1100" dirty="0"/>
            </a:p>
          </p:txBody>
        </p:sp>
        <p:sp>
          <p:nvSpPr>
            <p:cNvPr id="14" name="AutoShape 20">
              <a:extLst>
                <a:ext uri="{FF2B5EF4-FFF2-40B4-BE49-F238E27FC236}">
                  <a16:creationId xmlns:a16="http://schemas.microsoft.com/office/drawing/2014/main" id="{321C5AB3-D34F-15A5-4B7C-46524BD5B846}"/>
                </a:ext>
              </a:extLst>
            </p:cNvPr>
            <p:cNvSpPr/>
            <p:nvPr/>
          </p:nvSpPr>
          <p:spPr>
            <a:xfrm>
              <a:off x="4084305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第二天</a:t>
              </a:r>
              <a:endParaRPr lang="en-US" sz="1100" dirty="0"/>
            </a:p>
          </p:txBody>
        </p:sp>
        <p:sp>
          <p:nvSpPr>
            <p:cNvPr id="15" name="AutoShape 21">
              <a:extLst>
                <a:ext uri="{FF2B5EF4-FFF2-40B4-BE49-F238E27FC236}">
                  <a16:creationId xmlns:a16="http://schemas.microsoft.com/office/drawing/2014/main" id="{7AF5F4F7-2194-2D6A-45DD-9EF5EBEFAC94}"/>
                </a:ext>
              </a:extLst>
            </p:cNvPr>
            <p:cNvSpPr/>
            <p:nvPr/>
          </p:nvSpPr>
          <p:spPr>
            <a:xfrm>
              <a:off x="5456472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第三天</a:t>
              </a:r>
              <a:endParaRPr lang="en-US" sz="1100" dirty="0"/>
            </a:p>
          </p:txBody>
        </p:sp>
        <p:sp>
          <p:nvSpPr>
            <p:cNvPr id="18" name="AutoShape 22">
              <a:extLst>
                <a:ext uri="{FF2B5EF4-FFF2-40B4-BE49-F238E27FC236}">
                  <a16:creationId xmlns:a16="http://schemas.microsoft.com/office/drawing/2014/main" id="{333B2C12-1987-0FBF-ECEB-807A236D24CB}"/>
                </a:ext>
              </a:extLst>
            </p:cNvPr>
            <p:cNvSpPr/>
            <p:nvPr/>
          </p:nvSpPr>
          <p:spPr>
            <a:xfrm>
              <a:off x="6828639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第四天</a:t>
              </a:r>
              <a:endParaRPr lang="en-US" sz="1100" dirty="0"/>
            </a:p>
          </p:txBody>
        </p:sp>
        <p:sp>
          <p:nvSpPr>
            <p:cNvPr id="29" name="AutoShape 23">
              <a:extLst>
                <a:ext uri="{FF2B5EF4-FFF2-40B4-BE49-F238E27FC236}">
                  <a16:creationId xmlns:a16="http://schemas.microsoft.com/office/drawing/2014/main" id="{FBDB1148-2F47-82DE-68ED-467585CA3F3C}"/>
                </a:ext>
              </a:extLst>
            </p:cNvPr>
            <p:cNvSpPr/>
            <p:nvPr/>
          </p:nvSpPr>
          <p:spPr>
            <a:xfrm>
              <a:off x="8200806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第五天</a:t>
              </a:r>
              <a:endParaRPr lang="en-US" sz="1100" dirty="0"/>
            </a:p>
          </p:txBody>
        </p:sp>
        <p:sp>
          <p:nvSpPr>
            <p:cNvPr id="32" name="AutoShape 24">
              <a:extLst>
                <a:ext uri="{FF2B5EF4-FFF2-40B4-BE49-F238E27FC236}">
                  <a16:creationId xmlns:a16="http://schemas.microsoft.com/office/drawing/2014/main" id="{26F252E9-6566-8ABB-6A6E-4BA3C747E2C8}"/>
                </a:ext>
              </a:extLst>
            </p:cNvPr>
            <p:cNvSpPr/>
            <p:nvPr/>
          </p:nvSpPr>
          <p:spPr>
            <a:xfrm>
              <a:off x="9572974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第六天</a:t>
              </a:r>
              <a:endParaRPr lang="en-US" sz="1100" dirty="0"/>
            </a:p>
          </p:txBody>
        </p:sp>
        <p:sp>
          <p:nvSpPr>
            <p:cNvPr id="35" name="AutoShape 25">
              <a:extLst>
                <a:ext uri="{FF2B5EF4-FFF2-40B4-BE49-F238E27FC236}">
                  <a16:creationId xmlns:a16="http://schemas.microsoft.com/office/drawing/2014/main" id="{AF15DC13-2A98-7CBE-3654-F0F94F89AC5B}"/>
                </a:ext>
              </a:extLst>
            </p:cNvPr>
            <p:cNvSpPr/>
            <p:nvPr/>
          </p:nvSpPr>
          <p:spPr>
            <a:xfrm>
              <a:off x="10945141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第七天</a:t>
              </a:r>
              <a:endParaRPr lang="en-US" sz="1100" dirty="0"/>
            </a:p>
          </p:txBody>
        </p:sp>
        <p:cxnSp>
          <p:nvCxnSpPr>
            <p:cNvPr id="47" name="Connector 26">
              <a:extLst>
                <a:ext uri="{FF2B5EF4-FFF2-40B4-BE49-F238E27FC236}">
                  <a16:creationId xmlns:a16="http://schemas.microsoft.com/office/drawing/2014/main" id="{0E4341BA-47A7-28A0-73BA-9A611E9CC5C3}"/>
                </a:ext>
              </a:extLst>
            </p:cNvPr>
            <p:cNvCxnSpPr>
              <a:cxnSpLocks/>
            </p:cNvCxnSpPr>
            <p:nvPr/>
          </p:nvCxnSpPr>
          <p:spPr>
            <a:xfrm rot="20858847">
              <a:off x="2804124" y="2583232"/>
              <a:ext cx="1293811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48" name="Connector 27">
              <a:extLst>
                <a:ext uri="{FF2B5EF4-FFF2-40B4-BE49-F238E27FC236}">
                  <a16:creationId xmlns:a16="http://schemas.microsoft.com/office/drawing/2014/main" id="{C0897B48-89C2-5704-7639-FD9C000F3EDB}"/>
                </a:ext>
              </a:extLst>
            </p:cNvPr>
            <p:cNvCxnSpPr>
              <a:cxnSpLocks/>
            </p:cNvCxnSpPr>
            <p:nvPr/>
          </p:nvCxnSpPr>
          <p:spPr>
            <a:xfrm rot="296636">
              <a:off x="4081172" y="2530880"/>
              <a:ext cx="137849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49" name="Connector 28">
              <a:extLst>
                <a:ext uri="{FF2B5EF4-FFF2-40B4-BE49-F238E27FC236}">
                  <a16:creationId xmlns:a16="http://schemas.microsoft.com/office/drawing/2014/main" id="{802892B3-924A-4CFB-7091-FED6DCD64A25}"/>
                </a:ext>
              </a:extLst>
            </p:cNvPr>
            <p:cNvCxnSpPr>
              <a:cxnSpLocks/>
            </p:cNvCxnSpPr>
            <p:nvPr/>
          </p:nvCxnSpPr>
          <p:spPr>
            <a:xfrm rot="20914409">
              <a:off x="5443932" y="2478512"/>
              <a:ext cx="1397309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0" name="Connector 29">
              <a:extLst>
                <a:ext uri="{FF2B5EF4-FFF2-40B4-BE49-F238E27FC236}">
                  <a16:creationId xmlns:a16="http://schemas.microsoft.com/office/drawing/2014/main" id="{958E0F93-C005-4E0A-5030-58AC2660FA4B}"/>
                </a:ext>
              </a:extLst>
            </p:cNvPr>
            <p:cNvCxnSpPr>
              <a:cxnSpLocks/>
            </p:cNvCxnSpPr>
            <p:nvPr/>
          </p:nvCxnSpPr>
          <p:spPr>
            <a:xfrm rot="459717">
              <a:off x="6821571" y="2452341"/>
              <a:ext cx="138636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1" name="Connector 30">
              <a:extLst>
                <a:ext uri="{FF2B5EF4-FFF2-40B4-BE49-F238E27FC236}">
                  <a16:creationId xmlns:a16="http://schemas.microsoft.com/office/drawing/2014/main" id="{E0B8B6CD-922C-7ACC-F815-ADCF24EC142A}"/>
                </a:ext>
              </a:extLst>
            </p:cNvPr>
            <p:cNvCxnSpPr>
              <a:cxnSpLocks/>
            </p:cNvCxnSpPr>
            <p:nvPr/>
          </p:nvCxnSpPr>
          <p:spPr>
            <a:xfrm rot="296636">
              <a:off x="8197673" y="2583240"/>
              <a:ext cx="137849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2" name="Connector 31">
              <a:extLst>
                <a:ext uri="{FF2B5EF4-FFF2-40B4-BE49-F238E27FC236}">
                  <a16:creationId xmlns:a16="http://schemas.microsoft.com/office/drawing/2014/main" id="{F6C5D34F-5EEF-990E-F0E7-6FE237914F6A}"/>
                </a:ext>
              </a:extLst>
            </p:cNvPr>
            <p:cNvCxnSpPr>
              <a:cxnSpLocks/>
            </p:cNvCxnSpPr>
            <p:nvPr/>
          </p:nvCxnSpPr>
          <p:spPr>
            <a:xfrm rot="21335983">
              <a:off x="9571453" y="2598944"/>
              <a:ext cx="1375271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3" name="Connector 18">
              <a:extLst>
                <a:ext uri="{FF2B5EF4-FFF2-40B4-BE49-F238E27FC236}">
                  <a16:creationId xmlns:a16="http://schemas.microsoft.com/office/drawing/2014/main" id="{719FEC4A-04C6-B8F6-60CB-F90338746046}"/>
                </a:ext>
              </a:extLst>
            </p:cNvPr>
            <p:cNvCxnSpPr>
              <a:cxnSpLocks/>
            </p:cNvCxnSpPr>
            <p:nvPr/>
          </p:nvCxnSpPr>
          <p:spPr>
            <a:xfrm rot="5365623">
              <a:off x="1991309" y="2893681"/>
              <a:ext cx="1047201" cy="13194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CCCC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4" name="AutoShape 44">
              <a:extLst>
                <a:ext uri="{FF2B5EF4-FFF2-40B4-BE49-F238E27FC236}">
                  <a16:creationId xmlns:a16="http://schemas.microsoft.com/office/drawing/2014/main" id="{69DEF88B-6889-2F7C-DAC5-1F436647AE64}"/>
                </a:ext>
              </a:extLst>
            </p:cNvPr>
            <p:cNvSpPr/>
            <p:nvPr/>
          </p:nvSpPr>
          <p:spPr>
            <a:xfrm>
              <a:off x="2053123" y="2324291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3</a:t>
              </a: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00</a:t>
              </a:r>
              <a:endParaRPr lang="en-US" sz="1100" dirty="0"/>
            </a:p>
          </p:txBody>
        </p:sp>
        <p:sp>
          <p:nvSpPr>
            <p:cNvPr id="55" name="AutoShape 45">
              <a:extLst>
                <a:ext uri="{FF2B5EF4-FFF2-40B4-BE49-F238E27FC236}">
                  <a16:creationId xmlns:a16="http://schemas.microsoft.com/office/drawing/2014/main" id="{5559225B-32B3-8757-7B2B-33554AF976B7}"/>
                </a:ext>
              </a:extLst>
            </p:cNvPr>
            <p:cNvSpPr/>
            <p:nvPr/>
          </p:nvSpPr>
          <p:spPr>
            <a:xfrm>
              <a:off x="2053123" y="2669868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2</a:t>
              </a: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00</a:t>
              </a:r>
              <a:endParaRPr lang="en-US" sz="1100" dirty="0"/>
            </a:p>
          </p:txBody>
        </p:sp>
        <p:sp>
          <p:nvSpPr>
            <p:cNvPr id="56" name="AutoShape 46">
              <a:extLst>
                <a:ext uri="{FF2B5EF4-FFF2-40B4-BE49-F238E27FC236}">
                  <a16:creationId xmlns:a16="http://schemas.microsoft.com/office/drawing/2014/main" id="{32E941C8-FDE0-7695-C449-CC77AE0C08ED}"/>
                </a:ext>
              </a:extLst>
            </p:cNvPr>
            <p:cNvSpPr/>
            <p:nvPr/>
          </p:nvSpPr>
          <p:spPr>
            <a:xfrm>
              <a:off x="2053123" y="3015444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1</a:t>
              </a: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00</a:t>
              </a:r>
              <a:endParaRPr lang="en-US" sz="1100" dirty="0"/>
            </a:p>
          </p:txBody>
        </p:sp>
        <p:sp>
          <p:nvSpPr>
            <p:cNvPr id="57" name="AutoShape 47">
              <a:extLst>
                <a:ext uri="{FF2B5EF4-FFF2-40B4-BE49-F238E27FC236}">
                  <a16:creationId xmlns:a16="http://schemas.microsoft.com/office/drawing/2014/main" id="{6F0AF616-5D21-EBC5-2902-E351CA2B76D6}"/>
                </a:ext>
              </a:extLst>
            </p:cNvPr>
            <p:cNvSpPr/>
            <p:nvPr/>
          </p:nvSpPr>
          <p:spPr>
            <a:xfrm>
              <a:off x="2053123" y="3361021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</a:t>
              </a:r>
              <a:endParaRPr lang="en-US" sz="1100" dirty="0"/>
            </a:p>
          </p:txBody>
        </p:sp>
      </p:grp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77E086BF-3FD9-A554-0567-E220D30FA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543053"/>
              </p:ext>
            </p:extLst>
          </p:nvPr>
        </p:nvGraphicFramePr>
        <p:xfrm>
          <a:off x="2546125" y="4552092"/>
          <a:ext cx="3721100" cy="365760"/>
        </p:xfrm>
        <a:graphic>
          <a:graphicData uri="http://schemas.openxmlformats.org/drawingml/2006/table">
            <a:tbl>
              <a:tblPr/>
              <a:tblGrid>
                <a:gridCol w="930275">
                  <a:extLst>
                    <a:ext uri="{9D8B030D-6E8A-4147-A177-3AD203B41FA5}">
                      <a16:colId xmlns:a16="http://schemas.microsoft.com/office/drawing/2014/main" val="1447535226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713488200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1463587908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420613421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名称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t1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t2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t96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7290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供需比预测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210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220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3152111"/>
                  </a:ext>
                </a:extLst>
              </a:tr>
            </a:tbl>
          </a:graphicData>
        </a:graphic>
      </p:graphicFrame>
      <p:sp>
        <p:nvSpPr>
          <p:cNvPr id="6" name="AutoShape 5">
            <a:extLst>
              <a:ext uri="{FF2B5EF4-FFF2-40B4-BE49-F238E27FC236}">
                <a16:creationId xmlns:a16="http://schemas.microsoft.com/office/drawing/2014/main" id="{53291E30-7DA0-FA06-76D1-D3D2CC59CA96}"/>
              </a:ext>
            </a:extLst>
          </p:cNvPr>
          <p:cNvSpPr/>
          <p:nvPr/>
        </p:nvSpPr>
        <p:spPr>
          <a:xfrm>
            <a:off x="8341047" y="810135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13">
            <a:extLst>
              <a:ext uri="{FF2B5EF4-FFF2-40B4-BE49-F238E27FC236}">
                <a16:creationId xmlns:a16="http://schemas.microsoft.com/office/drawing/2014/main" id="{08AA4A55-34FF-0FD6-9D0F-8219E2E35F8F}"/>
              </a:ext>
            </a:extLst>
          </p:cNvPr>
          <p:cNvSpPr/>
          <p:nvPr/>
        </p:nvSpPr>
        <p:spPr>
          <a:xfrm>
            <a:off x="8488880" y="886335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供需比预测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sp>
        <p:nvSpPr>
          <p:cNvPr id="31" name="AutoShape 11">
            <a:extLst>
              <a:ext uri="{FF2B5EF4-FFF2-40B4-BE49-F238E27FC236}">
                <a16:creationId xmlns:a16="http://schemas.microsoft.com/office/drawing/2014/main" id="{2E56CBA0-7CB2-B90F-740D-5475921447C0}"/>
              </a:ext>
            </a:extLst>
          </p:cNvPr>
          <p:cNvSpPr/>
          <p:nvPr/>
        </p:nvSpPr>
        <p:spPr>
          <a:xfrm>
            <a:off x="3736084" y="886335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负荷预测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sp>
        <p:nvSpPr>
          <p:cNvPr id="58" name="AutoShape 11">
            <a:extLst>
              <a:ext uri="{FF2B5EF4-FFF2-40B4-BE49-F238E27FC236}">
                <a16:creationId xmlns:a16="http://schemas.microsoft.com/office/drawing/2014/main" id="{B7F296BA-F9A1-880C-393E-205DA46F04B7}"/>
              </a:ext>
            </a:extLst>
          </p:cNvPr>
          <p:cNvSpPr/>
          <p:nvPr/>
        </p:nvSpPr>
        <p:spPr>
          <a:xfrm>
            <a:off x="4951577" y="886335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风电功率预测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sp>
        <p:nvSpPr>
          <p:cNvPr id="59" name="AutoShape 11">
            <a:extLst>
              <a:ext uri="{FF2B5EF4-FFF2-40B4-BE49-F238E27FC236}">
                <a16:creationId xmlns:a16="http://schemas.microsoft.com/office/drawing/2014/main" id="{8EA8CC2E-6C07-78B5-5C9E-6EBFDFF42532}"/>
              </a:ext>
            </a:extLst>
          </p:cNvPr>
          <p:cNvSpPr/>
          <p:nvPr/>
        </p:nvSpPr>
        <p:spPr>
          <a:xfrm>
            <a:off x="6754957" y="886335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光伏功率预测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sp>
        <p:nvSpPr>
          <p:cNvPr id="60" name="AutoShape 11">
            <a:extLst>
              <a:ext uri="{FF2B5EF4-FFF2-40B4-BE49-F238E27FC236}">
                <a16:creationId xmlns:a16="http://schemas.microsoft.com/office/drawing/2014/main" id="{D76D45BD-B5CC-700F-0435-BD467CCDB483}"/>
              </a:ext>
            </a:extLst>
          </p:cNvPr>
          <p:cNvSpPr/>
          <p:nvPr/>
        </p:nvSpPr>
        <p:spPr>
          <a:xfrm>
            <a:off x="2485493" y="886335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电价预测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pic>
        <p:nvPicPr>
          <p:cNvPr id="61" name="Picture 10">
            <a:extLst>
              <a:ext uri="{FF2B5EF4-FFF2-40B4-BE49-F238E27FC236}">
                <a16:creationId xmlns:a16="http://schemas.microsoft.com/office/drawing/2014/main" id="{46872E1C-2599-90D2-8050-C03BCB7D48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144" y="2956748"/>
            <a:ext cx="203200" cy="203200"/>
          </a:xfrm>
          <a:prstGeom prst="rect">
            <a:avLst/>
          </a:prstGeom>
        </p:spPr>
      </p:pic>
      <p:sp>
        <p:nvSpPr>
          <p:cNvPr id="62" name="AutoShape 11">
            <a:extLst>
              <a:ext uri="{FF2B5EF4-FFF2-40B4-BE49-F238E27FC236}">
                <a16:creationId xmlns:a16="http://schemas.microsoft.com/office/drawing/2014/main" id="{07DB2A65-A8E4-42E0-03A8-4DA77074A01E}"/>
              </a:ext>
            </a:extLst>
          </p:cNvPr>
          <p:cNvSpPr/>
          <p:nvPr/>
        </p:nvSpPr>
        <p:spPr>
          <a:xfrm>
            <a:off x="944944" y="2905948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市场交易</a:t>
            </a:r>
            <a:endParaRPr lang="en-US" altLang="zh-CN" sz="1100" dirty="0"/>
          </a:p>
        </p:txBody>
      </p:sp>
      <p:pic>
        <p:nvPicPr>
          <p:cNvPr id="63" name="Picture 8">
            <a:extLst>
              <a:ext uri="{FF2B5EF4-FFF2-40B4-BE49-F238E27FC236}">
                <a16:creationId xmlns:a16="http://schemas.microsoft.com/office/drawing/2014/main" id="{50426FC3-6AEB-4B16-E0B7-0E9E3BA578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1440873"/>
            <a:ext cx="203200" cy="203200"/>
          </a:xfrm>
          <a:prstGeom prst="rect">
            <a:avLst/>
          </a:prstGeom>
        </p:spPr>
      </p:pic>
      <p:sp>
        <p:nvSpPr>
          <p:cNvPr id="64" name="AutoShape 9">
            <a:extLst>
              <a:ext uri="{FF2B5EF4-FFF2-40B4-BE49-F238E27FC236}">
                <a16:creationId xmlns:a16="http://schemas.microsoft.com/office/drawing/2014/main" id="{28AA3AA4-9FCE-C824-A5EC-28BFEDE6398E}"/>
              </a:ext>
            </a:extLst>
          </p:cNvPr>
          <p:cNvSpPr/>
          <p:nvPr/>
        </p:nvSpPr>
        <p:spPr>
          <a:xfrm>
            <a:off x="965200" y="13900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企业信息</a:t>
            </a:r>
            <a:endParaRPr lang="en-US" sz="1100" dirty="0"/>
          </a:p>
        </p:txBody>
      </p:sp>
      <p:pic>
        <p:nvPicPr>
          <p:cNvPr id="65" name="Picture 12">
            <a:extLst>
              <a:ext uri="{FF2B5EF4-FFF2-40B4-BE49-F238E27FC236}">
                <a16:creationId xmlns:a16="http://schemas.microsoft.com/office/drawing/2014/main" id="{7156DBA4-391B-4513-34C6-C5D6D49D32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144" y="3485574"/>
            <a:ext cx="203200" cy="203200"/>
          </a:xfrm>
          <a:prstGeom prst="rect">
            <a:avLst/>
          </a:prstGeom>
        </p:spPr>
      </p:pic>
      <p:sp>
        <p:nvSpPr>
          <p:cNvPr id="66" name="AutoShape 13">
            <a:extLst>
              <a:ext uri="{FF2B5EF4-FFF2-40B4-BE49-F238E27FC236}">
                <a16:creationId xmlns:a16="http://schemas.microsoft.com/office/drawing/2014/main" id="{E595E995-CB8B-C666-2F5D-EBC3BABC0B17}"/>
              </a:ext>
            </a:extLst>
          </p:cNvPr>
          <p:cNvSpPr/>
          <p:nvPr/>
        </p:nvSpPr>
        <p:spPr>
          <a:xfrm>
            <a:off x="944944" y="3434774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结算报告</a:t>
            </a:r>
            <a:endParaRPr lang="en-US" altLang="zh-CN" sz="1100" dirty="0"/>
          </a:p>
        </p:txBody>
      </p:sp>
      <p:sp>
        <p:nvSpPr>
          <p:cNvPr id="67" name="AutoShape 5">
            <a:extLst>
              <a:ext uri="{FF2B5EF4-FFF2-40B4-BE49-F238E27FC236}">
                <a16:creationId xmlns:a16="http://schemas.microsoft.com/office/drawing/2014/main" id="{4F7CFC2D-FDBA-B089-0CD2-D58AFE54A4DE}"/>
              </a:ext>
            </a:extLst>
          </p:cNvPr>
          <p:cNvSpPr/>
          <p:nvPr/>
        </p:nvSpPr>
        <p:spPr>
          <a:xfrm>
            <a:off x="508000" y="2312735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8" name="Picture 6">
            <a:extLst>
              <a:ext uri="{FF2B5EF4-FFF2-40B4-BE49-F238E27FC236}">
                <a16:creationId xmlns:a16="http://schemas.microsoft.com/office/drawing/2014/main" id="{918ED437-F256-C682-725F-518C2648B0D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" y="2439735"/>
            <a:ext cx="203200" cy="203200"/>
          </a:xfrm>
          <a:prstGeom prst="rect">
            <a:avLst/>
          </a:prstGeom>
        </p:spPr>
      </p:pic>
      <p:sp>
        <p:nvSpPr>
          <p:cNvPr id="69" name="AutoShape 7">
            <a:extLst>
              <a:ext uri="{FF2B5EF4-FFF2-40B4-BE49-F238E27FC236}">
                <a16:creationId xmlns:a16="http://schemas.microsoft.com/office/drawing/2014/main" id="{0F60FE50-049D-7810-68D4-5E69D2FCBD4A}"/>
              </a:ext>
            </a:extLst>
          </p:cNvPr>
          <p:cNvSpPr/>
          <p:nvPr/>
        </p:nvSpPr>
        <p:spPr>
          <a:xfrm>
            <a:off x="965200" y="2388935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1" i="0" u="none" strike="noStrike" dirty="0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信息披露</a:t>
            </a:r>
            <a:endParaRPr lang="en-US" sz="1100" dirty="0"/>
          </a:p>
        </p:txBody>
      </p:sp>
      <p:sp>
        <p:nvSpPr>
          <p:cNvPr id="70" name="AutoShape 13">
            <a:extLst>
              <a:ext uri="{FF2B5EF4-FFF2-40B4-BE49-F238E27FC236}">
                <a16:creationId xmlns:a16="http://schemas.microsoft.com/office/drawing/2014/main" id="{62A8EB2B-EB00-6473-756D-382D45A5F250}"/>
              </a:ext>
            </a:extLst>
          </p:cNvPr>
          <p:cNvSpPr/>
          <p:nvPr/>
        </p:nvSpPr>
        <p:spPr>
          <a:xfrm>
            <a:off x="965200" y="1826004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成交历史</a:t>
            </a:r>
            <a:endParaRPr lang="en-US" sz="1100" dirty="0"/>
          </a:p>
        </p:txBody>
      </p:sp>
      <p:pic>
        <p:nvPicPr>
          <p:cNvPr id="71" name="Picture 14">
            <a:extLst>
              <a:ext uri="{FF2B5EF4-FFF2-40B4-BE49-F238E27FC236}">
                <a16:creationId xmlns:a16="http://schemas.microsoft.com/office/drawing/2014/main" id="{3ABCD090-6115-CE5C-2C1B-4F13A74A4C7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" y="1876804"/>
            <a:ext cx="2032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086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613CA-25FD-7C48-2827-C4627C32D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55B8E94-CAB9-1120-E5E4-165D0AB55338}"/>
              </a:ext>
            </a:extLst>
          </p:cNvPr>
          <p:cNvSpPr/>
          <p:nvPr/>
        </p:nvSpPr>
        <p:spPr>
          <a:xfrm>
            <a:off x="508000" y="203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电力市场</a:t>
            </a:r>
            <a:r>
              <a:rPr lang="en-US" sz="1800" b="1" i="0" u="none" strike="noStrike" dirty="0" err="1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lang="en-US" sz="1100" dirty="0"/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97D8D787-07EA-535E-2120-92E888745BE3}"/>
              </a:ext>
            </a:extLst>
          </p:cNvPr>
          <p:cNvCxnSpPr/>
          <p:nvPr/>
        </p:nvCxnSpPr>
        <p:spPr>
          <a:xfrm rot="-3906">
            <a:off x="508004" y="704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0E4D0720-C9DA-80C8-A477-6959BDA07A26}"/>
              </a:ext>
            </a:extLst>
          </p:cNvPr>
          <p:cNvSpPr/>
          <p:nvPr/>
        </p:nvSpPr>
        <p:spPr>
          <a:xfrm>
            <a:off x="508000" y="914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lang="en-US" sz="1100" dirty="0"/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020424F4-A8EF-5673-6ADB-28C17F26FAC4}"/>
              </a:ext>
            </a:extLst>
          </p:cNvPr>
          <p:cNvCxnSpPr>
            <a:cxnSpLocks/>
          </p:cNvCxnSpPr>
          <p:nvPr/>
        </p:nvCxnSpPr>
        <p:spPr>
          <a:xfrm>
            <a:off x="1990706" y="942109"/>
            <a:ext cx="0" cy="5468851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>
            <a:extLst>
              <a:ext uri="{FF2B5EF4-FFF2-40B4-BE49-F238E27FC236}">
                <a16:creationId xmlns:a16="http://schemas.microsoft.com/office/drawing/2014/main" id="{5D767C3B-BD29-867F-904B-16FC97AC6A89}"/>
              </a:ext>
            </a:extLst>
          </p:cNvPr>
          <p:cNvSpPr/>
          <p:nvPr/>
        </p:nvSpPr>
        <p:spPr>
          <a:xfrm>
            <a:off x="2250210" y="993739"/>
            <a:ext cx="5643562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市场交易</a:t>
            </a:r>
            <a:endParaRPr lang="en-US" sz="1100" dirty="0"/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AA4320A8-57A6-7B46-DDB5-4AD2767AFB8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13FE7E9B-E871-F580-37E3-86740231320B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F17A82E9-9528-C903-E0EA-A9FF2F43DCF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FE1827E9-0ED2-DB13-4612-7BFDD07C7F8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3879BD9D-A7CA-3248-0645-7F89E21B5C98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BF41CF9B-8F6C-5519-18BA-6C9DBD87963D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57432334-DA88-B34D-93A2-4825223FC844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E8A0EFD5-0C33-3499-C7C2-F2C088F7820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BCF4A99D-BE01-FA8B-4EF4-9C9114FB314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50C97A2B-5310-2774-D98A-5BCB2766E31B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75C3DC6F-7802-2636-9CA9-FBDA7FFB6F4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464A85CB-361C-5CF1-F3DB-1C4A8C4BF07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920965DC-D2B9-B24E-171D-FBAA00849A68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DEEE647A-3E8C-FB1D-D76F-2C8146F9DF6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FEE3874E-AA8E-4EE5-8BF0-18102E152938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9976935D-BDAA-808A-7EDF-B690370F951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3" name="Picture 6">
            <a:extLst>
              <a:ext uri="{FF2B5EF4-FFF2-40B4-BE49-F238E27FC236}">
                <a16:creationId xmlns:a16="http://schemas.microsoft.com/office/drawing/2014/main" id="{96BB5DD8-014E-3B91-E6F3-036488743A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59" y="2401918"/>
            <a:ext cx="203200" cy="203200"/>
          </a:xfrm>
          <a:prstGeom prst="rect">
            <a:avLst/>
          </a:prstGeom>
        </p:spPr>
      </p:pic>
      <p:sp>
        <p:nvSpPr>
          <p:cNvPr id="18" name="AutoShape 7">
            <a:extLst>
              <a:ext uri="{FF2B5EF4-FFF2-40B4-BE49-F238E27FC236}">
                <a16:creationId xmlns:a16="http://schemas.microsoft.com/office/drawing/2014/main" id="{A064F387-861B-DCE2-AE13-BFB6D0957FD9}"/>
              </a:ext>
            </a:extLst>
          </p:cNvPr>
          <p:cNvSpPr/>
          <p:nvPr/>
        </p:nvSpPr>
        <p:spPr>
          <a:xfrm>
            <a:off x="1002859" y="2351118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信息披露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pic>
        <p:nvPicPr>
          <p:cNvPr id="19" name="Picture 8">
            <a:extLst>
              <a:ext uri="{FF2B5EF4-FFF2-40B4-BE49-F238E27FC236}">
                <a16:creationId xmlns:a16="http://schemas.microsoft.com/office/drawing/2014/main" id="{67D2486B-5409-3F0E-F19A-895EA603E4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1440873"/>
            <a:ext cx="203200" cy="203200"/>
          </a:xfrm>
          <a:prstGeom prst="rect">
            <a:avLst/>
          </a:prstGeom>
        </p:spPr>
      </p:pic>
      <p:sp>
        <p:nvSpPr>
          <p:cNvPr id="20" name="AutoShape 9">
            <a:extLst>
              <a:ext uri="{FF2B5EF4-FFF2-40B4-BE49-F238E27FC236}">
                <a16:creationId xmlns:a16="http://schemas.microsoft.com/office/drawing/2014/main" id="{AF3E4CD8-630E-9154-636F-795416F789A6}"/>
              </a:ext>
            </a:extLst>
          </p:cNvPr>
          <p:cNvSpPr/>
          <p:nvPr/>
        </p:nvSpPr>
        <p:spPr>
          <a:xfrm>
            <a:off x="965200" y="13900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企业信息</a:t>
            </a:r>
            <a:endParaRPr lang="en-US" sz="1100" dirty="0"/>
          </a:p>
        </p:txBody>
      </p:sp>
      <p:pic>
        <p:nvPicPr>
          <p:cNvPr id="33" name="Picture 12">
            <a:extLst>
              <a:ext uri="{FF2B5EF4-FFF2-40B4-BE49-F238E27FC236}">
                <a16:creationId xmlns:a16="http://schemas.microsoft.com/office/drawing/2014/main" id="{79FEA64D-89CF-B421-911A-07BD2F2CB35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059" y="3464144"/>
            <a:ext cx="203200" cy="203200"/>
          </a:xfrm>
          <a:prstGeom prst="rect">
            <a:avLst/>
          </a:prstGeom>
        </p:spPr>
      </p:pic>
      <p:sp>
        <p:nvSpPr>
          <p:cNvPr id="34" name="AutoShape 13">
            <a:extLst>
              <a:ext uri="{FF2B5EF4-FFF2-40B4-BE49-F238E27FC236}">
                <a16:creationId xmlns:a16="http://schemas.microsoft.com/office/drawing/2014/main" id="{B71DBB0A-24D7-C30C-9E4E-DF65B5CB33BD}"/>
              </a:ext>
            </a:extLst>
          </p:cNvPr>
          <p:cNvSpPr/>
          <p:nvPr/>
        </p:nvSpPr>
        <p:spPr>
          <a:xfrm>
            <a:off x="1002859" y="3413344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结算报告</a:t>
            </a:r>
            <a:endParaRPr lang="en-US" altLang="zh-CN" sz="1100" dirty="0"/>
          </a:p>
        </p:txBody>
      </p:sp>
      <p:sp>
        <p:nvSpPr>
          <p:cNvPr id="46" name="AutoShape 5">
            <a:extLst>
              <a:ext uri="{FF2B5EF4-FFF2-40B4-BE49-F238E27FC236}">
                <a16:creationId xmlns:a16="http://schemas.microsoft.com/office/drawing/2014/main" id="{18C7B0AD-09DF-F998-47A5-6A24188F243C}"/>
              </a:ext>
            </a:extLst>
          </p:cNvPr>
          <p:cNvSpPr/>
          <p:nvPr/>
        </p:nvSpPr>
        <p:spPr>
          <a:xfrm>
            <a:off x="545660" y="2808318"/>
            <a:ext cx="1357039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7" name="Picture 10">
            <a:extLst>
              <a:ext uri="{FF2B5EF4-FFF2-40B4-BE49-F238E27FC236}">
                <a16:creationId xmlns:a16="http://schemas.microsoft.com/office/drawing/2014/main" id="{9D109FEB-D219-79E6-3E7C-269DACA3CB2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8059" y="2935318"/>
            <a:ext cx="203200" cy="203200"/>
          </a:xfrm>
          <a:prstGeom prst="rect">
            <a:avLst/>
          </a:prstGeom>
        </p:spPr>
      </p:pic>
      <p:sp>
        <p:nvSpPr>
          <p:cNvPr id="48" name="AutoShape 11">
            <a:extLst>
              <a:ext uri="{FF2B5EF4-FFF2-40B4-BE49-F238E27FC236}">
                <a16:creationId xmlns:a16="http://schemas.microsoft.com/office/drawing/2014/main" id="{252C626F-9E3C-BAC7-3108-C3C5FD271B2E}"/>
              </a:ext>
            </a:extLst>
          </p:cNvPr>
          <p:cNvSpPr/>
          <p:nvPr/>
        </p:nvSpPr>
        <p:spPr>
          <a:xfrm>
            <a:off x="1002859" y="2884518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市场交易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8AC34280-C0AF-BDD9-862D-5E80A3BDA9B8}"/>
              </a:ext>
            </a:extLst>
          </p:cNvPr>
          <p:cNvSpPr/>
          <p:nvPr/>
        </p:nvSpPr>
        <p:spPr>
          <a:xfrm>
            <a:off x="2250209" y="1761063"/>
            <a:ext cx="9473867" cy="4671268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64B2F51C-FB2A-21F2-D0C3-E131458CFFCF}"/>
              </a:ext>
            </a:extLst>
          </p:cNvPr>
          <p:cNvSpPr/>
          <p:nvPr/>
        </p:nvSpPr>
        <p:spPr>
          <a:xfrm>
            <a:off x="2467450" y="1941592"/>
            <a:ext cx="6097430" cy="2759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企业列表</a:t>
            </a:r>
            <a:endParaRPr lang="en-US" sz="1100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38D527-5DD7-DA3A-A667-308A02015B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435422"/>
              </p:ext>
            </p:extLst>
          </p:nvPr>
        </p:nvGraphicFramePr>
        <p:xfrm>
          <a:off x="2467450" y="2565400"/>
          <a:ext cx="2336800" cy="1988820"/>
        </p:xfrm>
        <a:graphic>
          <a:graphicData uri="http://schemas.openxmlformats.org/drawingml/2006/table">
            <a:tbl>
              <a:tblPr/>
              <a:tblGrid>
                <a:gridCol w="1320800">
                  <a:extLst>
                    <a:ext uri="{9D8B030D-6E8A-4147-A177-3AD203B41FA5}">
                      <a16:colId xmlns:a16="http://schemas.microsoft.com/office/drawing/2014/main" val="305782585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514374737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#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火电厂编号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火电厂名称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40135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ThermalPlant_1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G13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904023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ThermalPlant_2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G14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132767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ThermalPlant_3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G15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517017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ThermalPlant_4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G16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48426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ThermalPlant_5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G17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13869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ThermalPlant_6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G18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099053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ThermalPlant_7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G19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44035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ThermalPlant_8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G20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8885352"/>
                  </a:ext>
                </a:extLst>
              </a:tr>
            </a:tbl>
          </a:graphicData>
        </a:graphic>
      </p:graphicFrame>
      <p:sp>
        <p:nvSpPr>
          <p:cNvPr id="6" name="AutoShape 13">
            <a:extLst>
              <a:ext uri="{FF2B5EF4-FFF2-40B4-BE49-F238E27FC236}">
                <a16:creationId xmlns:a16="http://schemas.microsoft.com/office/drawing/2014/main" id="{C63BE850-B1B8-664A-F171-FA1ECAF380F6}"/>
              </a:ext>
            </a:extLst>
          </p:cNvPr>
          <p:cNvSpPr/>
          <p:nvPr/>
        </p:nvSpPr>
        <p:spPr>
          <a:xfrm>
            <a:off x="965200" y="1865698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成交历史</a:t>
            </a:r>
            <a:endParaRPr lang="en-US" sz="1100" dirty="0"/>
          </a:p>
        </p:txBody>
      </p:sp>
      <p:pic>
        <p:nvPicPr>
          <p:cNvPr id="9" name="Picture 14">
            <a:extLst>
              <a:ext uri="{FF2B5EF4-FFF2-40B4-BE49-F238E27FC236}">
                <a16:creationId xmlns:a16="http://schemas.microsoft.com/office/drawing/2014/main" id="{C032FE35-A7E1-FB15-6F78-977CF591B38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" y="1916498"/>
            <a:ext cx="203200" cy="203200"/>
          </a:xfrm>
          <a:prstGeom prst="rect">
            <a:avLst/>
          </a:prstGeom>
        </p:spPr>
      </p:pic>
      <p:sp>
        <p:nvSpPr>
          <p:cNvPr id="10" name="AutoShape 34">
            <a:extLst>
              <a:ext uri="{FF2B5EF4-FFF2-40B4-BE49-F238E27FC236}">
                <a16:creationId xmlns:a16="http://schemas.microsoft.com/office/drawing/2014/main" id="{4EB3BA89-B9E6-53F1-FF79-5C5FA5A9DF84}"/>
              </a:ext>
            </a:extLst>
          </p:cNvPr>
          <p:cNvSpPr/>
          <p:nvPr/>
        </p:nvSpPr>
        <p:spPr>
          <a:xfrm>
            <a:off x="10064946" y="1900028"/>
            <a:ext cx="1290738" cy="355600"/>
          </a:xfrm>
          <a:prstGeom prst="roundRect">
            <a:avLst>
              <a:gd name="adj" fmla="val 14285"/>
            </a:avLst>
          </a:prstGeom>
          <a:solidFill>
            <a:srgbClr val="409E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1300" b="1" dirty="0">
                <a:solidFill>
                  <a:srgbClr val="FFFFFF"/>
                </a:solidFill>
                <a:latin typeface="Noto Sans SC"/>
                <a:ea typeface="Noto Sans SC"/>
              </a:rPr>
              <a:t>市场出清</a:t>
            </a:r>
            <a:endParaRPr sz="1300" b="1" dirty="0">
              <a:solidFill>
                <a:srgbClr val="FFFFFF"/>
              </a:solidFill>
              <a:latin typeface="Noto Sans SC"/>
              <a:ea typeface="Noto Sans SC"/>
            </a:endParaRPr>
          </a:p>
        </p:txBody>
      </p:sp>
      <p:sp>
        <p:nvSpPr>
          <p:cNvPr id="11" name="AutoShape 34">
            <a:extLst>
              <a:ext uri="{FF2B5EF4-FFF2-40B4-BE49-F238E27FC236}">
                <a16:creationId xmlns:a16="http://schemas.microsoft.com/office/drawing/2014/main" id="{69E49F52-89F9-FF90-750E-C957FCD8A1BC}"/>
              </a:ext>
            </a:extLst>
          </p:cNvPr>
          <p:cNvSpPr/>
          <p:nvPr/>
        </p:nvSpPr>
        <p:spPr>
          <a:xfrm>
            <a:off x="8644457" y="1898885"/>
            <a:ext cx="1290738" cy="355600"/>
          </a:xfrm>
          <a:prstGeom prst="roundRect">
            <a:avLst>
              <a:gd name="adj" fmla="val 14285"/>
            </a:avLst>
          </a:prstGeom>
          <a:solidFill>
            <a:srgbClr val="409E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1300" b="1" dirty="0">
                <a:solidFill>
                  <a:srgbClr val="FFFFFF"/>
                </a:solidFill>
                <a:latin typeface="Noto Sans SC"/>
                <a:ea typeface="Noto Sans SC"/>
              </a:rPr>
              <a:t>选择边际报价</a:t>
            </a:r>
            <a:endParaRPr sz="1300" b="1" dirty="0">
              <a:solidFill>
                <a:srgbClr val="FFFFFF"/>
              </a:solidFill>
              <a:latin typeface="Noto Sans SC"/>
              <a:ea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6328936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AADD6-C354-DEA1-4581-70E3BC939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6FBD043-B57E-D75E-C61D-8E1BE0843B01}"/>
              </a:ext>
            </a:extLst>
          </p:cNvPr>
          <p:cNvSpPr/>
          <p:nvPr/>
        </p:nvSpPr>
        <p:spPr>
          <a:xfrm>
            <a:off x="508000" y="203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电力市场</a:t>
            </a:r>
            <a:r>
              <a:rPr lang="en-US" sz="1800" b="1" i="0" u="none" strike="noStrike" dirty="0" err="1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lang="en-US" sz="1100" dirty="0"/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0321C05C-4144-97FF-4489-9F71CE1F2943}"/>
              </a:ext>
            </a:extLst>
          </p:cNvPr>
          <p:cNvCxnSpPr/>
          <p:nvPr/>
        </p:nvCxnSpPr>
        <p:spPr>
          <a:xfrm rot="-3906">
            <a:off x="508004" y="704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E2187070-4ABD-F82C-575E-E6EB1B3D99E4}"/>
              </a:ext>
            </a:extLst>
          </p:cNvPr>
          <p:cNvSpPr/>
          <p:nvPr/>
        </p:nvSpPr>
        <p:spPr>
          <a:xfrm>
            <a:off x="508000" y="914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lang="en-US" sz="1100" dirty="0"/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C346BD9A-CE36-B7E6-2E64-8757DE11B0FD}"/>
              </a:ext>
            </a:extLst>
          </p:cNvPr>
          <p:cNvCxnSpPr>
            <a:cxnSpLocks/>
          </p:cNvCxnSpPr>
          <p:nvPr/>
        </p:nvCxnSpPr>
        <p:spPr>
          <a:xfrm>
            <a:off x="1990706" y="942109"/>
            <a:ext cx="20461" cy="796287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>
            <a:extLst>
              <a:ext uri="{FF2B5EF4-FFF2-40B4-BE49-F238E27FC236}">
                <a16:creationId xmlns:a16="http://schemas.microsoft.com/office/drawing/2014/main" id="{C7728E5D-5244-4B7F-0638-346459DA1FE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1101CBEC-410E-ACB5-8D13-94E412705B71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8E869B4C-2A9D-1D72-69E4-337BB41F55E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2798F461-70C8-B064-B160-514424CBF35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3EF17C67-DF12-6CCD-E858-DFCE31ADF61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C354AEE5-0CA3-69EE-FFF6-34848287B9C8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68DB9757-1F2A-A49F-0D82-ECE1375FC37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07883BC5-A1CF-5E2E-78C6-ABDE2DBC032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1894264C-DA5A-19F3-C285-7CA7DF82739A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726AB09F-AA5E-48BF-1A46-554FFC6400E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E9A74382-E141-5929-F687-4B441BEA95D1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41948C8E-A9BD-A146-344B-3119A0942A21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FB831E7F-EE1E-BB23-B012-33B406205FE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89A69A6D-FEB3-728C-2EA4-5A3A05354174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6965F9E4-A8E9-526D-E7FE-55DDDB8F9FD4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E3785DAA-191A-7173-4AC7-D2C0010BDABA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101B93EA-A9D8-954A-A6BB-24D8ACEE5B5D}"/>
              </a:ext>
            </a:extLst>
          </p:cNvPr>
          <p:cNvSpPr/>
          <p:nvPr/>
        </p:nvSpPr>
        <p:spPr>
          <a:xfrm>
            <a:off x="2136833" y="927885"/>
            <a:ext cx="9473867" cy="5879314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0" name="AutoShape 5">
            <a:extLst>
              <a:ext uri="{FF2B5EF4-FFF2-40B4-BE49-F238E27FC236}">
                <a16:creationId xmlns:a16="http://schemas.microsoft.com/office/drawing/2014/main" id="{72D90929-5E4A-7213-540D-4A2064B13CB5}"/>
              </a:ext>
            </a:extLst>
          </p:cNvPr>
          <p:cNvSpPr/>
          <p:nvPr/>
        </p:nvSpPr>
        <p:spPr>
          <a:xfrm>
            <a:off x="2427372" y="1094930"/>
            <a:ext cx="6323259" cy="27599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409EFF"/>
                </a:solidFill>
                <a:latin typeface="Noto Sans SC"/>
                <a:ea typeface="Noto Sans SC"/>
              </a:rPr>
              <a:t>机组</a:t>
            </a:r>
            <a:r>
              <a:rPr lang="en-US" altLang="zh-CN" sz="1600" b="1" dirty="0">
                <a:solidFill>
                  <a:srgbClr val="409EFF"/>
                </a:solidFill>
                <a:latin typeface="Noto Sans SC"/>
                <a:ea typeface="Noto Sans SC"/>
              </a:rPr>
              <a:t>G1</a:t>
            </a:r>
            <a:endParaRPr lang="en-US" sz="1600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graphicFrame>
        <p:nvGraphicFramePr>
          <p:cNvPr id="31" name="Table 6">
            <a:extLst>
              <a:ext uri="{FF2B5EF4-FFF2-40B4-BE49-F238E27FC236}">
                <a16:creationId xmlns:a16="http://schemas.microsoft.com/office/drawing/2014/main" id="{E85D0B5F-491B-75D2-6F65-EB11AB3311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941928"/>
              </p:ext>
            </p:extLst>
          </p:nvPr>
        </p:nvGraphicFramePr>
        <p:xfrm>
          <a:off x="2336558" y="2272490"/>
          <a:ext cx="5430054" cy="449850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534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3586700789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507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1" i="0" u="none" strike="noStrik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分段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1" i="0" u="none" strike="noStrik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起始出力（</a:t>
                      </a:r>
                      <a:r>
                        <a:rPr lang="en-US" altLang="zh-CN" sz="1300" b="1" i="0" u="none" strike="noStrik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MW</a:t>
                      </a:r>
                      <a:r>
                        <a:rPr lang="zh-CN" altLang="en-US" sz="1300" b="1" i="0" u="none" strike="noStrik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）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1" i="0" u="none" strike="noStrike" cap="non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sym typeface="Arial"/>
                        </a:rPr>
                        <a:t>终止出力（</a:t>
                      </a:r>
                      <a:r>
                        <a:rPr lang="en-US" altLang="zh-CN" sz="1300" b="1" i="0" u="none" strike="noStrike" cap="non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sym typeface="Arial"/>
                        </a:rPr>
                        <a:t>MW</a:t>
                      </a:r>
                      <a:r>
                        <a:rPr lang="zh-CN" altLang="en-US" sz="1300" b="1" i="0" u="none" strike="noStrike" cap="non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sym typeface="Arial"/>
                        </a:rPr>
                        <a:t>）</a:t>
                      </a:r>
                      <a:endParaRPr lang="en-US" sz="1300" b="1" i="0" u="none" strike="noStrike" cap="none" dirty="0">
                        <a:solidFill>
                          <a:srgbClr val="666666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1" i="0" u="none" strike="noStrike" cap="non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sym typeface="Arial"/>
                        </a:rPr>
                        <a:t>分段报价（元</a:t>
                      </a:r>
                      <a:r>
                        <a:rPr lang="en-US" altLang="zh-CN" sz="1300" b="1" i="0" u="none" strike="noStrike" cap="non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sym typeface="Arial"/>
                        </a:rPr>
                        <a:t>/MWh</a:t>
                      </a:r>
                      <a:r>
                        <a:rPr lang="zh-CN" altLang="en-US" sz="1300" b="1" i="0" u="none" strike="noStrike" cap="non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sym typeface="Arial"/>
                        </a:rPr>
                        <a:t>）</a:t>
                      </a:r>
                      <a:endParaRPr lang="en-US" sz="1300" b="1" i="0" u="none" strike="noStrike" cap="none" dirty="0">
                        <a:solidFill>
                          <a:srgbClr val="666666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3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</a:t>
                      </a:r>
                      <a:endParaRPr lang="en-US" altLang="zh-CN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</a:t>
                      </a:r>
                      <a:endParaRPr lang="en-US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330</a:t>
                      </a:r>
                      <a:endParaRPr lang="en-US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200</a:t>
                      </a:r>
                      <a:endParaRPr lang="en-US" altLang="zh-CN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3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</a:t>
                      </a:r>
                      <a:endParaRPr lang="en-US" altLang="zh-CN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330</a:t>
                      </a:r>
                      <a:endParaRPr lang="en-US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360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210</a:t>
                      </a:r>
                      <a:endParaRPr lang="en-US" altLang="zh-CN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100" dirty="0"/>
                        <a:t>3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360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390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220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70021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100" dirty="0"/>
                        <a:t>4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390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420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230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34031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100" dirty="0"/>
                        <a:t>5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420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450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240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38145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100" dirty="0"/>
                        <a:t>6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450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480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250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01702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100" dirty="0"/>
                        <a:t>7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480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510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260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756613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100" dirty="0"/>
                        <a:t>8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510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540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270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15625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100" dirty="0"/>
                        <a:t>9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540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570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280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19206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100" dirty="0"/>
                        <a:t>10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570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600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290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839181"/>
                  </a:ext>
                </a:extLst>
              </a:tr>
            </a:tbl>
          </a:graphicData>
        </a:graphic>
      </p:graphicFrame>
      <p:grpSp>
        <p:nvGrpSpPr>
          <p:cNvPr id="88" name="组合 87">
            <a:extLst>
              <a:ext uri="{FF2B5EF4-FFF2-40B4-BE49-F238E27FC236}">
                <a16:creationId xmlns:a16="http://schemas.microsoft.com/office/drawing/2014/main" id="{8BF011B0-ED98-86F3-5D92-D956A258972A}"/>
              </a:ext>
            </a:extLst>
          </p:cNvPr>
          <p:cNvGrpSpPr/>
          <p:nvPr/>
        </p:nvGrpSpPr>
        <p:grpSpPr>
          <a:xfrm>
            <a:off x="7251780" y="1790363"/>
            <a:ext cx="4306826" cy="2292595"/>
            <a:chOff x="3493874" y="2893318"/>
            <a:chExt cx="5256758" cy="2292595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AAA8926F-6F57-8F90-9A0F-1A37339EF08B}"/>
                </a:ext>
              </a:extLst>
            </p:cNvPr>
            <p:cNvGrpSpPr/>
            <p:nvPr/>
          </p:nvGrpSpPr>
          <p:grpSpPr>
            <a:xfrm>
              <a:off x="3493874" y="2893318"/>
              <a:ext cx="5256758" cy="2292595"/>
              <a:chOff x="2039249" y="1447800"/>
              <a:chExt cx="7181496" cy="2292595"/>
            </a:xfrm>
          </p:grpSpPr>
          <p:sp>
            <p:nvSpPr>
              <p:cNvPr id="54" name="AutoShape 7">
                <a:extLst>
                  <a:ext uri="{FF2B5EF4-FFF2-40B4-BE49-F238E27FC236}">
                    <a16:creationId xmlns:a16="http://schemas.microsoft.com/office/drawing/2014/main" id="{4312D4C3-781A-A9DE-1116-559D1B95FA41}"/>
                  </a:ext>
                </a:extLst>
              </p:cNvPr>
              <p:cNvSpPr/>
              <p:nvPr/>
            </p:nvSpPr>
            <p:spPr>
              <a:xfrm>
                <a:off x="2039249" y="1447800"/>
                <a:ext cx="7181496" cy="2292595"/>
              </a:xfrm>
              <a:prstGeom prst="roundRect">
                <a:avLst>
                  <a:gd name="adj" fmla="val 4444"/>
                </a:avLst>
              </a:prstGeom>
              <a:solidFill>
                <a:srgbClr val="FFFFFF">
                  <a:alpha val="100000"/>
                </a:srgbClr>
              </a:solidFill>
              <a:ln w="12700" cap="flat" cmpd="sng">
                <a:solidFill>
                  <a:srgbClr val="E5E6EB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55" name="AutoShape 8">
                <a:extLst>
                  <a:ext uri="{FF2B5EF4-FFF2-40B4-BE49-F238E27FC236}">
                    <a16:creationId xmlns:a16="http://schemas.microsoft.com/office/drawing/2014/main" id="{8A874AD4-0DAB-D312-7A7F-B3203CA00D68}"/>
                  </a:ext>
                </a:extLst>
              </p:cNvPr>
              <p:cNvSpPr/>
              <p:nvPr/>
            </p:nvSpPr>
            <p:spPr>
              <a:xfrm>
                <a:off x="2502484" y="1612022"/>
                <a:ext cx="2672096" cy="267578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indent="0" algn="l">
                  <a:lnSpc>
                    <a:spcPct val="125000"/>
                  </a:lnSpc>
                  <a:defRPr/>
                </a:pPr>
                <a:r>
                  <a:rPr lang="zh-CN" altLang="en-US" sz="1600" b="1" i="0" u="none" strike="noStrike" dirty="0">
                    <a:solidFill>
                      <a:srgbClr val="333333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报价曲线</a:t>
                </a:r>
                <a:endParaRPr lang="en-US" sz="1100" dirty="0"/>
              </a:p>
            </p:txBody>
          </p:sp>
          <p:sp>
            <p:nvSpPr>
              <p:cNvPr id="56" name="AutoShape 16">
                <a:extLst>
                  <a:ext uri="{FF2B5EF4-FFF2-40B4-BE49-F238E27FC236}">
                    <a16:creationId xmlns:a16="http://schemas.microsoft.com/office/drawing/2014/main" id="{1FF8278B-987A-1569-3749-17F6659D9AC1}"/>
                  </a:ext>
                </a:extLst>
              </p:cNvPr>
              <p:cNvSpPr/>
              <p:nvPr/>
            </p:nvSpPr>
            <p:spPr>
              <a:xfrm>
                <a:off x="2175375" y="2049643"/>
                <a:ext cx="1601664" cy="156966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indent="0" algn="ctr">
                  <a:lnSpc>
                    <a:spcPct val="125000"/>
                  </a:lnSpc>
                  <a:defRPr/>
                </a:pPr>
                <a:r>
                  <a:rPr lang="en-US" sz="1100" b="0" i="0" u="none" strike="noStrike" dirty="0" err="1">
                    <a:solidFill>
                      <a:srgbClr val="66666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电价</a:t>
                </a:r>
                <a:r>
                  <a:rPr lang="en-US" sz="1100" b="0" i="0" u="none" strike="noStrike" dirty="0">
                    <a:solidFill>
                      <a:srgbClr val="66666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(元/kWh)</a:t>
                </a:r>
                <a:endParaRPr lang="en-US" sz="1100" dirty="0"/>
              </a:p>
            </p:txBody>
          </p:sp>
          <p:cxnSp>
            <p:nvCxnSpPr>
              <p:cNvPr id="57" name="Connector 17">
                <a:extLst>
                  <a:ext uri="{FF2B5EF4-FFF2-40B4-BE49-F238E27FC236}">
                    <a16:creationId xmlns:a16="http://schemas.microsoft.com/office/drawing/2014/main" id="{D7FD62AA-C9B2-29BA-A88B-1D1AFCD4BA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01035" y="3426235"/>
                <a:ext cx="6497176" cy="41887"/>
              </a:xfrm>
              <a:prstGeom prst="straightConnector1">
                <a:avLst/>
              </a:prstGeom>
              <a:solidFill>
                <a:srgbClr val="DEE0E3">
                  <a:alpha val="100000"/>
                </a:srgbClr>
              </a:solidFill>
              <a:ln w="12700" cap="flat" cmpd="sng">
                <a:solidFill>
                  <a:srgbClr val="CCCCCC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8" name="AutoShape 19">
                <a:extLst>
                  <a:ext uri="{FF2B5EF4-FFF2-40B4-BE49-F238E27FC236}">
                    <a16:creationId xmlns:a16="http://schemas.microsoft.com/office/drawing/2014/main" id="{F65A6C94-9F07-96D1-7CA4-95FDE46AB9FB}"/>
                  </a:ext>
                </a:extLst>
              </p:cNvPr>
              <p:cNvSpPr/>
              <p:nvPr/>
            </p:nvSpPr>
            <p:spPr>
              <a:xfrm>
                <a:off x="2807758" y="3468123"/>
                <a:ext cx="527757" cy="16755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indent="0" algn="l">
                  <a:lnSpc>
                    <a:spcPct val="125000"/>
                  </a:lnSpc>
                  <a:defRPr/>
                </a:pPr>
                <a:r>
                  <a:rPr lang="en-US" altLang="zh-CN" sz="1000" dirty="0">
                    <a:solidFill>
                      <a:srgbClr val="8C8C8C"/>
                    </a:solidFill>
                    <a:latin typeface="Noto Sans SC"/>
                    <a:ea typeface="Noto Sans SC"/>
                    <a:sym typeface="Noto Sans SC"/>
                  </a:rPr>
                  <a:t>0</a:t>
                </a:r>
                <a:endParaRPr lang="en-US" sz="1100" dirty="0"/>
              </a:p>
            </p:txBody>
          </p:sp>
          <p:sp>
            <p:nvSpPr>
              <p:cNvPr id="59" name="AutoShape 20">
                <a:extLst>
                  <a:ext uri="{FF2B5EF4-FFF2-40B4-BE49-F238E27FC236}">
                    <a16:creationId xmlns:a16="http://schemas.microsoft.com/office/drawing/2014/main" id="{86916366-3F78-B963-AF12-B7EAC90A4953}"/>
                  </a:ext>
                </a:extLst>
              </p:cNvPr>
              <p:cNvSpPr/>
              <p:nvPr/>
            </p:nvSpPr>
            <p:spPr>
              <a:xfrm>
                <a:off x="3953297" y="3468123"/>
                <a:ext cx="527757" cy="16755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indent="0" algn="l">
                  <a:lnSpc>
                    <a:spcPct val="125000"/>
                  </a:lnSpc>
                  <a:defRPr/>
                </a:pPr>
                <a:r>
                  <a:rPr lang="en-US" altLang="zh-CN" sz="1000" dirty="0">
                    <a:solidFill>
                      <a:srgbClr val="8C8C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300</a:t>
                </a:r>
                <a:endParaRPr lang="en-US" sz="1100" dirty="0"/>
              </a:p>
            </p:txBody>
          </p:sp>
          <p:sp>
            <p:nvSpPr>
              <p:cNvPr id="60" name="AutoShape 21">
                <a:extLst>
                  <a:ext uri="{FF2B5EF4-FFF2-40B4-BE49-F238E27FC236}">
                    <a16:creationId xmlns:a16="http://schemas.microsoft.com/office/drawing/2014/main" id="{AB108692-2203-694B-1C06-A54D9B5D158E}"/>
                  </a:ext>
                </a:extLst>
              </p:cNvPr>
              <p:cNvSpPr/>
              <p:nvPr/>
            </p:nvSpPr>
            <p:spPr>
              <a:xfrm>
                <a:off x="5233763" y="3468123"/>
                <a:ext cx="527757" cy="16755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indent="0" algn="l">
                  <a:lnSpc>
                    <a:spcPct val="125000"/>
                  </a:lnSpc>
                  <a:defRPr/>
                </a:pPr>
                <a:r>
                  <a:rPr lang="en-US" altLang="zh-CN" sz="1000" b="0" i="0" u="none" strike="noStrike" dirty="0">
                    <a:solidFill>
                      <a:srgbClr val="8C8C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400</a:t>
                </a:r>
                <a:endParaRPr lang="en-US" sz="1100" dirty="0"/>
              </a:p>
            </p:txBody>
          </p:sp>
          <p:sp>
            <p:nvSpPr>
              <p:cNvPr id="61" name="AutoShape 22">
                <a:extLst>
                  <a:ext uri="{FF2B5EF4-FFF2-40B4-BE49-F238E27FC236}">
                    <a16:creationId xmlns:a16="http://schemas.microsoft.com/office/drawing/2014/main" id="{1BAD8F41-BC66-3A32-26F2-F27042DD1279}"/>
                  </a:ext>
                </a:extLst>
              </p:cNvPr>
              <p:cNvSpPr/>
              <p:nvPr/>
            </p:nvSpPr>
            <p:spPr>
              <a:xfrm>
                <a:off x="6656673" y="3468122"/>
                <a:ext cx="527757" cy="16755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indent="0" algn="l">
                  <a:lnSpc>
                    <a:spcPct val="125000"/>
                  </a:lnSpc>
                  <a:defRPr/>
                </a:pPr>
                <a:r>
                  <a:rPr lang="en-US" altLang="zh-CN" sz="1000" b="0" i="0" u="none" strike="noStrike" dirty="0">
                    <a:solidFill>
                      <a:srgbClr val="8C8C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500</a:t>
                </a:r>
                <a:endParaRPr lang="en-US" sz="1100" dirty="0"/>
              </a:p>
            </p:txBody>
          </p:sp>
          <p:sp>
            <p:nvSpPr>
              <p:cNvPr id="62" name="AutoShape 23">
                <a:extLst>
                  <a:ext uri="{FF2B5EF4-FFF2-40B4-BE49-F238E27FC236}">
                    <a16:creationId xmlns:a16="http://schemas.microsoft.com/office/drawing/2014/main" id="{BD6814DE-3D2F-13BD-515E-A396FFC0C98D}"/>
                  </a:ext>
                </a:extLst>
              </p:cNvPr>
              <p:cNvSpPr/>
              <p:nvPr/>
            </p:nvSpPr>
            <p:spPr>
              <a:xfrm>
                <a:off x="8196471" y="3468123"/>
                <a:ext cx="527757" cy="16755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indent="0" algn="l">
                  <a:lnSpc>
                    <a:spcPct val="125000"/>
                  </a:lnSpc>
                  <a:defRPr/>
                </a:pPr>
                <a:r>
                  <a:rPr lang="en-US" altLang="zh-CN" sz="1000" b="0" i="0" u="none" strike="noStrike" dirty="0">
                    <a:solidFill>
                      <a:srgbClr val="8C8C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600</a:t>
                </a:r>
                <a:endParaRPr lang="en-US" sz="1100" dirty="0"/>
              </a:p>
            </p:txBody>
          </p:sp>
          <p:cxnSp>
            <p:nvCxnSpPr>
              <p:cNvPr id="65" name="Connector 26">
                <a:extLst>
                  <a:ext uri="{FF2B5EF4-FFF2-40B4-BE49-F238E27FC236}">
                    <a16:creationId xmlns:a16="http://schemas.microsoft.com/office/drawing/2014/main" id="{E64B6036-B21E-DAE4-88C9-A5AB989F0C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07758" y="3099220"/>
                <a:ext cx="1223821" cy="0"/>
              </a:xfrm>
              <a:prstGeom prst="straightConnector1">
                <a:avLst/>
              </a:prstGeom>
              <a:solidFill>
                <a:srgbClr val="DEE0E3">
                  <a:alpha val="100000"/>
                </a:srgbClr>
              </a:solidFill>
              <a:ln w="25400" cap="flat" cmpd="sng">
                <a:solidFill>
                  <a:srgbClr val="409EFF">
                    <a:alpha val="100000"/>
                  </a:srgbClr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66" name="Connector 27">
                <a:extLst>
                  <a:ext uri="{FF2B5EF4-FFF2-40B4-BE49-F238E27FC236}">
                    <a16:creationId xmlns:a16="http://schemas.microsoft.com/office/drawing/2014/main" id="{2E07EDB4-9AE6-2459-9437-B64FCFA009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31579" y="3015444"/>
                <a:ext cx="449474" cy="0"/>
              </a:xfrm>
              <a:prstGeom prst="straightConnector1">
                <a:avLst/>
              </a:prstGeom>
              <a:solidFill>
                <a:srgbClr val="DEE0E3">
                  <a:alpha val="100000"/>
                </a:srgbClr>
              </a:solidFill>
              <a:ln w="25400" cap="flat" cmpd="sng">
                <a:solidFill>
                  <a:srgbClr val="409EFF">
                    <a:alpha val="100000"/>
                  </a:srgbClr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71" name="Connector 18">
                <a:extLst>
                  <a:ext uri="{FF2B5EF4-FFF2-40B4-BE49-F238E27FC236}">
                    <a16:creationId xmlns:a16="http://schemas.microsoft.com/office/drawing/2014/main" id="{5D304540-58A6-8F01-B752-EF8E3840D155}"/>
                  </a:ext>
                </a:extLst>
              </p:cNvPr>
              <p:cNvCxnSpPr>
                <a:cxnSpLocks/>
              </p:cNvCxnSpPr>
              <p:nvPr/>
            </p:nvCxnSpPr>
            <p:spPr>
              <a:xfrm rot="5365623">
                <a:off x="1991309" y="2893681"/>
                <a:ext cx="1047201" cy="13194"/>
              </a:xfrm>
              <a:prstGeom prst="straightConnector1">
                <a:avLst/>
              </a:prstGeom>
              <a:solidFill>
                <a:srgbClr val="DEE0E3">
                  <a:alpha val="100000"/>
                </a:srgbClr>
              </a:solidFill>
              <a:ln w="12700" cap="flat" cmpd="sng">
                <a:solidFill>
                  <a:srgbClr val="CCCCCC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2" name="AutoShape 44">
                <a:extLst>
                  <a:ext uri="{FF2B5EF4-FFF2-40B4-BE49-F238E27FC236}">
                    <a16:creationId xmlns:a16="http://schemas.microsoft.com/office/drawing/2014/main" id="{048D8852-2F35-A6D4-66B2-1DB020D0DEF8}"/>
                  </a:ext>
                </a:extLst>
              </p:cNvPr>
              <p:cNvSpPr/>
              <p:nvPr/>
            </p:nvSpPr>
            <p:spPr>
              <a:xfrm>
                <a:off x="2053123" y="2324291"/>
                <a:ext cx="395817" cy="16755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indent="0" algn="r">
                  <a:lnSpc>
                    <a:spcPct val="125000"/>
                  </a:lnSpc>
                  <a:defRPr/>
                </a:pPr>
                <a:r>
                  <a:rPr lang="en-US" sz="1000" dirty="0">
                    <a:solidFill>
                      <a:srgbClr val="AAAAAA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3</a:t>
                </a:r>
                <a:r>
                  <a:rPr lang="en-US" sz="1000" b="0" i="0" u="none" strike="noStrike" dirty="0">
                    <a:solidFill>
                      <a:srgbClr val="AAAAAA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00</a:t>
                </a:r>
                <a:endParaRPr lang="en-US" sz="1100" dirty="0"/>
              </a:p>
            </p:txBody>
          </p:sp>
          <p:sp>
            <p:nvSpPr>
              <p:cNvPr id="73" name="AutoShape 45">
                <a:extLst>
                  <a:ext uri="{FF2B5EF4-FFF2-40B4-BE49-F238E27FC236}">
                    <a16:creationId xmlns:a16="http://schemas.microsoft.com/office/drawing/2014/main" id="{FDEE370B-7091-BE3D-3AD4-AAEFAF9776FD}"/>
                  </a:ext>
                </a:extLst>
              </p:cNvPr>
              <p:cNvSpPr/>
              <p:nvPr/>
            </p:nvSpPr>
            <p:spPr>
              <a:xfrm>
                <a:off x="2053123" y="2669868"/>
                <a:ext cx="395817" cy="16755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indent="0" algn="r">
                  <a:lnSpc>
                    <a:spcPct val="125000"/>
                  </a:lnSpc>
                  <a:defRPr/>
                </a:pPr>
                <a:r>
                  <a:rPr lang="en-US" sz="1000" dirty="0">
                    <a:solidFill>
                      <a:srgbClr val="AAAAAA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2</a:t>
                </a:r>
                <a:r>
                  <a:rPr lang="en-US" sz="1000" b="0" i="0" u="none" strike="noStrike" dirty="0">
                    <a:solidFill>
                      <a:srgbClr val="AAAAAA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00</a:t>
                </a:r>
                <a:endParaRPr lang="en-US" sz="1100" dirty="0"/>
              </a:p>
            </p:txBody>
          </p:sp>
          <p:sp>
            <p:nvSpPr>
              <p:cNvPr id="74" name="AutoShape 46">
                <a:extLst>
                  <a:ext uri="{FF2B5EF4-FFF2-40B4-BE49-F238E27FC236}">
                    <a16:creationId xmlns:a16="http://schemas.microsoft.com/office/drawing/2014/main" id="{9F0936A4-98E3-3982-EA7E-E0D80AB438E5}"/>
                  </a:ext>
                </a:extLst>
              </p:cNvPr>
              <p:cNvSpPr/>
              <p:nvPr/>
            </p:nvSpPr>
            <p:spPr>
              <a:xfrm>
                <a:off x="2053123" y="3015444"/>
                <a:ext cx="395817" cy="16755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indent="0" algn="r">
                  <a:lnSpc>
                    <a:spcPct val="125000"/>
                  </a:lnSpc>
                  <a:defRPr/>
                </a:pPr>
                <a:r>
                  <a:rPr lang="en-US" sz="1000" dirty="0">
                    <a:solidFill>
                      <a:srgbClr val="AAAAAA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1</a:t>
                </a:r>
                <a:r>
                  <a:rPr lang="en-US" sz="1000" b="0" i="0" u="none" strike="noStrike" dirty="0">
                    <a:solidFill>
                      <a:srgbClr val="AAAAAA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00</a:t>
                </a:r>
                <a:endParaRPr lang="en-US" sz="1100" dirty="0"/>
              </a:p>
            </p:txBody>
          </p:sp>
          <p:sp>
            <p:nvSpPr>
              <p:cNvPr id="75" name="AutoShape 47">
                <a:extLst>
                  <a:ext uri="{FF2B5EF4-FFF2-40B4-BE49-F238E27FC236}">
                    <a16:creationId xmlns:a16="http://schemas.microsoft.com/office/drawing/2014/main" id="{36B1F6C0-F5C4-036E-6D50-54D34F89E4BB}"/>
                  </a:ext>
                </a:extLst>
              </p:cNvPr>
              <p:cNvSpPr/>
              <p:nvPr/>
            </p:nvSpPr>
            <p:spPr>
              <a:xfrm>
                <a:off x="2053123" y="3361021"/>
                <a:ext cx="395817" cy="16755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indent="0" algn="r">
                  <a:lnSpc>
                    <a:spcPct val="1250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AAAAAA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</a:t>
                </a:r>
                <a:endParaRPr lang="en-US" sz="1100" dirty="0"/>
              </a:p>
            </p:txBody>
          </p:sp>
        </p:grpSp>
        <p:cxnSp>
          <p:nvCxnSpPr>
            <p:cNvPr id="79" name="Connector 27">
              <a:extLst>
                <a:ext uri="{FF2B5EF4-FFF2-40B4-BE49-F238E27FC236}">
                  <a16:creationId xmlns:a16="http://schemas.microsoft.com/office/drawing/2014/main" id="{FB05FDBF-BB57-D17E-FD3E-D23C56A8EE15}"/>
                </a:ext>
              </a:extLst>
            </p:cNvPr>
            <p:cNvCxnSpPr>
              <a:cxnSpLocks/>
            </p:cNvCxnSpPr>
            <p:nvPr/>
          </p:nvCxnSpPr>
          <p:spPr>
            <a:xfrm>
              <a:off x="5281242" y="4383896"/>
              <a:ext cx="346373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81" name="Connector 27">
              <a:extLst>
                <a:ext uri="{FF2B5EF4-FFF2-40B4-BE49-F238E27FC236}">
                  <a16:creationId xmlns:a16="http://schemas.microsoft.com/office/drawing/2014/main" id="{03B00C3B-D6EB-632C-95A4-67CB7D06555D}"/>
                </a:ext>
              </a:extLst>
            </p:cNvPr>
            <p:cNvCxnSpPr>
              <a:cxnSpLocks/>
            </p:cNvCxnSpPr>
            <p:nvPr/>
          </p:nvCxnSpPr>
          <p:spPr>
            <a:xfrm>
              <a:off x="5627615" y="4297262"/>
              <a:ext cx="346373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82" name="Connector 27">
              <a:extLst>
                <a:ext uri="{FF2B5EF4-FFF2-40B4-BE49-F238E27FC236}">
                  <a16:creationId xmlns:a16="http://schemas.microsoft.com/office/drawing/2014/main" id="{54909988-1E5A-47E7-1073-52D99E2B62FB}"/>
                </a:ext>
              </a:extLst>
            </p:cNvPr>
            <p:cNvCxnSpPr>
              <a:cxnSpLocks/>
            </p:cNvCxnSpPr>
            <p:nvPr/>
          </p:nvCxnSpPr>
          <p:spPr>
            <a:xfrm>
              <a:off x="5973988" y="4214351"/>
              <a:ext cx="346373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83" name="Connector 27">
              <a:extLst>
                <a:ext uri="{FF2B5EF4-FFF2-40B4-BE49-F238E27FC236}">
                  <a16:creationId xmlns:a16="http://schemas.microsoft.com/office/drawing/2014/main" id="{A7CD1933-0B94-8F98-375C-A748CF82C99C}"/>
                </a:ext>
              </a:extLst>
            </p:cNvPr>
            <p:cNvCxnSpPr>
              <a:cxnSpLocks/>
            </p:cNvCxnSpPr>
            <p:nvPr/>
          </p:nvCxnSpPr>
          <p:spPr>
            <a:xfrm>
              <a:off x="6320361" y="4117782"/>
              <a:ext cx="346373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84" name="Connector 27">
              <a:extLst>
                <a:ext uri="{FF2B5EF4-FFF2-40B4-BE49-F238E27FC236}">
                  <a16:creationId xmlns:a16="http://schemas.microsoft.com/office/drawing/2014/main" id="{07DE5BA9-DC20-CAFC-578E-5453BA2ED64D}"/>
                </a:ext>
              </a:extLst>
            </p:cNvPr>
            <p:cNvCxnSpPr>
              <a:cxnSpLocks/>
            </p:cNvCxnSpPr>
            <p:nvPr/>
          </p:nvCxnSpPr>
          <p:spPr>
            <a:xfrm>
              <a:off x="6666734" y="4020041"/>
              <a:ext cx="346373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85" name="Connector 27">
              <a:extLst>
                <a:ext uri="{FF2B5EF4-FFF2-40B4-BE49-F238E27FC236}">
                  <a16:creationId xmlns:a16="http://schemas.microsoft.com/office/drawing/2014/main" id="{58C12838-5613-B43A-31A6-ABF23138198A}"/>
                </a:ext>
              </a:extLst>
            </p:cNvPr>
            <p:cNvCxnSpPr>
              <a:cxnSpLocks/>
            </p:cNvCxnSpPr>
            <p:nvPr/>
          </p:nvCxnSpPr>
          <p:spPr>
            <a:xfrm>
              <a:off x="7013107" y="3935182"/>
              <a:ext cx="346373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86" name="Connector 27">
              <a:extLst>
                <a:ext uri="{FF2B5EF4-FFF2-40B4-BE49-F238E27FC236}">
                  <a16:creationId xmlns:a16="http://schemas.microsoft.com/office/drawing/2014/main" id="{2963D219-B640-E0E8-A0AB-89B8CD5E8543}"/>
                </a:ext>
              </a:extLst>
            </p:cNvPr>
            <p:cNvCxnSpPr>
              <a:cxnSpLocks/>
            </p:cNvCxnSpPr>
            <p:nvPr/>
          </p:nvCxnSpPr>
          <p:spPr>
            <a:xfrm>
              <a:off x="7359480" y="3857481"/>
              <a:ext cx="346373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87" name="Connector 27">
              <a:extLst>
                <a:ext uri="{FF2B5EF4-FFF2-40B4-BE49-F238E27FC236}">
                  <a16:creationId xmlns:a16="http://schemas.microsoft.com/office/drawing/2014/main" id="{CC1195D6-F5F3-5C7E-E800-65E96DFC8DD2}"/>
                </a:ext>
              </a:extLst>
            </p:cNvPr>
            <p:cNvCxnSpPr>
              <a:cxnSpLocks/>
            </p:cNvCxnSpPr>
            <p:nvPr/>
          </p:nvCxnSpPr>
          <p:spPr>
            <a:xfrm>
              <a:off x="7705853" y="3754425"/>
              <a:ext cx="346373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</p:grp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79AA1EC2-9B2E-A92E-42C2-B6BEB01F4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978498"/>
              </p:ext>
            </p:extLst>
          </p:nvPr>
        </p:nvGraphicFramePr>
        <p:xfrm>
          <a:off x="7581322" y="4730619"/>
          <a:ext cx="3558054" cy="84090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534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3586700789"/>
                    </a:ext>
                  </a:extLst>
                </a:gridCol>
              </a:tblGrid>
              <a:tr h="434507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1" i="0" u="none" strike="noStrik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分段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1" i="0" u="none" strike="noStrik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报价（元</a:t>
                      </a:r>
                      <a:r>
                        <a:rPr lang="en-US" altLang="zh-CN" sz="1300" b="1" i="0" u="none" strike="noStrik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/MWh</a:t>
                      </a:r>
                      <a:r>
                        <a:rPr lang="zh-CN" altLang="en-US" sz="1300" b="1" i="0" u="none" strike="noStrik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）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1" i="0" u="none" strike="noStrike" cap="non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sym typeface="Arial"/>
                        </a:rPr>
                        <a:t>报量（</a:t>
                      </a:r>
                      <a:r>
                        <a:rPr lang="en-US" altLang="zh-CN" sz="1300" b="1" i="0" u="none" strike="noStrike" cap="non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sym typeface="Arial"/>
                        </a:rPr>
                        <a:t>MW</a:t>
                      </a:r>
                      <a:r>
                        <a:rPr lang="zh-CN" altLang="en-US" sz="1300" b="1" i="0" u="none" strike="noStrike" cap="non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sym typeface="Arial"/>
                        </a:rPr>
                        <a:t>）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3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</a:t>
                      </a:r>
                      <a:endParaRPr lang="en-US" altLang="zh-CN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8.2</a:t>
                      </a:r>
                      <a:endParaRPr lang="en-US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45</a:t>
                      </a:r>
                      <a:endParaRPr lang="en-US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519F8715-1763-714F-28C2-3CA2AA065C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59" y="2401918"/>
            <a:ext cx="203200" cy="203200"/>
          </a:xfrm>
          <a:prstGeom prst="rect">
            <a:avLst/>
          </a:prstGeom>
        </p:spPr>
      </p:pic>
      <p:sp>
        <p:nvSpPr>
          <p:cNvPr id="8" name="AutoShape 7">
            <a:extLst>
              <a:ext uri="{FF2B5EF4-FFF2-40B4-BE49-F238E27FC236}">
                <a16:creationId xmlns:a16="http://schemas.microsoft.com/office/drawing/2014/main" id="{6499CCC2-4FA8-630F-AC0A-127DE2D9D207}"/>
              </a:ext>
            </a:extLst>
          </p:cNvPr>
          <p:cNvSpPr/>
          <p:nvPr/>
        </p:nvSpPr>
        <p:spPr>
          <a:xfrm>
            <a:off x="1002859" y="2351118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信息披露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C6D785-652B-C879-A16D-76668A8B62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1440873"/>
            <a:ext cx="203200" cy="203200"/>
          </a:xfrm>
          <a:prstGeom prst="rect">
            <a:avLst/>
          </a:prstGeom>
        </p:spPr>
      </p:pic>
      <p:sp>
        <p:nvSpPr>
          <p:cNvPr id="10" name="AutoShape 9">
            <a:extLst>
              <a:ext uri="{FF2B5EF4-FFF2-40B4-BE49-F238E27FC236}">
                <a16:creationId xmlns:a16="http://schemas.microsoft.com/office/drawing/2014/main" id="{75764D93-8050-E34C-8A63-857D5A9189AE}"/>
              </a:ext>
            </a:extLst>
          </p:cNvPr>
          <p:cNvSpPr/>
          <p:nvPr/>
        </p:nvSpPr>
        <p:spPr>
          <a:xfrm>
            <a:off x="965200" y="13900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企业信息</a:t>
            </a:r>
            <a:endParaRPr lang="en-US" sz="1100" dirty="0"/>
          </a:p>
        </p:txBody>
      </p:sp>
      <p:pic>
        <p:nvPicPr>
          <p:cNvPr id="11" name="Picture 12">
            <a:extLst>
              <a:ext uri="{FF2B5EF4-FFF2-40B4-BE49-F238E27FC236}">
                <a16:creationId xmlns:a16="http://schemas.microsoft.com/office/drawing/2014/main" id="{1AACAC3F-134F-0E8F-F3CF-D380272BE6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059" y="3464144"/>
            <a:ext cx="203200" cy="203200"/>
          </a:xfrm>
          <a:prstGeom prst="rect">
            <a:avLst/>
          </a:prstGeom>
        </p:spPr>
      </p:pic>
      <p:sp>
        <p:nvSpPr>
          <p:cNvPr id="12" name="AutoShape 13">
            <a:extLst>
              <a:ext uri="{FF2B5EF4-FFF2-40B4-BE49-F238E27FC236}">
                <a16:creationId xmlns:a16="http://schemas.microsoft.com/office/drawing/2014/main" id="{3AC3EEEA-A23A-8FC1-C049-B14A28D2CEB6}"/>
              </a:ext>
            </a:extLst>
          </p:cNvPr>
          <p:cNvSpPr/>
          <p:nvPr/>
        </p:nvSpPr>
        <p:spPr>
          <a:xfrm>
            <a:off x="1002859" y="3413344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结算报告</a:t>
            </a:r>
            <a:endParaRPr lang="en-US" altLang="zh-CN" sz="1100" dirty="0"/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24BEDBDB-7D1C-B1C9-B830-10EA2A4BB4AB}"/>
              </a:ext>
            </a:extLst>
          </p:cNvPr>
          <p:cNvSpPr/>
          <p:nvPr/>
        </p:nvSpPr>
        <p:spPr>
          <a:xfrm>
            <a:off x="545660" y="2808318"/>
            <a:ext cx="1357039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0">
            <a:extLst>
              <a:ext uri="{FF2B5EF4-FFF2-40B4-BE49-F238E27FC236}">
                <a16:creationId xmlns:a16="http://schemas.microsoft.com/office/drawing/2014/main" id="{B60D10CD-6E7F-3CCE-313D-E47C32E9E3B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8059" y="2935318"/>
            <a:ext cx="203200" cy="203200"/>
          </a:xfrm>
          <a:prstGeom prst="rect">
            <a:avLst/>
          </a:prstGeom>
        </p:spPr>
      </p:pic>
      <p:sp>
        <p:nvSpPr>
          <p:cNvPr id="17" name="AutoShape 11">
            <a:extLst>
              <a:ext uri="{FF2B5EF4-FFF2-40B4-BE49-F238E27FC236}">
                <a16:creationId xmlns:a16="http://schemas.microsoft.com/office/drawing/2014/main" id="{147BD077-C69A-21BA-EDA1-1AADC504E2B0}"/>
              </a:ext>
            </a:extLst>
          </p:cNvPr>
          <p:cNvSpPr/>
          <p:nvPr/>
        </p:nvSpPr>
        <p:spPr>
          <a:xfrm>
            <a:off x="1002859" y="2884518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市场交易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sp>
        <p:nvSpPr>
          <p:cNvPr id="29" name="AutoShape 13">
            <a:extLst>
              <a:ext uri="{FF2B5EF4-FFF2-40B4-BE49-F238E27FC236}">
                <a16:creationId xmlns:a16="http://schemas.microsoft.com/office/drawing/2014/main" id="{C859DFD8-BE26-6DBC-36AF-49776566A255}"/>
              </a:ext>
            </a:extLst>
          </p:cNvPr>
          <p:cNvSpPr/>
          <p:nvPr/>
        </p:nvSpPr>
        <p:spPr>
          <a:xfrm>
            <a:off x="965200" y="1865698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成交历史</a:t>
            </a:r>
            <a:endParaRPr lang="en-US" sz="1100" dirty="0"/>
          </a:p>
        </p:txBody>
      </p:sp>
      <p:pic>
        <p:nvPicPr>
          <p:cNvPr id="32" name="Picture 14">
            <a:extLst>
              <a:ext uri="{FF2B5EF4-FFF2-40B4-BE49-F238E27FC236}">
                <a16:creationId xmlns:a16="http://schemas.microsoft.com/office/drawing/2014/main" id="{A35A832A-2FBD-DB42-673E-B4F99BA13BC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" y="1916498"/>
            <a:ext cx="203200" cy="203200"/>
          </a:xfrm>
          <a:prstGeom prst="rect">
            <a:avLst/>
          </a:prstGeom>
        </p:spPr>
      </p:pic>
      <p:sp>
        <p:nvSpPr>
          <p:cNvPr id="18" name="AutoShape 34">
            <a:extLst>
              <a:ext uri="{FF2B5EF4-FFF2-40B4-BE49-F238E27FC236}">
                <a16:creationId xmlns:a16="http://schemas.microsoft.com/office/drawing/2014/main" id="{404C7F62-C6B1-0069-73BA-FB24465CA0D3}"/>
              </a:ext>
            </a:extLst>
          </p:cNvPr>
          <p:cNvSpPr/>
          <p:nvPr/>
        </p:nvSpPr>
        <p:spPr>
          <a:xfrm>
            <a:off x="9518523" y="1135625"/>
            <a:ext cx="846534" cy="355600"/>
          </a:xfrm>
          <a:prstGeom prst="roundRect">
            <a:avLst>
              <a:gd name="adj" fmla="val 14285"/>
            </a:avLst>
          </a:prstGeom>
          <a:solidFill>
            <a:srgbClr val="409E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1300" dirty="0">
                <a:solidFill>
                  <a:schemeClr val="bg1"/>
                </a:solidFill>
                <a:latin typeface="Noto Sans SC"/>
                <a:ea typeface="Noto Sans SC"/>
              </a:rPr>
              <a:t>提交</a:t>
            </a:r>
            <a:endParaRPr sz="1300" dirty="0">
              <a:solidFill>
                <a:schemeClr val="bg1"/>
              </a:solidFill>
              <a:latin typeface="Noto Sans SC"/>
              <a:ea typeface="Noto Sans SC"/>
            </a:endParaRPr>
          </a:p>
        </p:txBody>
      </p:sp>
      <p:sp>
        <p:nvSpPr>
          <p:cNvPr id="19" name="AutoShape 34">
            <a:extLst>
              <a:ext uri="{FF2B5EF4-FFF2-40B4-BE49-F238E27FC236}">
                <a16:creationId xmlns:a16="http://schemas.microsoft.com/office/drawing/2014/main" id="{E2C3F924-4DA9-DA60-5F1B-7689CEDCE379}"/>
              </a:ext>
            </a:extLst>
          </p:cNvPr>
          <p:cNvSpPr/>
          <p:nvPr/>
        </p:nvSpPr>
        <p:spPr>
          <a:xfrm>
            <a:off x="10502186" y="1135625"/>
            <a:ext cx="846534" cy="355600"/>
          </a:xfrm>
          <a:prstGeom prst="roundRect">
            <a:avLst>
              <a:gd name="adj" fmla="val 14285"/>
            </a:avLst>
          </a:prstGeom>
          <a:solidFill>
            <a:schemeClr val="bg1"/>
          </a:solidFill>
          <a:ln w="25400" cap="flat" cmpd="sng">
            <a:solidFill>
              <a:srgbClr val="409EFF"/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1300" dirty="0">
                <a:solidFill>
                  <a:srgbClr val="6B7280"/>
                </a:solidFill>
                <a:latin typeface="Noto Sans SC"/>
                <a:ea typeface="Noto Sans SC"/>
              </a:rPr>
              <a:t>取消</a:t>
            </a:r>
            <a:endParaRPr sz="13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20" name="AutoShape 34">
            <a:extLst>
              <a:ext uri="{FF2B5EF4-FFF2-40B4-BE49-F238E27FC236}">
                <a16:creationId xmlns:a16="http://schemas.microsoft.com/office/drawing/2014/main" id="{164E1BAC-A0BF-CC88-BB63-FFB1BC597C7F}"/>
              </a:ext>
            </a:extLst>
          </p:cNvPr>
          <p:cNvSpPr/>
          <p:nvPr/>
        </p:nvSpPr>
        <p:spPr>
          <a:xfrm>
            <a:off x="2353645" y="1804877"/>
            <a:ext cx="1290738" cy="355600"/>
          </a:xfrm>
          <a:prstGeom prst="roundRect">
            <a:avLst>
              <a:gd name="adj" fmla="val 14285"/>
            </a:avLst>
          </a:prstGeom>
          <a:solidFill>
            <a:srgbClr val="409E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1300" b="1" dirty="0">
                <a:solidFill>
                  <a:srgbClr val="FFFFFF"/>
                </a:solidFill>
                <a:latin typeface="Noto Sans SC"/>
                <a:ea typeface="Noto Sans SC"/>
              </a:rPr>
              <a:t>选择边际报价</a:t>
            </a:r>
            <a:endParaRPr sz="1300" b="1" dirty="0">
              <a:solidFill>
                <a:srgbClr val="FFFFFF"/>
              </a:solidFill>
              <a:latin typeface="Noto Sans SC"/>
              <a:ea typeface="Noto Sans SC"/>
            </a:endParaRPr>
          </a:p>
        </p:txBody>
      </p:sp>
      <p:sp>
        <p:nvSpPr>
          <p:cNvPr id="33" name="AutoShape 5">
            <a:extLst>
              <a:ext uri="{FF2B5EF4-FFF2-40B4-BE49-F238E27FC236}">
                <a16:creationId xmlns:a16="http://schemas.microsoft.com/office/drawing/2014/main" id="{BD8E736E-1A5A-2307-C977-E31A3F44549A}"/>
              </a:ext>
            </a:extLst>
          </p:cNvPr>
          <p:cNvSpPr/>
          <p:nvPr/>
        </p:nvSpPr>
        <p:spPr>
          <a:xfrm>
            <a:off x="2353645" y="1475403"/>
            <a:ext cx="6097430" cy="2759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电能量市场申报</a:t>
            </a:r>
            <a:endParaRPr lang="en-US" sz="1100" dirty="0"/>
          </a:p>
        </p:txBody>
      </p:sp>
      <p:sp>
        <p:nvSpPr>
          <p:cNvPr id="34" name="AutoShape 5">
            <a:extLst>
              <a:ext uri="{FF2B5EF4-FFF2-40B4-BE49-F238E27FC236}">
                <a16:creationId xmlns:a16="http://schemas.microsoft.com/office/drawing/2014/main" id="{756E7CAC-91B9-BC92-786F-A2BFB6052F8A}"/>
              </a:ext>
            </a:extLst>
          </p:cNvPr>
          <p:cNvSpPr/>
          <p:nvPr/>
        </p:nvSpPr>
        <p:spPr>
          <a:xfrm>
            <a:off x="3364510" y="1094930"/>
            <a:ext cx="6323259" cy="27599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Noto Sans SC"/>
                <a:ea typeface="Noto Sans SC"/>
              </a:rPr>
              <a:t>机组</a:t>
            </a:r>
            <a:r>
              <a:rPr lang="en-US" altLang="zh-CN" sz="1600" b="1" dirty="0">
                <a:solidFill>
                  <a:srgbClr val="333333"/>
                </a:solidFill>
                <a:latin typeface="Noto Sans SC"/>
                <a:ea typeface="Noto Sans SC"/>
              </a:rPr>
              <a:t>G2</a:t>
            </a:r>
            <a:endParaRPr lang="en-US" sz="1600" b="1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sp>
        <p:nvSpPr>
          <p:cNvPr id="36" name="AutoShape 5">
            <a:extLst>
              <a:ext uri="{FF2B5EF4-FFF2-40B4-BE49-F238E27FC236}">
                <a16:creationId xmlns:a16="http://schemas.microsoft.com/office/drawing/2014/main" id="{C5F0CC19-027C-8725-E44E-A110C6057D83}"/>
              </a:ext>
            </a:extLst>
          </p:cNvPr>
          <p:cNvSpPr/>
          <p:nvPr/>
        </p:nvSpPr>
        <p:spPr>
          <a:xfrm>
            <a:off x="7653911" y="4309884"/>
            <a:ext cx="6097430" cy="2759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辅助服务市场申报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2601108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D750C-A356-8CEB-CA93-C56BE2374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66D390B-17DC-CD12-422C-D1E55A791736}"/>
              </a:ext>
            </a:extLst>
          </p:cNvPr>
          <p:cNvSpPr/>
          <p:nvPr/>
        </p:nvSpPr>
        <p:spPr>
          <a:xfrm>
            <a:off x="508000" y="203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电力市场</a:t>
            </a:r>
            <a:r>
              <a:rPr lang="en-US" sz="1800" b="1" i="0" u="none" strike="noStrike" dirty="0" err="1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lang="en-US" sz="1100" dirty="0"/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D6CE7075-1A7F-287C-AD73-81A427E0B30B}"/>
              </a:ext>
            </a:extLst>
          </p:cNvPr>
          <p:cNvCxnSpPr/>
          <p:nvPr/>
        </p:nvCxnSpPr>
        <p:spPr>
          <a:xfrm rot="-3906">
            <a:off x="508004" y="704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11E0B49E-C36D-BC45-35F7-5CA3AC38CD4B}"/>
              </a:ext>
            </a:extLst>
          </p:cNvPr>
          <p:cNvSpPr/>
          <p:nvPr/>
        </p:nvSpPr>
        <p:spPr>
          <a:xfrm>
            <a:off x="508000" y="914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lang="en-US" sz="1100" dirty="0"/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62299B38-951E-70C1-FDA9-D2C3DC73A2C7}"/>
              </a:ext>
            </a:extLst>
          </p:cNvPr>
          <p:cNvCxnSpPr>
            <a:cxnSpLocks/>
          </p:cNvCxnSpPr>
          <p:nvPr/>
        </p:nvCxnSpPr>
        <p:spPr>
          <a:xfrm>
            <a:off x="1990706" y="942109"/>
            <a:ext cx="20461" cy="796287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>
            <a:extLst>
              <a:ext uri="{FF2B5EF4-FFF2-40B4-BE49-F238E27FC236}">
                <a16:creationId xmlns:a16="http://schemas.microsoft.com/office/drawing/2014/main" id="{CD194FD7-8C82-2F45-53F1-8C611F59572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1EC4812F-5979-F660-CE7A-D2A2C3E61B7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1D3C840C-4B49-E4FC-F248-53C10D19E93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9D260288-6F35-3AA5-B75F-C19C7A7338A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18A8559B-74C9-8F7E-E9FB-E7129CF295CD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AA468C95-1EF5-9FC1-5D54-9FA8928BC1FD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8D7236AD-577E-3E44-AEE5-D69552F4B72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88ADAD29-CACD-3935-9B4C-1739B14D74F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61EC8110-A11F-E97F-8D56-C62F4E1A74F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351663F7-3285-5FE0-4D95-60B9E673239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C6D22157-1D46-25C6-C8F0-F0519208A8A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CE3E977A-6485-7319-892E-480C42CE18B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E2E6BAF1-1FD8-44BB-1EB4-3E3DF10B892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60925F0B-69AD-8D61-8853-56AF9972555B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08F87FE6-934E-9860-1882-7F6E1BF30EC8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72818F64-4049-8525-76C2-BBBC50A22AA1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3" name="Picture 6">
            <a:extLst>
              <a:ext uri="{FF2B5EF4-FFF2-40B4-BE49-F238E27FC236}">
                <a16:creationId xmlns:a16="http://schemas.microsoft.com/office/drawing/2014/main" id="{6FCE27E4-0DAF-38A7-BB73-F291CE1FD1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" y="2429016"/>
            <a:ext cx="203200" cy="203200"/>
          </a:xfrm>
          <a:prstGeom prst="rect">
            <a:avLst/>
          </a:prstGeom>
        </p:spPr>
      </p:pic>
      <p:sp>
        <p:nvSpPr>
          <p:cNvPr id="18" name="AutoShape 7">
            <a:extLst>
              <a:ext uri="{FF2B5EF4-FFF2-40B4-BE49-F238E27FC236}">
                <a16:creationId xmlns:a16="http://schemas.microsoft.com/office/drawing/2014/main" id="{E3312817-125E-63B7-11F6-B7704BBD439B}"/>
              </a:ext>
            </a:extLst>
          </p:cNvPr>
          <p:cNvSpPr/>
          <p:nvPr/>
        </p:nvSpPr>
        <p:spPr>
          <a:xfrm>
            <a:off x="965200" y="23782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信息披露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pic>
        <p:nvPicPr>
          <p:cNvPr id="19" name="Picture 8">
            <a:extLst>
              <a:ext uri="{FF2B5EF4-FFF2-40B4-BE49-F238E27FC236}">
                <a16:creationId xmlns:a16="http://schemas.microsoft.com/office/drawing/2014/main" id="{F13568B7-71DD-BB0E-0389-49F5BFC2D3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1440873"/>
            <a:ext cx="203200" cy="203200"/>
          </a:xfrm>
          <a:prstGeom prst="rect">
            <a:avLst/>
          </a:prstGeom>
        </p:spPr>
      </p:pic>
      <p:sp>
        <p:nvSpPr>
          <p:cNvPr id="20" name="AutoShape 9">
            <a:extLst>
              <a:ext uri="{FF2B5EF4-FFF2-40B4-BE49-F238E27FC236}">
                <a16:creationId xmlns:a16="http://schemas.microsoft.com/office/drawing/2014/main" id="{DC0B7204-0336-A11D-79FE-87A036662C9F}"/>
              </a:ext>
            </a:extLst>
          </p:cNvPr>
          <p:cNvSpPr/>
          <p:nvPr/>
        </p:nvSpPr>
        <p:spPr>
          <a:xfrm>
            <a:off x="965200" y="13900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企业信息</a:t>
            </a:r>
            <a:endParaRPr lang="en-US" sz="1100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7A1CCCF9-544D-B138-F529-6C34E5E462C3}"/>
              </a:ext>
            </a:extLst>
          </p:cNvPr>
          <p:cNvSpPr/>
          <p:nvPr/>
        </p:nvSpPr>
        <p:spPr>
          <a:xfrm>
            <a:off x="508000" y="3343416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10">
            <a:extLst>
              <a:ext uri="{FF2B5EF4-FFF2-40B4-BE49-F238E27FC236}">
                <a16:creationId xmlns:a16="http://schemas.microsoft.com/office/drawing/2014/main" id="{571FB82E-D279-313F-798C-61E0D1B34A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" y="2962416"/>
            <a:ext cx="203200" cy="203200"/>
          </a:xfrm>
          <a:prstGeom prst="rect">
            <a:avLst/>
          </a:prstGeom>
        </p:spPr>
      </p:pic>
      <p:sp>
        <p:nvSpPr>
          <p:cNvPr id="8" name="AutoShape 11">
            <a:extLst>
              <a:ext uri="{FF2B5EF4-FFF2-40B4-BE49-F238E27FC236}">
                <a16:creationId xmlns:a16="http://schemas.microsoft.com/office/drawing/2014/main" id="{588EEC83-233F-AE14-82EA-814F266B70E8}"/>
              </a:ext>
            </a:extLst>
          </p:cNvPr>
          <p:cNvSpPr/>
          <p:nvPr/>
        </p:nvSpPr>
        <p:spPr>
          <a:xfrm>
            <a:off x="965200" y="29116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市场交易</a:t>
            </a:r>
            <a:endParaRPr lang="en-US" sz="1100" dirty="0"/>
          </a:p>
        </p:txBody>
      </p:sp>
      <p:pic>
        <p:nvPicPr>
          <p:cNvPr id="9" name="Picture 12">
            <a:extLst>
              <a:ext uri="{FF2B5EF4-FFF2-40B4-BE49-F238E27FC236}">
                <a16:creationId xmlns:a16="http://schemas.microsoft.com/office/drawing/2014/main" id="{CDE579B7-C188-977F-E584-1C3D6FE591B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" y="3470416"/>
            <a:ext cx="203200" cy="203200"/>
          </a:xfrm>
          <a:prstGeom prst="rect">
            <a:avLst/>
          </a:prstGeom>
        </p:spPr>
      </p:pic>
      <p:sp>
        <p:nvSpPr>
          <p:cNvPr id="10" name="AutoShape 13">
            <a:extLst>
              <a:ext uri="{FF2B5EF4-FFF2-40B4-BE49-F238E27FC236}">
                <a16:creationId xmlns:a16="http://schemas.microsoft.com/office/drawing/2014/main" id="{2D45BAEE-4F0E-E01C-51D9-AFFD948AF23F}"/>
              </a:ext>
            </a:extLst>
          </p:cNvPr>
          <p:cNvSpPr/>
          <p:nvPr/>
        </p:nvSpPr>
        <p:spPr>
          <a:xfrm>
            <a:off x="965200" y="34196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结算报告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sp>
        <p:nvSpPr>
          <p:cNvPr id="34" name="AutoShape 11">
            <a:extLst>
              <a:ext uri="{FF2B5EF4-FFF2-40B4-BE49-F238E27FC236}">
                <a16:creationId xmlns:a16="http://schemas.microsoft.com/office/drawing/2014/main" id="{48E912F6-15D5-A872-0772-4EB86350E638}"/>
              </a:ext>
            </a:extLst>
          </p:cNvPr>
          <p:cNvSpPr/>
          <p:nvPr/>
        </p:nvSpPr>
        <p:spPr>
          <a:xfrm>
            <a:off x="655833" y="4366158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理性报价结果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sp>
        <p:nvSpPr>
          <p:cNvPr id="35" name="AutoShape 11">
            <a:extLst>
              <a:ext uri="{FF2B5EF4-FFF2-40B4-BE49-F238E27FC236}">
                <a16:creationId xmlns:a16="http://schemas.microsoft.com/office/drawing/2014/main" id="{4B96A974-2EAF-93E8-CF8C-8E8446E12D31}"/>
              </a:ext>
            </a:extLst>
          </p:cNvPr>
          <p:cNvSpPr/>
          <p:nvPr/>
        </p:nvSpPr>
        <p:spPr>
          <a:xfrm>
            <a:off x="655833" y="4728624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报价结果对比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sp>
        <p:nvSpPr>
          <p:cNvPr id="45" name="AutoShape 5">
            <a:extLst>
              <a:ext uri="{FF2B5EF4-FFF2-40B4-BE49-F238E27FC236}">
                <a16:creationId xmlns:a16="http://schemas.microsoft.com/office/drawing/2014/main" id="{6D9E215E-32EE-5375-840C-27D29EDC40A9}"/>
              </a:ext>
            </a:extLst>
          </p:cNvPr>
          <p:cNvSpPr/>
          <p:nvPr/>
        </p:nvSpPr>
        <p:spPr>
          <a:xfrm>
            <a:off x="508000" y="3836094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AutoShape 13">
            <a:extLst>
              <a:ext uri="{FF2B5EF4-FFF2-40B4-BE49-F238E27FC236}">
                <a16:creationId xmlns:a16="http://schemas.microsoft.com/office/drawing/2014/main" id="{B6F5B680-239D-054D-33F0-9E81E3478B7A}"/>
              </a:ext>
            </a:extLst>
          </p:cNvPr>
          <p:cNvSpPr/>
          <p:nvPr/>
        </p:nvSpPr>
        <p:spPr>
          <a:xfrm>
            <a:off x="655833" y="3921467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自主报价结果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graphicFrame>
        <p:nvGraphicFramePr>
          <p:cNvPr id="47" name="表格 46">
            <a:extLst>
              <a:ext uri="{FF2B5EF4-FFF2-40B4-BE49-F238E27FC236}">
                <a16:creationId xmlns:a16="http://schemas.microsoft.com/office/drawing/2014/main" id="{29F9B81A-EDC8-8719-2784-509EF7AA34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766101"/>
              </p:ext>
            </p:extLst>
          </p:nvPr>
        </p:nvGraphicFramePr>
        <p:xfrm>
          <a:off x="2233571" y="1611166"/>
          <a:ext cx="3699164" cy="5509984"/>
        </p:xfrm>
        <a:graphic>
          <a:graphicData uri="http://schemas.openxmlformats.org/drawingml/2006/table">
            <a:tbl>
              <a:tblPr/>
              <a:tblGrid>
                <a:gridCol w="1959097">
                  <a:extLst>
                    <a:ext uri="{9D8B030D-6E8A-4147-A177-3AD203B41FA5}">
                      <a16:colId xmlns:a16="http://schemas.microsoft.com/office/drawing/2014/main" val="1251359738"/>
                    </a:ext>
                  </a:extLst>
                </a:gridCol>
                <a:gridCol w="1740067">
                  <a:extLst>
                    <a:ext uri="{9D8B030D-6E8A-4147-A177-3AD203B41FA5}">
                      <a16:colId xmlns:a16="http://schemas.microsoft.com/office/drawing/2014/main" val="2528758443"/>
                    </a:ext>
                  </a:extLst>
                </a:gridCol>
              </a:tblGrid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总装机容量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(100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140.5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810807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风电数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8158823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风电装机容量</a:t>
                      </a:r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(100MW)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621324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光伏数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624304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光伏装机容量</a:t>
                      </a:r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(100MW)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15.5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3116958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水电数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0409674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水电装机容量</a:t>
                      </a:r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(100MW)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005489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火电数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2942930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火电装机容量</a:t>
                      </a:r>
                      <a:r>
                        <a:rPr lang="en-US" altLang="zh-CN" sz="1100" b="0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(100MW)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104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3694483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电化学储能数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5357856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抽蓄电站数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733652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发电企业数目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892915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成交总出力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(100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6703.654295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49319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成交均价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元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MWh)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253.5420329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101687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供需比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1.594824429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5906111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总交易额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万元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4249.145344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0811763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阻塞情况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3995196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阻塞盈余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万元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5564255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申报机组数目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602184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中标机组数目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37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5559060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申报出力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10400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426292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申报均价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元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MWh)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247.4568058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964485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最高节点电价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元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/MWh)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255.37148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8744730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最低节点电价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元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/MWh)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243.2248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1047945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传输网损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(100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564056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总发电量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MWh)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1675.913574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254790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总用电量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MWh)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1675.913574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060576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新能源总弃电量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(MWh)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1311749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最大新能源弃电比例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6412332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总切负荷量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(100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4546797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最大失负荷容量比例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3578193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总增负荷量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(100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8284045"/>
                  </a:ext>
                </a:extLst>
              </a:tr>
            </a:tbl>
          </a:graphicData>
        </a:graphic>
      </p:graphicFrame>
      <p:sp>
        <p:nvSpPr>
          <p:cNvPr id="48" name="AutoShape 5">
            <a:extLst>
              <a:ext uri="{FF2B5EF4-FFF2-40B4-BE49-F238E27FC236}">
                <a16:creationId xmlns:a16="http://schemas.microsoft.com/office/drawing/2014/main" id="{744CAC17-DE84-0F4F-0C10-12D42627CB11}"/>
              </a:ext>
            </a:extLst>
          </p:cNvPr>
          <p:cNvSpPr/>
          <p:nvPr/>
        </p:nvSpPr>
        <p:spPr>
          <a:xfrm>
            <a:off x="2233571" y="808770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13">
            <a:extLst>
              <a:ext uri="{FF2B5EF4-FFF2-40B4-BE49-F238E27FC236}">
                <a16:creationId xmlns:a16="http://schemas.microsoft.com/office/drawing/2014/main" id="{D7920898-8F88-ED36-A20E-30CBB8C953A4}"/>
              </a:ext>
            </a:extLst>
          </p:cNvPr>
          <p:cNvSpPr/>
          <p:nvPr/>
        </p:nvSpPr>
        <p:spPr>
          <a:xfrm>
            <a:off x="2381404" y="89414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市场总览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sp>
        <p:nvSpPr>
          <p:cNvPr id="50" name="AutoShape 11">
            <a:extLst>
              <a:ext uri="{FF2B5EF4-FFF2-40B4-BE49-F238E27FC236}">
                <a16:creationId xmlns:a16="http://schemas.microsoft.com/office/drawing/2014/main" id="{EBD97178-0989-F14E-1E01-645B5521355E}"/>
              </a:ext>
            </a:extLst>
          </p:cNvPr>
          <p:cNvSpPr/>
          <p:nvPr/>
        </p:nvSpPr>
        <p:spPr>
          <a:xfrm>
            <a:off x="3736084" y="88497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详情分析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sp>
        <p:nvSpPr>
          <p:cNvPr id="6" name="AutoShape 13">
            <a:extLst>
              <a:ext uri="{FF2B5EF4-FFF2-40B4-BE49-F238E27FC236}">
                <a16:creationId xmlns:a16="http://schemas.microsoft.com/office/drawing/2014/main" id="{7E829406-FA5B-9438-58C6-E5218BE182A3}"/>
              </a:ext>
            </a:extLst>
          </p:cNvPr>
          <p:cNvSpPr/>
          <p:nvPr/>
        </p:nvSpPr>
        <p:spPr>
          <a:xfrm>
            <a:off x="965200" y="1856091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成交历史</a:t>
            </a:r>
            <a:endParaRPr lang="en-US" sz="1100" dirty="0"/>
          </a:p>
        </p:txBody>
      </p:sp>
      <p:pic>
        <p:nvPicPr>
          <p:cNvPr id="11" name="Picture 14">
            <a:extLst>
              <a:ext uri="{FF2B5EF4-FFF2-40B4-BE49-F238E27FC236}">
                <a16:creationId xmlns:a16="http://schemas.microsoft.com/office/drawing/2014/main" id="{BACDB54E-62AD-48A1-F7C0-94C15C184AA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" y="1906891"/>
            <a:ext cx="203200" cy="203200"/>
          </a:xfrm>
          <a:prstGeom prst="rect">
            <a:avLst/>
          </a:prstGeom>
        </p:spPr>
      </p:pic>
      <p:sp>
        <p:nvSpPr>
          <p:cNvPr id="12" name="AutoShape 5">
            <a:extLst>
              <a:ext uri="{FF2B5EF4-FFF2-40B4-BE49-F238E27FC236}">
                <a16:creationId xmlns:a16="http://schemas.microsoft.com/office/drawing/2014/main" id="{BD8E736E-1A5A-2307-C977-E31A3F44549A}"/>
              </a:ext>
            </a:extLst>
          </p:cNvPr>
          <p:cNvSpPr/>
          <p:nvPr/>
        </p:nvSpPr>
        <p:spPr>
          <a:xfrm>
            <a:off x="2198473" y="1298785"/>
            <a:ext cx="6097430" cy="2759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电能量市场结果</a:t>
            </a:r>
            <a:endParaRPr lang="en-US" sz="1100" dirty="0"/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345B8AD8-D76D-15D0-0C0F-1D0A28F8E9D5}"/>
              </a:ext>
            </a:extLst>
          </p:cNvPr>
          <p:cNvSpPr/>
          <p:nvPr/>
        </p:nvSpPr>
        <p:spPr>
          <a:xfrm>
            <a:off x="9884008" y="1298785"/>
            <a:ext cx="1800000" cy="2759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评分：</a:t>
            </a:r>
            <a:r>
              <a:rPr lang="en-US" altLang="zh-CN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80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12878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75472-8306-FD11-E9E0-9CF121C5F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D56EFAC-0871-2294-29F2-B160F47D3E23}"/>
              </a:ext>
            </a:extLst>
          </p:cNvPr>
          <p:cNvSpPr/>
          <p:nvPr/>
        </p:nvSpPr>
        <p:spPr>
          <a:xfrm>
            <a:off x="508000" y="203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电力市场</a:t>
            </a:r>
            <a:r>
              <a:rPr lang="en-US" sz="1800" b="1" i="0" u="none" strike="noStrike" dirty="0" err="1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lang="en-US" sz="1100" dirty="0"/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6C828E69-0D58-B091-5935-4811503F76E7}"/>
              </a:ext>
            </a:extLst>
          </p:cNvPr>
          <p:cNvCxnSpPr/>
          <p:nvPr/>
        </p:nvCxnSpPr>
        <p:spPr>
          <a:xfrm rot="-3906">
            <a:off x="508004" y="704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D934C3CE-67AC-7B5F-B839-57CFE9B7EEC0}"/>
              </a:ext>
            </a:extLst>
          </p:cNvPr>
          <p:cNvSpPr/>
          <p:nvPr/>
        </p:nvSpPr>
        <p:spPr>
          <a:xfrm>
            <a:off x="508000" y="914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lang="en-US" sz="1100" dirty="0"/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788B4812-8E1C-B430-1D44-4B052348B956}"/>
              </a:ext>
            </a:extLst>
          </p:cNvPr>
          <p:cNvCxnSpPr>
            <a:cxnSpLocks/>
          </p:cNvCxnSpPr>
          <p:nvPr/>
        </p:nvCxnSpPr>
        <p:spPr>
          <a:xfrm>
            <a:off x="1990706" y="942109"/>
            <a:ext cx="20461" cy="796287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>
            <a:extLst>
              <a:ext uri="{FF2B5EF4-FFF2-40B4-BE49-F238E27FC236}">
                <a16:creationId xmlns:a16="http://schemas.microsoft.com/office/drawing/2014/main" id="{CC055244-7ED9-87EC-318B-8823BAC497C8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87DB3D91-7837-C2E3-E258-473404EF943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294A5602-4F07-1BF8-5463-6F4F4ABE72E1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36EE5FA5-0EAA-9AE5-B170-710EA47125A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371E6E04-CC5C-4456-3306-3658E9992888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DB3E834A-1603-FE77-4D2F-CB63D0E285AB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2EB179C6-02C6-976E-ECA0-08B24796E07F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94A3CDE7-3689-2A3F-EBD5-6E1FE8969F5B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AB869115-871E-9D40-C431-FE3BE57F689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BC352226-F13A-FE4D-2480-D07F804A9B9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2092777B-7057-7487-9B86-B36DCAC1889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16DFB3E3-2CDF-46D7-B45F-4C004598218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C40CEB79-1AD8-33AE-1E2C-5EBF4AEDD47D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643E7611-4E1D-397A-E118-804D1B7D3DAF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CE721F1F-B176-680A-6883-BD34B6D0EA14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15E0799D-737B-40D2-493C-27A1A1B4190D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29F9BE1C-F7DD-C5AD-3F36-2140B7DFA1B8}"/>
              </a:ext>
            </a:extLst>
          </p:cNvPr>
          <p:cNvGrpSpPr/>
          <p:nvPr/>
        </p:nvGrpSpPr>
        <p:grpSpPr>
          <a:xfrm>
            <a:off x="2535433" y="1825502"/>
            <a:ext cx="7432420" cy="2292595"/>
            <a:chOff x="2039248" y="1447800"/>
            <a:chExt cx="9644751" cy="2292595"/>
          </a:xfrm>
        </p:grpSpPr>
        <p:sp>
          <p:nvSpPr>
            <p:cNvPr id="11" name="AutoShape 7">
              <a:extLst>
                <a:ext uri="{FF2B5EF4-FFF2-40B4-BE49-F238E27FC236}">
                  <a16:creationId xmlns:a16="http://schemas.microsoft.com/office/drawing/2014/main" id="{F76E2E93-65EE-A1EE-A689-D96BE0FA7D78}"/>
                </a:ext>
              </a:extLst>
            </p:cNvPr>
            <p:cNvSpPr/>
            <p:nvPr/>
          </p:nvSpPr>
          <p:spPr>
            <a:xfrm>
              <a:off x="2039248" y="1447800"/>
              <a:ext cx="9644751" cy="2292595"/>
            </a:xfrm>
            <a:prstGeom prst="roundRect">
              <a:avLst>
                <a:gd name="adj" fmla="val 4444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E5E6EB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2" name="AutoShape 8">
              <a:extLst>
                <a:ext uri="{FF2B5EF4-FFF2-40B4-BE49-F238E27FC236}">
                  <a16:creationId xmlns:a16="http://schemas.microsoft.com/office/drawing/2014/main" id="{23CFC783-057F-EB6B-4BD9-B724E73A7CD4}"/>
                </a:ext>
              </a:extLst>
            </p:cNvPr>
            <p:cNvSpPr/>
            <p:nvPr/>
          </p:nvSpPr>
          <p:spPr>
            <a:xfrm>
              <a:off x="2502484" y="1612022"/>
              <a:ext cx="2672096" cy="267578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600" b="1" i="0" u="none" strike="noStrike" dirty="0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电能量市场出清电价</a:t>
              </a:r>
              <a:endParaRPr lang="en-US" sz="1100" dirty="0"/>
            </a:p>
          </p:txBody>
        </p:sp>
        <p:sp>
          <p:nvSpPr>
            <p:cNvPr id="30" name="AutoShape 16">
              <a:extLst>
                <a:ext uri="{FF2B5EF4-FFF2-40B4-BE49-F238E27FC236}">
                  <a16:creationId xmlns:a16="http://schemas.microsoft.com/office/drawing/2014/main" id="{1ED6FA32-82A3-99B0-8654-89AF2D82ADE5}"/>
                </a:ext>
              </a:extLst>
            </p:cNvPr>
            <p:cNvSpPr/>
            <p:nvPr/>
          </p:nvSpPr>
          <p:spPr>
            <a:xfrm>
              <a:off x="2395698" y="2050909"/>
              <a:ext cx="1266718" cy="176818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100" b="0" i="0" u="none" strike="noStrike" dirty="0" err="1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电价</a:t>
              </a:r>
              <a:r>
                <a:rPr lang="en-US" sz="1100" b="0" i="0" u="none" strike="noStrike" dirty="0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(元/kWh)</a:t>
              </a:r>
              <a:endParaRPr lang="en-US" sz="1100" dirty="0"/>
            </a:p>
          </p:txBody>
        </p:sp>
        <p:cxnSp>
          <p:nvCxnSpPr>
            <p:cNvPr id="31" name="Connector 17">
              <a:extLst>
                <a:ext uri="{FF2B5EF4-FFF2-40B4-BE49-F238E27FC236}">
                  <a16:creationId xmlns:a16="http://schemas.microsoft.com/office/drawing/2014/main" id="{B92FFF35-1F9F-9B78-5DE0-600D1CB7D48F}"/>
                </a:ext>
              </a:extLst>
            </p:cNvPr>
            <p:cNvCxnSpPr>
              <a:cxnSpLocks/>
            </p:cNvCxnSpPr>
            <p:nvPr/>
          </p:nvCxnSpPr>
          <p:spPr>
            <a:xfrm>
              <a:off x="2501035" y="3426235"/>
              <a:ext cx="8971862" cy="41888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CCCC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3" name="AutoShape 19">
              <a:extLst>
                <a:ext uri="{FF2B5EF4-FFF2-40B4-BE49-F238E27FC236}">
                  <a16:creationId xmlns:a16="http://schemas.microsoft.com/office/drawing/2014/main" id="{803C63C8-20A2-8C2F-FCE1-ACDBF60A569F}"/>
                </a:ext>
              </a:extLst>
            </p:cNvPr>
            <p:cNvSpPr/>
            <p:nvPr/>
          </p:nvSpPr>
          <p:spPr>
            <a:xfrm>
              <a:off x="2712138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dirty="0">
                  <a:solidFill>
                    <a:srgbClr val="8C8C8C"/>
                  </a:solidFill>
                  <a:latin typeface="Noto Sans SC"/>
                  <a:ea typeface="Noto Sans SC"/>
                  <a:sym typeface="Noto Sans SC"/>
                </a:rPr>
                <a:t>第一天</a:t>
              </a:r>
              <a:endParaRPr lang="en-US" sz="1100" dirty="0"/>
            </a:p>
          </p:txBody>
        </p:sp>
        <p:sp>
          <p:nvSpPr>
            <p:cNvPr id="36" name="AutoShape 20">
              <a:extLst>
                <a:ext uri="{FF2B5EF4-FFF2-40B4-BE49-F238E27FC236}">
                  <a16:creationId xmlns:a16="http://schemas.microsoft.com/office/drawing/2014/main" id="{EE0A581F-D281-1568-E11A-E9622AD13377}"/>
                </a:ext>
              </a:extLst>
            </p:cNvPr>
            <p:cNvSpPr/>
            <p:nvPr/>
          </p:nvSpPr>
          <p:spPr>
            <a:xfrm>
              <a:off x="4084305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第二天</a:t>
              </a:r>
              <a:endParaRPr lang="en-US" sz="1100" dirty="0"/>
            </a:p>
          </p:txBody>
        </p:sp>
        <p:sp>
          <p:nvSpPr>
            <p:cNvPr id="48" name="AutoShape 21">
              <a:extLst>
                <a:ext uri="{FF2B5EF4-FFF2-40B4-BE49-F238E27FC236}">
                  <a16:creationId xmlns:a16="http://schemas.microsoft.com/office/drawing/2014/main" id="{50FDDBA0-840A-0C5C-A3C8-9A59D5500586}"/>
                </a:ext>
              </a:extLst>
            </p:cNvPr>
            <p:cNvSpPr/>
            <p:nvPr/>
          </p:nvSpPr>
          <p:spPr>
            <a:xfrm>
              <a:off x="5456472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第三天</a:t>
              </a:r>
              <a:endParaRPr lang="en-US" sz="1100" dirty="0"/>
            </a:p>
          </p:txBody>
        </p:sp>
        <p:sp>
          <p:nvSpPr>
            <p:cNvPr id="49" name="AutoShape 22">
              <a:extLst>
                <a:ext uri="{FF2B5EF4-FFF2-40B4-BE49-F238E27FC236}">
                  <a16:creationId xmlns:a16="http://schemas.microsoft.com/office/drawing/2014/main" id="{22790140-A9CE-81E0-0C8C-502EFB1B5D33}"/>
                </a:ext>
              </a:extLst>
            </p:cNvPr>
            <p:cNvSpPr/>
            <p:nvPr/>
          </p:nvSpPr>
          <p:spPr>
            <a:xfrm>
              <a:off x="6828639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第四天</a:t>
              </a:r>
              <a:endParaRPr lang="en-US" sz="1100" dirty="0"/>
            </a:p>
          </p:txBody>
        </p:sp>
        <p:sp>
          <p:nvSpPr>
            <p:cNvPr id="50" name="AutoShape 23">
              <a:extLst>
                <a:ext uri="{FF2B5EF4-FFF2-40B4-BE49-F238E27FC236}">
                  <a16:creationId xmlns:a16="http://schemas.microsoft.com/office/drawing/2014/main" id="{C775804A-EC2A-856D-4A2B-06BB1758674C}"/>
                </a:ext>
              </a:extLst>
            </p:cNvPr>
            <p:cNvSpPr/>
            <p:nvPr/>
          </p:nvSpPr>
          <p:spPr>
            <a:xfrm>
              <a:off x="8200806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第五天</a:t>
              </a:r>
              <a:endParaRPr lang="en-US" sz="1100" dirty="0"/>
            </a:p>
          </p:txBody>
        </p:sp>
        <p:sp>
          <p:nvSpPr>
            <p:cNvPr id="51" name="AutoShape 24">
              <a:extLst>
                <a:ext uri="{FF2B5EF4-FFF2-40B4-BE49-F238E27FC236}">
                  <a16:creationId xmlns:a16="http://schemas.microsoft.com/office/drawing/2014/main" id="{CF4A350E-5B8D-5E81-60EF-7ACB4CAE563F}"/>
                </a:ext>
              </a:extLst>
            </p:cNvPr>
            <p:cNvSpPr/>
            <p:nvPr/>
          </p:nvSpPr>
          <p:spPr>
            <a:xfrm>
              <a:off x="9572974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第六天</a:t>
              </a:r>
              <a:endParaRPr lang="en-US" sz="1100" dirty="0"/>
            </a:p>
          </p:txBody>
        </p:sp>
        <p:sp>
          <p:nvSpPr>
            <p:cNvPr id="52" name="AutoShape 25">
              <a:extLst>
                <a:ext uri="{FF2B5EF4-FFF2-40B4-BE49-F238E27FC236}">
                  <a16:creationId xmlns:a16="http://schemas.microsoft.com/office/drawing/2014/main" id="{B04BBA50-CE80-8B58-AB87-FCD95DF9E7AE}"/>
                </a:ext>
              </a:extLst>
            </p:cNvPr>
            <p:cNvSpPr/>
            <p:nvPr/>
          </p:nvSpPr>
          <p:spPr>
            <a:xfrm>
              <a:off x="10945141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第七天</a:t>
              </a:r>
              <a:endParaRPr lang="en-US" sz="1100" dirty="0"/>
            </a:p>
          </p:txBody>
        </p:sp>
        <p:cxnSp>
          <p:nvCxnSpPr>
            <p:cNvPr id="53" name="Connector 26">
              <a:extLst>
                <a:ext uri="{FF2B5EF4-FFF2-40B4-BE49-F238E27FC236}">
                  <a16:creationId xmlns:a16="http://schemas.microsoft.com/office/drawing/2014/main" id="{C366CBF6-B5E5-A098-D760-CE574910E324}"/>
                </a:ext>
              </a:extLst>
            </p:cNvPr>
            <p:cNvCxnSpPr>
              <a:cxnSpLocks/>
            </p:cNvCxnSpPr>
            <p:nvPr/>
          </p:nvCxnSpPr>
          <p:spPr>
            <a:xfrm rot="20858847">
              <a:off x="2804124" y="2583232"/>
              <a:ext cx="1293811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4" name="Connector 27">
              <a:extLst>
                <a:ext uri="{FF2B5EF4-FFF2-40B4-BE49-F238E27FC236}">
                  <a16:creationId xmlns:a16="http://schemas.microsoft.com/office/drawing/2014/main" id="{3AFEC72D-B1DA-0A34-3440-FC8A7385A17C}"/>
                </a:ext>
              </a:extLst>
            </p:cNvPr>
            <p:cNvCxnSpPr>
              <a:cxnSpLocks/>
            </p:cNvCxnSpPr>
            <p:nvPr/>
          </p:nvCxnSpPr>
          <p:spPr>
            <a:xfrm rot="296636">
              <a:off x="4081172" y="2530880"/>
              <a:ext cx="137849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5" name="Connector 28">
              <a:extLst>
                <a:ext uri="{FF2B5EF4-FFF2-40B4-BE49-F238E27FC236}">
                  <a16:creationId xmlns:a16="http://schemas.microsoft.com/office/drawing/2014/main" id="{93CF4AEF-23A3-E699-3206-0AEC1F56FBF1}"/>
                </a:ext>
              </a:extLst>
            </p:cNvPr>
            <p:cNvCxnSpPr>
              <a:cxnSpLocks/>
            </p:cNvCxnSpPr>
            <p:nvPr/>
          </p:nvCxnSpPr>
          <p:spPr>
            <a:xfrm rot="20914409">
              <a:off x="5443932" y="2478512"/>
              <a:ext cx="1397309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6" name="Connector 29">
              <a:extLst>
                <a:ext uri="{FF2B5EF4-FFF2-40B4-BE49-F238E27FC236}">
                  <a16:creationId xmlns:a16="http://schemas.microsoft.com/office/drawing/2014/main" id="{FC4C7C8A-79CC-076C-FE44-4EA8AA824C24}"/>
                </a:ext>
              </a:extLst>
            </p:cNvPr>
            <p:cNvCxnSpPr>
              <a:cxnSpLocks/>
            </p:cNvCxnSpPr>
            <p:nvPr/>
          </p:nvCxnSpPr>
          <p:spPr>
            <a:xfrm rot="459717">
              <a:off x="6821571" y="2452341"/>
              <a:ext cx="138636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7" name="Connector 30">
              <a:extLst>
                <a:ext uri="{FF2B5EF4-FFF2-40B4-BE49-F238E27FC236}">
                  <a16:creationId xmlns:a16="http://schemas.microsoft.com/office/drawing/2014/main" id="{B4532390-35D2-307F-9DDA-0F55E02153B8}"/>
                </a:ext>
              </a:extLst>
            </p:cNvPr>
            <p:cNvCxnSpPr>
              <a:cxnSpLocks/>
            </p:cNvCxnSpPr>
            <p:nvPr/>
          </p:nvCxnSpPr>
          <p:spPr>
            <a:xfrm rot="296636">
              <a:off x="8197673" y="2583240"/>
              <a:ext cx="137849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8" name="Connector 31">
              <a:extLst>
                <a:ext uri="{FF2B5EF4-FFF2-40B4-BE49-F238E27FC236}">
                  <a16:creationId xmlns:a16="http://schemas.microsoft.com/office/drawing/2014/main" id="{A0BB8860-DB5D-6B8A-4B9F-F61DC687C6EA}"/>
                </a:ext>
              </a:extLst>
            </p:cNvPr>
            <p:cNvCxnSpPr>
              <a:cxnSpLocks/>
            </p:cNvCxnSpPr>
            <p:nvPr/>
          </p:nvCxnSpPr>
          <p:spPr>
            <a:xfrm rot="21335983">
              <a:off x="9571453" y="2598944"/>
              <a:ext cx="1375271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69" name="Connector 18">
              <a:extLst>
                <a:ext uri="{FF2B5EF4-FFF2-40B4-BE49-F238E27FC236}">
                  <a16:creationId xmlns:a16="http://schemas.microsoft.com/office/drawing/2014/main" id="{934B91DC-C1FE-8200-435E-7DE9AE343F1E}"/>
                </a:ext>
              </a:extLst>
            </p:cNvPr>
            <p:cNvCxnSpPr>
              <a:cxnSpLocks/>
            </p:cNvCxnSpPr>
            <p:nvPr/>
          </p:nvCxnSpPr>
          <p:spPr>
            <a:xfrm rot="5365623">
              <a:off x="1991309" y="2893681"/>
              <a:ext cx="1047201" cy="13194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CCCC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0" name="AutoShape 44">
              <a:extLst>
                <a:ext uri="{FF2B5EF4-FFF2-40B4-BE49-F238E27FC236}">
                  <a16:creationId xmlns:a16="http://schemas.microsoft.com/office/drawing/2014/main" id="{5FDC92D9-EC9B-1ED5-F573-3DD481188E4B}"/>
                </a:ext>
              </a:extLst>
            </p:cNvPr>
            <p:cNvSpPr/>
            <p:nvPr/>
          </p:nvSpPr>
          <p:spPr>
            <a:xfrm>
              <a:off x="2053123" y="2324291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3</a:t>
              </a: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00</a:t>
              </a:r>
              <a:endParaRPr lang="en-US" sz="1100" dirty="0"/>
            </a:p>
          </p:txBody>
        </p:sp>
        <p:sp>
          <p:nvSpPr>
            <p:cNvPr id="71" name="AutoShape 45">
              <a:extLst>
                <a:ext uri="{FF2B5EF4-FFF2-40B4-BE49-F238E27FC236}">
                  <a16:creationId xmlns:a16="http://schemas.microsoft.com/office/drawing/2014/main" id="{4BE33622-C5C6-B3C5-3260-3B8766108C51}"/>
                </a:ext>
              </a:extLst>
            </p:cNvPr>
            <p:cNvSpPr/>
            <p:nvPr/>
          </p:nvSpPr>
          <p:spPr>
            <a:xfrm>
              <a:off x="2053123" y="2669868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2</a:t>
              </a: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00</a:t>
              </a:r>
              <a:endParaRPr lang="en-US" sz="1100" dirty="0"/>
            </a:p>
          </p:txBody>
        </p:sp>
        <p:sp>
          <p:nvSpPr>
            <p:cNvPr id="72" name="AutoShape 46">
              <a:extLst>
                <a:ext uri="{FF2B5EF4-FFF2-40B4-BE49-F238E27FC236}">
                  <a16:creationId xmlns:a16="http://schemas.microsoft.com/office/drawing/2014/main" id="{BA4F542E-D520-A0C0-A9D4-B3A632719216}"/>
                </a:ext>
              </a:extLst>
            </p:cNvPr>
            <p:cNvSpPr/>
            <p:nvPr/>
          </p:nvSpPr>
          <p:spPr>
            <a:xfrm>
              <a:off x="2053123" y="3015444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1</a:t>
              </a: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00</a:t>
              </a:r>
              <a:endParaRPr lang="en-US" sz="1100" dirty="0"/>
            </a:p>
          </p:txBody>
        </p:sp>
        <p:sp>
          <p:nvSpPr>
            <p:cNvPr id="73" name="AutoShape 47">
              <a:extLst>
                <a:ext uri="{FF2B5EF4-FFF2-40B4-BE49-F238E27FC236}">
                  <a16:creationId xmlns:a16="http://schemas.microsoft.com/office/drawing/2014/main" id="{4257A982-6EF7-915A-FB86-F095B838156E}"/>
                </a:ext>
              </a:extLst>
            </p:cNvPr>
            <p:cNvSpPr/>
            <p:nvPr/>
          </p:nvSpPr>
          <p:spPr>
            <a:xfrm>
              <a:off x="2053123" y="3361021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</a:t>
              </a:r>
              <a:endParaRPr lang="en-US" sz="1100" dirty="0"/>
            </a:p>
          </p:txBody>
        </p:sp>
      </p:grpSp>
      <p:sp>
        <p:nvSpPr>
          <p:cNvPr id="83" name="AutoShape 5">
            <a:extLst>
              <a:ext uri="{FF2B5EF4-FFF2-40B4-BE49-F238E27FC236}">
                <a16:creationId xmlns:a16="http://schemas.microsoft.com/office/drawing/2014/main" id="{8B523FD1-6F16-4C09-ED69-15D71048DF8C}"/>
              </a:ext>
            </a:extLst>
          </p:cNvPr>
          <p:cNvSpPr/>
          <p:nvPr/>
        </p:nvSpPr>
        <p:spPr>
          <a:xfrm>
            <a:off x="2233571" y="808770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" name="AutoShape 13">
            <a:extLst>
              <a:ext uri="{FF2B5EF4-FFF2-40B4-BE49-F238E27FC236}">
                <a16:creationId xmlns:a16="http://schemas.microsoft.com/office/drawing/2014/main" id="{AB4FD927-A294-E7EC-AE7E-9A38A13FC7BB}"/>
              </a:ext>
            </a:extLst>
          </p:cNvPr>
          <p:cNvSpPr/>
          <p:nvPr/>
        </p:nvSpPr>
        <p:spPr>
          <a:xfrm>
            <a:off x="2381404" y="89414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市场总览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sp>
        <p:nvSpPr>
          <p:cNvPr id="85" name="AutoShape 11">
            <a:extLst>
              <a:ext uri="{FF2B5EF4-FFF2-40B4-BE49-F238E27FC236}">
                <a16:creationId xmlns:a16="http://schemas.microsoft.com/office/drawing/2014/main" id="{1B96EA87-5448-D9B5-C26D-02D6F061EAF1}"/>
              </a:ext>
            </a:extLst>
          </p:cNvPr>
          <p:cNvSpPr/>
          <p:nvPr/>
        </p:nvSpPr>
        <p:spPr>
          <a:xfrm>
            <a:off x="3736084" y="88497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详情分析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pic>
        <p:nvPicPr>
          <p:cNvPr id="14" name="Picture 6">
            <a:extLst>
              <a:ext uri="{FF2B5EF4-FFF2-40B4-BE49-F238E27FC236}">
                <a16:creationId xmlns:a16="http://schemas.microsoft.com/office/drawing/2014/main" id="{45F47FF4-C0A6-956C-79A1-AC697CA0A5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" y="2429016"/>
            <a:ext cx="203200" cy="203200"/>
          </a:xfrm>
          <a:prstGeom prst="rect">
            <a:avLst/>
          </a:prstGeom>
        </p:spPr>
      </p:pic>
      <p:sp>
        <p:nvSpPr>
          <p:cNvPr id="15" name="AutoShape 7">
            <a:extLst>
              <a:ext uri="{FF2B5EF4-FFF2-40B4-BE49-F238E27FC236}">
                <a16:creationId xmlns:a16="http://schemas.microsoft.com/office/drawing/2014/main" id="{5D8E23B9-28B4-0411-ACC5-F27B63760945}"/>
              </a:ext>
            </a:extLst>
          </p:cNvPr>
          <p:cNvSpPr/>
          <p:nvPr/>
        </p:nvSpPr>
        <p:spPr>
          <a:xfrm>
            <a:off x="965200" y="23782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信息披露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pic>
        <p:nvPicPr>
          <p:cNvPr id="17" name="Picture 8">
            <a:extLst>
              <a:ext uri="{FF2B5EF4-FFF2-40B4-BE49-F238E27FC236}">
                <a16:creationId xmlns:a16="http://schemas.microsoft.com/office/drawing/2014/main" id="{71DC5BC7-1AA7-E6C6-1CFE-3F23E8EB71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1440873"/>
            <a:ext cx="203200" cy="203200"/>
          </a:xfrm>
          <a:prstGeom prst="rect">
            <a:avLst/>
          </a:prstGeom>
        </p:spPr>
      </p:pic>
      <p:sp>
        <p:nvSpPr>
          <p:cNvPr id="29" name="AutoShape 9">
            <a:extLst>
              <a:ext uri="{FF2B5EF4-FFF2-40B4-BE49-F238E27FC236}">
                <a16:creationId xmlns:a16="http://schemas.microsoft.com/office/drawing/2014/main" id="{F09366CF-537A-73C0-C97C-2A0C8DF749BE}"/>
              </a:ext>
            </a:extLst>
          </p:cNvPr>
          <p:cNvSpPr/>
          <p:nvPr/>
        </p:nvSpPr>
        <p:spPr>
          <a:xfrm>
            <a:off x="965200" y="13900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企业信息</a:t>
            </a:r>
            <a:endParaRPr lang="en-US" sz="1100" dirty="0"/>
          </a:p>
        </p:txBody>
      </p:sp>
      <p:sp>
        <p:nvSpPr>
          <p:cNvPr id="32" name="AutoShape 5">
            <a:extLst>
              <a:ext uri="{FF2B5EF4-FFF2-40B4-BE49-F238E27FC236}">
                <a16:creationId xmlns:a16="http://schemas.microsoft.com/office/drawing/2014/main" id="{20C8802D-A9A3-6A96-0A9D-F601BCD82820}"/>
              </a:ext>
            </a:extLst>
          </p:cNvPr>
          <p:cNvSpPr/>
          <p:nvPr/>
        </p:nvSpPr>
        <p:spPr>
          <a:xfrm>
            <a:off x="508000" y="3343416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7" name="Picture 10">
            <a:extLst>
              <a:ext uri="{FF2B5EF4-FFF2-40B4-BE49-F238E27FC236}">
                <a16:creationId xmlns:a16="http://schemas.microsoft.com/office/drawing/2014/main" id="{665CD799-A410-434F-8808-64C81FB533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" y="2962416"/>
            <a:ext cx="203200" cy="203200"/>
          </a:xfrm>
          <a:prstGeom prst="rect">
            <a:avLst/>
          </a:prstGeom>
        </p:spPr>
      </p:pic>
      <p:sp>
        <p:nvSpPr>
          <p:cNvPr id="59" name="AutoShape 11">
            <a:extLst>
              <a:ext uri="{FF2B5EF4-FFF2-40B4-BE49-F238E27FC236}">
                <a16:creationId xmlns:a16="http://schemas.microsoft.com/office/drawing/2014/main" id="{4576BFA6-5DE3-2705-B9CD-51A67BFC59DF}"/>
              </a:ext>
            </a:extLst>
          </p:cNvPr>
          <p:cNvSpPr/>
          <p:nvPr/>
        </p:nvSpPr>
        <p:spPr>
          <a:xfrm>
            <a:off x="965200" y="29116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市场交易</a:t>
            </a:r>
            <a:endParaRPr lang="en-US" sz="1100" dirty="0"/>
          </a:p>
        </p:txBody>
      </p:sp>
      <p:pic>
        <p:nvPicPr>
          <p:cNvPr id="60" name="Picture 12">
            <a:extLst>
              <a:ext uri="{FF2B5EF4-FFF2-40B4-BE49-F238E27FC236}">
                <a16:creationId xmlns:a16="http://schemas.microsoft.com/office/drawing/2014/main" id="{2ACBFE1F-499F-842A-19C3-54F17BD5766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" y="3470416"/>
            <a:ext cx="203200" cy="203200"/>
          </a:xfrm>
          <a:prstGeom prst="rect">
            <a:avLst/>
          </a:prstGeom>
        </p:spPr>
      </p:pic>
      <p:sp>
        <p:nvSpPr>
          <p:cNvPr id="61" name="AutoShape 13">
            <a:extLst>
              <a:ext uri="{FF2B5EF4-FFF2-40B4-BE49-F238E27FC236}">
                <a16:creationId xmlns:a16="http://schemas.microsoft.com/office/drawing/2014/main" id="{C11C4238-02EC-1FA6-5CCD-739522574805}"/>
              </a:ext>
            </a:extLst>
          </p:cNvPr>
          <p:cNvSpPr/>
          <p:nvPr/>
        </p:nvSpPr>
        <p:spPr>
          <a:xfrm>
            <a:off x="965200" y="34196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结算报告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sp>
        <p:nvSpPr>
          <p:cNvPr id="62" name="AutoShape 11">
            <a:extLst>
              <a:ext uri="{FF2B5EF4-FFF2-40B4-BE49-F238E27FC236}">
                <a16:creationId xmlns:a16="http://schemas.microsoft.com/office/drawing/2014/main" id="{5A155573-F927-7F74-F33D-617C4DD718B7}"/>
              </a:ext>
            </a:extLst>
          </p:cNvPr>
          <p:cNvSpPr/>
          <p:nvPr/>
        </p:nvSpPr>
        <p:spPr>
          <a:xfrm>
            <a:off x="655833" y="4366158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理性报价结果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sp>
        <p:nvSpPr>
          <p:cNvPr id="63" name="AutoShape 11">
            <a:extLst>
              <a:ext uri="{FF2B5EF4-FFF2-40B4-BE49-F238E27FC236}">
                <a16:creationId xmlns:a16="http://schemas.microsoft.com/office/drawing/2014/main" id="{7C4F616A-F994-B387-996D-147374CD2ACF}"/>
              </a:ext>
            </a:extLst>
          </p:cNvPr>
          <p:cNvSpPr/>
          <p:nvPr/>
        </p:nvSpPr>
        <p:spPr>
          <a:xfrm>
            <a:off x="655833" y="4728624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报价结果对比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sp>
        <p:nvSpPr>
          <p:cNvPr id="64" name="AutoShape 5">
            <a:extLst>
              <a:ext uri="{FF2B5EF4-FFF2-40B4-BE49-F238E27FC236}">
                <a16:creationId xmlns:a16="http://schemas.microsoft.com/office/drawing/2014/main" id="{1A18C371-F0E3-C3EE-B1C8-C83639F6CC47}"/>
              </a:ext>
            </a:extLst>
          </p:cNvPr>
          <p:cNvSpPr/>
          <p:nvPr/>
        </p:nvSpPr>
        <p:spPr>
          <a:xfrm>
            <a:off x="508000" y="3836094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" name="AutoShape 13">
            <a:extLst>
              <a:ext uri="{FF2B5EF4-FFF2-40B4-BE49-F238E27FC236}">
                <a16:creationId xmlns:a16="http://schemas.microsoft.com/office/drawing/2014/main" id="{7211E7FA-1C68-627A-C619-F40CBEF8DACD}"/>
              </a:ext>
            </a:extLst>
          </p:cNvPr>
          <p:cNvSpPr/>
          <p:nvPr/>
        </p:nvSpPr>
        <p:spPr>
          <a:xfrm>
            <a:off x="655833" y="3921467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自主报价结果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sp>
        <p:nvSpPr>
          <p:cNvPr id="66" name="AutoShape 13">
            <a:extLst>
              <a:ext uri="{FF2B5EF4-FFF2-40B4-BE49-F238E27FC236}">
                <a16:creationId xmlns:a16="http://schemas.microsoft.com/office/drawing/2014/main" id="{580187A8-26B7-2B4B-0E82-132F22F43165}"/>
              </a:ext>
            </a:extLst>
          </p:cNvPr>
          <p:cNvSpPr/>
          <p:nvPr/>
        </p:nvSpPr>
        <p:spPr>
          <a:xfrm>
            <a:off x="965200" y="1856091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成交历史</a:t>
            </a:r>
            <a:endParaRPr lang="en-US" sz="1100" dirty="0"/>
          </a:p>
        </p:txBody>
      </p:sp>
      <p:pic>
        <p:nvPicPr>
          <p:cNvPr id="67" name="Picture 14">
            <a:extLst>
              <a:ext uri="{FF2B5EF4-FFF2-40B4-BE49-F238E27FC236}">
                <a16:creationId xmlns:a16="http://schemas.microsoft.com/office/drawing/2014/main" id="{FF65D7E3-7597-2752-A3C1-31B18E7FEBD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" y="1906891"/>
            <a:ext cx="2032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5162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68B8B-09EF-AE9A-35D2-C557B56B3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930AFFE-F9BF-CD0E-EB0F-17F102EB2833}"/>
              </a:ext>
            </a:extLst>
          </p:cNvPr>
          <p:cNvSpPr/>
          <p:nvPr/>
        </p:nvSpPr>
        <p:spPr>
          <a:xfrm>
            <a:off x="508000" y="203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电力市场</a:t>
            </a:r>
            <a:r>
              <a:rPr lang="en-US" sz="1800" b="1" i="0" u="none" strike="noStrike" dirty="0" err="1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lang="en-US" sz="1100" dirty="0"/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D71B5B22-69BF-CBED-C1AF-D5459EEE47F4}"/>
              </a:ext>
            </a:extLst>
          </p:cNvPr>
          <p:cNvCxnSpPr/>
          <p:nvPr/>
        </p:nvCxnSpPr>
        <p:spPr>
          <a:xfrm rot="-3906">
            <a:off x="508004" y="704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96827611-94D4-467E-35F7-99EEA2E59132}"/>
              </a:ext>
            </a:extLst>
          </p:cNvPr>
          <p:cNvSpPr/>
          <p:nvPr/>
        </p:nvSpPr>
        <p:spPr>
          <a:xfrm>
            <a:off x="508000" y="914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lang="en-US" sz="1100" dirty="0"/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87905AFB-A81C-CCF2-3758-4B775C32E071}"/>
              </a:ext>
            </a:extLst>
          </p:cNvPr>
          <p:cNvCxnSpPr>
            <a:cxnSpLocks/>
          </p:cNvCxnSpPr>
          <p:nvPr/>
        </p:nvCxnSpPr>
        <p:spPr>
          <a:xfrm>
            <a:off x="1990706" y="942109"/>
            <a:ext cx="20461" cy="796287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>
            <a:extLst>
              <a:ext uri="{FF2B5EF4-FFF2-40B4-BE49-F238E27FC236}">
                <a16:creationId xmlns:a16="http://schemas.microsoft.com/office/drawing/2014/main" id="{DEA2E8B9-070D-A603-1647-DB5D9B95555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AD59FC96-7FF2-06D0-F604-AAC96A62C85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7CAF7F6F-84C6-DAD6-F8C5-C9F6998B699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5D78220B-A818-919C-624F-746658C0116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4E21542F-EC03-DE7D-4A3D-B43B50CA71F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4EE8A993-BB55-7D6B-1312-50709B7A54F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2CCA0756-4843-1346-8117-041AB1445D4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E380510E-2690-C2FC-081E-B3448D5660E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6487262F-40FC-1FE1-8312-37CA2F27755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7A4719AD-D0A2-69CF-1D52-28D792641BBF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98E1DD85-BBFC-9048-88F7-E094050BD6B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972FAB9B-8A29-6164-9F02-EDEE6D5D547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B8A09861-DFDF-0731-B957-B87CF3B7016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C85132F5-F7B0-7BD1-8C3F-D5B484B348E1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5AC0CB22-D327-F5EE-E82F-D61F275EA5C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494AC9D4-B88E-57F2-0360-A2C10089B102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17276A7-7CEA-4E9C-AC67-C7ACF51C4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761452"/>
              </p:ext>
            </p:extLst>
          </p:nvPr>
        </p:nvGraphicFramePr>
        <p:xfrm>
          <a:off x="2346306" y="1865746"/>
          <a:ext cx="3581400" cy="2651760"/>
        </p:xfrm>
        <a:graphic>
          <a:graphicData uri="http://schemas.openxmlformats.org/drawingml/2006/table">
            <a:tbl>
              <a:tblPr/>
              <a:tblGrid>
                <a:gridCol w="2044700">
                  <a:extLst>
                    <a:ext uri="{9D8B030D-6E8A-4147-A177-3AD203B41FA5}">
                      <a16:colId xmlns:a16="http://schemas.microsoft.com/office/drawing/2014/main" val="2728377884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1527362949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总成交容量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(100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390.85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094888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总交易额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万元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14.42814664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408222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成交均价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元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MWh)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14.76591699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96338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发电公司数量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75394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申报机组数目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285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成交机组数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182934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总容量供应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(100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586.275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233799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总容量需求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(100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390.85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34462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供需比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85488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申报均价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元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MWh)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10.05480769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08579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最高容量价格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元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MWh)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15.27600111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41233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最低容量价格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元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MWh)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14.27556691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4374314"/>
                  </a:ext>
                </a:extLst>
              </a:tr>
            </a:tbl>
          </a:graphicData>
        </a:graphic>
      </p:graphicFrame>
      <p:sp>
        <p:nvSpPr>
          <p:cNvPr id="11" name="AutoShape 5">
            <a:extLst>
              <a:ext uri="{FF2B5EF4-FFF2-40B4-BE49-F238E27FC236}">
                <a16:creationId xmlns:a16="http://schemas.microsoft.com/office/drawing/2014/main" id="{9A1B2420-5092-7549-71EF-978B212C2E89}"/>
              </a:ext>
            </a:extLst>
          </p:cNvPr>
          <p:cNvSpPr/>
          <p:nvPr/>
        </p:nvSpPr>
        <p:spPr>
          <a:xfrm>
            <a:off x="2233571" y="808770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3">
            <a:extLst>
              <a:ext uri="{FF2B5EF4-FFF2-40B4-BE49-F238E27FC236}">
                <a16:creationId xmlns:a16="http://schemas.microsoft.com/office/drawing/2014/main" id="{F61CB667-6DD0-92DE-DA99-F65BCB9D325B}"/>
              </a:ext>
            </a:extLst>
          </p:cNvPr>
          <p:cNvSpPr/>
          <p:nvPr/>
        </p:nvSpPr>
        <p:spPr>
          <a:xfrm>
            <a:off x="2381404" y="89414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市场总览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sp>
        <p:nvSpPr>
          <p:cNvPr id="14" name="AutoShape 11">
            <a:extLst>
              <a:ext uri="{FF2B5EF4-FFF2-40B4-BE49-F238E27FC236}">
                <a16:creationId xmlns:a16="http://schemas.microsoft.com/office/drawing/2014/main" id="{634DB8A3-A61D-62E7-B942-59E688B14D30}"/>
              </a:ext>
            </a:extLst>
          </p:cNvPr>
          <p:cNvSpPr/>
          <p:nvPr/>
        </p:nvSpPr>
        <p:spPr>
          <a:xfrm>
            <a:off x="3736084" y="88497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详情分析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pic>
        <p:nvPicPr>
          <p:cNvPr id="15" name="Picture 6">
            <a:extLst>
              <a:ext uri="{FF2B5EF4-FFF2-40B4-BE49-F238E27FC236}">
                <a16:creationId xmlns:a16="http://schemas.microsoft.com/office/drawing/2014/main" id="{17B27028-6294-637D-0340-D9AD2DF2F6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" y="2429016"/>
            <a:ext cx="203200" cy="203200"/>
          </a:xfrm>
          <a:prstGeom prst="rect">
            <a:avLst/>
          </a:prstGeom>
        </p:spPr>
      </p:pic>
      <p:sp>
        <p:nvSpPr>
          <p:cNvPr id="17" name="AutoShape 7">
            <a:extLst>
              <a:ext uri="{FF2B5EF4-FFF2-40B4-BE49-F238E27FC236}">
                <a16:creationId xmlns:a16="http://schemas.microsoft.com/office/drawing/2014/main" id="{86007FFC-3362-79E7-39F4-C5814F9DAF03}"/>
              </a:ext>
            </a:extLst>
          </p:cNvPr>
          <p:cNvSpPr/>
          <p:nvPr/>
        </p:nvSpPr>
        <p:spPr>
          <a:xfrm>
            <a:off x="965200" y="23782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信息披露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pic>
        <p:nvPicPr>
          <p:cNvPr id="29" name="Picture 8">
            <a:extLst>
              <a:ext uri="{FF2B5EF4-FFF2-40B4-BE49-F238E27FC236}">
                <a16:creationId xmlns:a16="http://schemas.microsoft.com/office/drawing/2014/main" id="{095317AD-A366-A106-79F0-50DD4FDD86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1440873"/>
            <a:ext cx="203200" cy="203200"/>
          </a:xfrm>
          <a:prstGeom prst="rect">
            <a:avLst/>
          </a:prstGeom>
        </p:spPr>
      </p:pic>
      <p:sp>
        <p:nvSpPr>
          <p:cNvPr id="30" name="AutoShape 9">
            <a:extLst>
              <a:ext uri="{FF2B5EF4-FFF2-40B4-BE49-F238E27FC236}">
                <a16:creationId xmlns:a16="http://schemas.microsoft.com/office/drawing/2014/main" id="{BED85C26-3A0C-4B16-C28A-ECEE376DDEA5}"/>
              </a:ext>
            </a:extLst>
          </p:cNvPr>
          <p:cNvSpPr/>
          <p:nvPr/>
        </p:nvSpPr>
        <p:spPr>
          <a:xfrm>
            <a:off x="965200" y="13900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企业信息</a:t>
            </a:r>
            <a:endParaRPr lang="en-US" sz="1100" dirty="0"/>
          </a:p>
        </p:txBody>
      </p:sp>
      <p:sp>
        <p:nvSpPr>
          <p:cNvPr id="31" name="AutoShape 5">
            <a:extLst>
              <a:ext uri="{FF2B5EF4-FFF2-40B4-BE49-F238E27FC236}">
                <a16:creationId xmlns:a16="http://schemas.microsoft.com/office/drawing/2014/main" id="{C877BCA3-E05F-2C0A-6630-4998878B1E92}"/>
              </a:ext>
            </a:extLst>
          </p:cNvPr>
          <p:cNvSpPr/>
          <p:nvPr/>
        </p:nvSpPr>
        <p:spPr>
          <a:xfrm>
            <a:off x="508000" y="3343416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2" name="Picture 10">
            <a:extLst>
              <a:ext uri="{FF2B5EF4-FFF2-40B4-BE49-F238E27FC236}">
                <a16:creationId xmlns:a16="http://schemas.microsoft.com/office/drawing/2014/main" id="{26D5A813-80BC-DE97-39F6-A0109C41BE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" y="2962416"/>
            <a:ext cx="203200" cy="203200"/>
          </a:xfrm>
          <a:prstGeom prst="rect">
            <a:avLst/>
          </a:prstGeom>
        </p:spPr>
      </p:pic>
      <p:sp>
        <p:nvSpPr>
          <p:cNvPr id="33" name="AutoShape 11">
            <a:extLst>
              <a:ext uri="{FF2B5EF4-FFF2-40B4-BE49-F238E27FC236}">
                <a16:creationId xmlns:a16="http://schemas.microsoft.com/office/drawing/2014/main" id="{272DA36C-ABA8-69C0-5FA5-89EDC8A52761}"/>
              </a:ext>
            </a:extLst>
          </p:cNvPr>
          <p:cNvSpPr/>
          <p:nvPr/>
        </p:nvSpPr>
        <p:spPr>
          <a:xfrm>
            <a:off x="965200" y="29116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市场交易</a:t>
            </a:r>
            <a:endParaRPr lang="en-US" sz="1100" dirty="0"/>
          </a:p>
        </p:txBody>
      </p:sp>
      <p:pic>
        <p:nvPicPr>
          <p:cNvPr id="36" name="Picture 12">
            <a:extLst>
              <a:ext uri="{FF2B5EF4-FFF2-40B4-BE49-F238E27FC236}">
                <a16:creationId xmlns:a16="http://schemas.microsoft.com/office/drawing/2014/main" id="{1B689A8E-EA70-735C-4F57-F40E3D59F09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" y="3470416"/>
            <a:ext cx="203200" cy="203200"/>
          </a:xfrm>
          <a:prstGeom prst="rect">
            <a:avLst/>
          </a:prstGeom>
        </p:spPr>
      </p:pic>
      <p:sp>
        <p:nvSpPr>
          <p:cNvPr id="47" name="AutoShape 13">
            <a:extLst>
              <a:ext uri="{FF2B5EF4-FFF2-40B4-BE49-F238E27FC236}">
                <a16:creationId xmlns:a16="http://schemas.microsoft.com/office/drawing/2014/main" id="{6EC7683B-4276-FF61-1A49-6056B8604434}"/>
              </a:ext>
            </a:extLst>
          </p:cNvPr>
          <p:cNvSpPr/>
          <p:nvPr/>
        </p:nvSpPr>
        <p:spPr>
          <a:xfrm>
            <a:off x="965200" y="34196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结算报告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sp>
        <p:nvSpPr>
          <p:cNvPr id="48" name="AutoShape 11">
            <a:extLst>
              <a:ext uri="{FF2B5EF4-FFF2-40B4-BE49-F238E27FC236}">
                <a16:creationId xmlns:a16="http://schemas.microsoft.com/office/drawing/2014/main" id="{E9046026-67CC-A570-D987-EB04652119E2}"/>
              </a:ext>
            </a:extLst>
          </p:cNvPr>
          <p:cNvSpPr/>
          <p:nvPr/>
        </p:nvSpPr>
        <p:spPr>
          <a:xfrm>
            <a:off x="655833" y="4366158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理性报价结果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sp>
        <p:nvSpPr>
          <p:cNvPr id="49" name="AutoShape 11">
            <a:extLst>
              <a:ext uri="{FF2B5EF4-FFF2-40B4-BE49-F238E27FC236}">
                <a16:creationId xmlns:a16="http://schemas.microsoft.com/office/drawing/2014/main" id="{EF746F0E-C2F9-43B1-87B1-CF7F6ACBB47D}"/>
              </a:ext>
            </a:extLst>
          </p:cNvPr>
          <p:cNvSpPr/>
          <p:nvPr/>
        </p:nvSpPr>
        <p:spPr>
          <a:xfrm>
            <a:off x="655833" y="4728624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报价结果对比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C2F17E8C-D43E-427E-A73C-D261976DDD68}"/>
              </a:ext>
            </a:extLst>
          </p:cNvPr>
          <p:cNvSpPr/>
          <p:nvPr/>
        </p:nvSpPr>
        <p:spPr>
          <a:xfrm>
            <a:off x="508000" y="3836094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AutoShape 13">
            <a:extLst>
              <a:ext uri="{FF2B5EF4-FFF2-40B4-BE49-F238E27FC236}">
                <a16:creationId xmlns:a16="http://schemas.microsoft.com/office/drawing/2014/main" id="{D4FD817D-054B-FCF5-9361-442FAA6687EB}"/>
              </a:ext>
            </a:extLst>
          </p:cNvPr>
          <p:cNvSpPr/>
          <p:nvPr/>
        </p:nvSpPr>
        <p:spPr>
          <a:xfrm>
            <a:off x="655833" y="3921467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自主报价结果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sp>
        <p:nvSpPr>
          <p:cNvPr id="52" name="AutoShape 13">
            <a:extLst>
              <a:ext uri="{FF2B5EF4-FFF2-40B4-BE49-F238E27FC236}">
                <a16:creationId xmlns:a16="http://schemas.microsoft.com/office/drawing/2014/main" id="{654E7DF8-9515-6E7F-6FB8-06806A08527C}"/>
              </a:ext>
            </a:extLst>
          </p:cNvPr>
          <p:cNvSpPr/>
          <p:nvPr/>
        </p:nvSpPr>
        <p:spPr>
          <a:xfrm>
            <a:off x="965200" y="1856091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成交历史</a:t>
            </a:r>
            <a:endParaRPr lang="en-US" sz="1100" dirty="0"/>
          </a:p>
        </p:txBody>
      </p:sp>
      <p:pic>
        <p:nvPicPr>
          <p:cNvPr id="53" name="Picture 14">
            <a:extLst>
              <a:ext uri="{FF2B5EF4-FFF2-40B4-BE49-F238E27FC236}">
                <a16:creationId xmlns:a16="http://schemas.microsoft.com/office/drawing/2014/main" id="{0D5525B6-9B76-55C3-D04D-C19DA1B5550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" y="1906891"/>
            <a:ext cx="203200" cy="203200"/>
          </a:xfrm>
          <a:prstGeom prst="rect">
            <a:avLst/>
          </a:prstGeom>
        </p:spPr>
      </p:pic>
      <p:sp>
        <p:nvSpPr>
          <p:cNvPr id="5" name="AutoShape 5">
            <a:extLst>
              <a:ext uri="{FF2B5EF4-FFF2-40B4-BE49-F238E27FC236}">
                <a16:creationId xmlns:a16="http://schemas.microsoft.com/office/drawing/2014/main" id="{2C3156EF-8205-6BCC-4B0E-5D4E09E1F4FB}"/>
              </a:ext>
            </a:extLst>
          </p:cNvPr>
          <p:cNvSpPr/>
          <p:nvPr/>
        </p:nvSpPr>
        <p:spPr>
          <a:xfrm>
            <a:off x="2198473" y="1298785"/>
            <a:ext cx="6097430" cy="2759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辅助服务市场结果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961649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B80FB-1F29-5F4A-4B1C-FABAEDC15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8511518-8E64-0452-C0A7-AF7F2FF306BA}"/>
              </a:ext>
            </a:extLst>
          </p:cNvPr>
          <p:cNvSpPr/>
          <p:nvPr/>
        </p:nvSpPr>
        <p:spPr>
          <a:xfrm>
            <a:off x="508000" y="203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电力市场</a:t>
            </a:r>
            <a:r>
              <a:rPr lang="en-US" sz="1800" b="1" i="0" u="none" strike="noStrike" dirty="0" err="1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lang="en-US" sz="1100" dirty="0"/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91A45A62-2098-08A0-9E69-9ADDCB39FC59}"/>
              </a:ext>
            </a:extLst>
          </p:cNvPr>
          <p:cNvCxnSpPr/>
          <p:nvPr/>
        </p:nvCxnSpPr>
        <p:spPr>
          <a:xfrm rot="-3906">
            <a:off x="508004" y="704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F7EDE0AF-4D1B-9ABD-016D-00454D3B1060}"/>
              </a:ext>
            </a:extLst>
          </p:cNvPr>
          <p:cNvSpPr/>
          <p:nvPr/>
        </p:nvSpPr>
        <p:spPr>
          <a:xfrm>
            <a:off x="508000" y="914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lang="en-US" sz="1100" dirty="0"/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7C769F27-6562-AEDA-74F4-47EFB946F16B}"/>
              </a:ext>
            </a:extLst>
          </p:cNvPr>
          <p:cNvCxnSpPr>
            <a:cxnSpLocks/>
          </p:cNvCxnSpPr>
          <p:nvPr/>
        </p:nvCxnSpPr>
        <p:spPr>
          <a:xfrm>
            <a:off x="1990706" y="942109"/>
            <a:ext cx="20461" cy="796287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>
            <a:extLst>
              <a:ext uri="{FF2B5EF4-FFF2-40B4-BE49-F238E27FC236}">
                <a16:creationId xmlns:a16="http://schemas.microsoft.com/office/drawing/2014/main" id="{C09D574E-12F3-5120-ED42-F2059C0A8E6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E1AE0382-796D-8327-8930-7D9C09BE1DE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0D8DDC0E-D86D-F96B-FA57-47DA020A391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8534EDB2-C5A5-F086-CCE5-95599BE6968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2C7C5B1D-B004-A02D-698C-CE83D04C7A11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D11A8F5B-5318-BB90-F997-80468B1D86B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1148726C-9413-F18C-8654-C1FB0721553A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5512C5F2-02B2-ABCA-7F6F-073CA006E60F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165FF85C-3A84-C042-762B-E8817033047F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F5526A9C-B6D1-8EB2-31FD-225577969C4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A035E040-D7F3-79A3-DFB8-816561281F5B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6F2D1D79-91E2-AFFE-7BF5-37118DEDB2C4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56A84326-5E8C-07DE-E5C7-D1DD27E9178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83B29744-D427-DFAE-DA20-4B5BD9A0C15D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99855C2A-B4E3-1EAD-5F1C-8E8562E7ADD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1B19788E-7AC7-CAE5-2A44-553CED4B3A9A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98E3EFEA-E9F7-64AE-A4AF-78DE980F7E62}"/>
              </a:ext>
            </a:extLst>
          </p:cNvPr>
          <p:cNvGrpSpPr/>
          <p:nvPr/>
        </p:nvGrpSpPr>
        <p:grpSpPr>
          <a:xfrm>
            <a:off x="2535433" y="1825502"/>
            <a:ext cx="7432420" cy="2292595"/>
            <a:chOff x="2039248" y="1447800"/>
            <a:chExt cx="9644751" cy="2292595"/>
          </a:xfrm>
        </p:grpSpPr>
        <p:sp>
          <p:nvSpPr>
            <p:cNvPr id="11" name="AutoShape 7">
              <a:extLst>
                <a:ext uri="{FF2B5EF4-FFF2-40B4-BE49-F238E27FC236}">
                  <a16:creationId xmlns:a16="http://schemas.microsoft.com/office/drawing/2014/main" id="{E400AD1A-35D9-7E77-362E-A15909303232}"/>
                </a:ext>
              </a:extLst>
            </p:cNvPr>
            <p:cNvSpPr/>
            <p:nvPr/>
          </p:nvSpPr>
          <p:spPr>
            <a:xfrm>
              <a:off x="2039248" y="1447800"/>
              <a:ext cx="9644751" cy="2292595"/>
            </a:xfrm>
            <a:prstGeom prst="roundRect">
              <a:avLst>
                <a:gd name="adj" fmla="val 4444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E5E6EB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2" name="AutoShape 8">
              <a:extLst>
                <a:ext uri="{FF2B5EF4-FFF2-40B4-BE49-F238E27FC236}">
                  <a16:creationId xmlns:a16="http://schemas.microsoft.com/office/drawing/2014/main" id="{3274942B-25F6-AED0-E78C-557837B0EA80}"/>
                </a:ext>
              </a:extLst>
            </p:cNvPr>
            <p:cNvSpPr/>
            <p:nvPr/>
          </p:nvSpPr>
          <p:spPr>
            <a:xfrm>
              <a:off x="2502484" y="1612022"/>
              <a:ext cx="2672096" cy="267578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600" b="1" i="0" u="none" strike="noStrike" dirty="0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辅助服务市场出清电价</a:t>
              </a:r>
              <a:endParaRPr lang="en-US" sz="1100" dirty="0"/>
            </a:p>
          </p:txBody>
        </p:sp>
        <p:sp>
          <p:nvSpPr>
            <p:cNvPr id="30" name="AutoShape 16">
              <a:extLst>
                <a:ext uri="{FF2B5EF4-FFF2-40B4-BE49-F238E27FC236}">
                  <a16:creationId xmlns:a16="http://schemas.microsoft.com/office/drawing/2014/main" id="{2EEDC556-3ED0-4113-2244-26CC78A717A8}"/>
                </a:ext>
              </a:extLst>
            </p:cNvPr>
            <p:cNvSpPr/>
            <p:nvPr/>
          </p:nvSpPr>
          <p:spPr>
            <a:xfrm>
              <a:off x="2395698" y="2050909"/>
              <a:ext cx="1266718" cy="176818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100" b="0" i="0" u="none" strike="noStrike" dirty="0" err="1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电价</a:t>
              </a:r>
              <a:r>
                <a:rPr lang="en-US" sz="1100" b="0" i="0" u="none" strike="noStrike" dirty="0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(元/kWh)</a:t>
              </a:r>
              <a:endParaRPr lang="en-US" sz="1100" dirty="0"/>
            </a:p>
          </p:txBody>
        </p:sp>
        <p:cxnSp>
          <p:nvCxnSpPr>
            <p:cNvPr id="31" name="Connector 17">
              <a:extLst>
                <a:ext uri="{FF2B5EF4-FFF2-40B4-BE49-F238E27FC236}">
                  <a16:creationId xmlns:a16="http://schemas.microsoft.com/office/drawing/2014/main" id="{4A716DD1-56C7-DEA0-B87E-AEA8E7423B0B}"/>
                </a:ext>
              </a:extLst>
            </p:cNvPr>
            <p:cNvCxnSpPr>
              <a:cxnSpLocks/>
            </p:cNvCxnSpPr>
            <p:nvPr/>
          </p:nvCxnSpPr>
          <p:spPr>
            <a:xfrm>
              <a:off x="2501035" y="3426235"/>
              <a:ext cx="8971862" cy="41888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CCCC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3" name="AutoShape 19">
              <a:extLst>
                <a:ext uri="{FF2B5EF4-FFF2-40B4-BE49-F238E27FC236}">
                  <a16:creationId xmlns:a16="http://schemas.microsoft.com/office/drawing/2014/main" id="{37F3030C-1C1F-3FC9-926C-7AC7326E8BDF}"/>
                </a:ext>
              </a:extLst>
            </p:cNvPr>
            <p:cNvSpPr/>
            <p:nvPr/>
          </p:nvSpPr>
          <p:spPr>
            <a:xfrm>
              <a:off x="2712138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dirty="0">
                  <a:solidFill>
                    <a:srgbClr val="8C8C8C"/>
                  </a:solidFill>
                  <a:latin typeface="Noto Sans SC"/>
                  <a:ea typeface="Noto Sans SC"/>
                  <a:sym typeface="Noto Sans SC"/>
                </a:rPr>
                <a:t>第一天</a:t>
              </a:r>
              <a:endParaRPr lang="en-US" sz="1100" dirty="0"/>
            </a:p>
          </p:txBody>
        </p:sp>
        <p:sp>
          <p:nvSpPr>
            <p:cNvPr id="36" name="AutoShape 20">
              <a:extLst>
                <a:ext uri="{FF2B5EF4-FFF2-40B4-BE49-F238E27FC236}">
                  <a16:creationId xmlns:a16="http://schemas.microsoft.com/office/drawing/2014/main" id="{63CC2B11-53AC-C74A-DFC3-6549F65AE791}"/>
                </a:ext>
              </a:extLst>
            </p:cNvPr>
            <p:cNvSpPr/>
            <p:nvPr/>
          </p:nvSpPr>
          <p:spPr>
            <a:xfrm>
              <a:off x="4084305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第二天</a:t>
              </a:r>
              <a:endParaRPr lang="en-US" sz="1100" dirty="0"/>
            </a:p>
          </p:txBody>
        </p:sp>
        <p:sp>
          <p:nvSpPr>
            <p:cNvPr id="48" name="AutoShape 21">
              <a:extLst>
                <a:ext uri="{FF2B5EF4-FFF2-40B4-BE49-F238E27FC236}">
                  <a16:creationId xmlns:a16="http://schemas.microsoft.com/office/drawing/2014/main" id="{FA987433-F339-9D0C-65C0-FCE795D4D622}"/>
                </a:ext>
              </a:extLst>
            </p:cNvPr>
            <p:cNvSpPr/>
            <p:nvPr/>
          </p:nvSpPr>
          <p:spPr>
            <a:xfrm>
              <a:off x="5456472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第三天</a:t>
              </a:r>
              <a:endParaRPr lang="en-US" sz="1100" dirty="0"/>
            </a:p>
          </p:txBody>
        </p:sp>
        <p:sp>
          <p:nvSpPr>
            <p:cNvPr id="49" name="AutoShape 22">
              <a:extLst>
                <a:ext uri="{FF2B5EF4-FFF2-40B4-BE49-F238E27FC236}">
                  <a16:creationId xmlns:a16="http://schemas.microsoft.com/office/drawing/2014/main" id="{5672F97C-DC00-9E5C-A11E-D87E364FE59B}"/>
                </a:ext>
              </a:extLst>
            </p:cNvPr>
            <p:cNvSpPr/>
            <p:nvPr/>
          </p:nvSpPr>
          <p:spPr>
            <a:xfrm>
              <a:off x="6828639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第四天</a:t>
              </a:r>
              <a:endParaRPr lang="en-US" sz="1100" dirty="0"/>
            </a:p>
          </p:txBody>
        </p:sp>
        <p:sp>
          <p:nvSpPr>
            <p:cNvPr id="50" name="AutoShape 23">
              <a:extLst>
                <a:ext uri="{FF2B5EF4-FFF2-40B4-BE49-F238E27FC236}">
                  <a16:creationId xmlns:a16="http://schemas.microsoft.com/office/drawing/2014/main" id="{B3C431F2-4001-0AB6-73C9-4D3E894927EA}"/>
                </a:ext>
              </a:extLst>
            </p:cNvPr>
            <p:cNvSpPr/>
            <p:nvPr/>
          </p:nvSpPr>
          <p:spPr>
            <a:xfrm>
              <a:off x="8200806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第五天</a:t>
              </a:r>
              <a:endParaRPr lang="en-US" sz="1100" dirty="0"/>
            </a:p>
          </p:txBody>
        </p:sp>
        <p:sp>
          <p:nvSpPr>
            <p:cNvPr id="51" name="AutoShape 24">
              <a:extLst>
                <a:ext uri="{FF2B5EF4-FFF2-40B4-BE49-F238E27FC236}">
                  <a16:creationId xmlns:a16="http://schemas.microsoft.com/office/drawing/2014/main" id="{C6A507E8-1F0C-7E79-D598-B53BB999CDB8}"/>
                </a:ext>
              </a:extLst>
            </p:cNvPr>
            <p:cNvSpPr/>
            <p:nvPr/>
          </p:nvSpPr>
          <p:spPr>
            <a:xfrm>
              <a:off x="9572974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第六天</a:t>
              </a:r>
              <a:endParaRPr lang="en-US" sz="1100" dirty="0"/>
            </a:p>
          </p:txBody>
        </p:sp>
        <p:sp>
          <p:nvSpPr>
            <p:cNvPr id="52" name="AutoShape 25">
              <a:extLst>
                <a:ext uri="{FF2B5EF4-FFF2-40B4-BE49-F238E27FC236}">
                  <a16:creationId xmlns:a16="http://schemas.microsoft.com/office/drawing/2014/main" id="{3F540CC8-3B1A-7B6B-66AB-DB1084E241F7}"/>
                </a:ext>
              </a:extLst>
            </p:cNvPr>
            <p:cNvSpPr/>
            <p:nvPr/>
          </p:nvSpPr>
          <p:spPr>
            <a:xfrm>
              <a:off x="10945141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000" b="0" i="0" u="none" strike="noStrike" dirty="0">
                  <a:solidFill>
                    <a:srgbClr val="8C8C8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第七天</a:t>
              </a:r>
              <a:endParaRPr lang="en-US" sz="1100" dirty="0"/>
            </a:p>
          </p:txBody>
        </p:sp>
        <p:cxnSp>
          <p:nvCxnSpPr>
            <p:cNvPr id="53" name="Connector 26">
              <a:extLst>
                <a:ext uri="{FF2B5EF4-FFF2-40B4-BE49-F238E27FC236}">
                  <a16:creationId xmlns:a16="http://schemas.microsoft.com/office/drawing/2014/main" id="{DE66D243-1A0E-E65A-5673-A077F70A0F4C}"/>
                </a:ext>
              </a:extLst>
            </p:cNvPr>
            <p:cNvCxnSpPr>
              <a:cxnSpLocks/>
            </p:cNvCxnSpPr>
            <p:nvPr/>
          </p:nvCxnSpPr>
          <p:spPr>
            <a:xfrm rot="20858847">
              <a:off x="2804124" y="2583232"/>
              <a:ext cx="1293811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4" name="Connector 27">
              <a:extLst>
                <a:ext uri="{FF2B5EF4-FFF2-40B4-BE49-F238E27FC236}">
                  <a16:creationId xmlns:a16="http://schemas.microsoft.com/office/drawing/2014/main" id="{BEB9BC5E-954F-9526-30CE-BFC2EDFBCB75}"/>
                </a:ext>
              </a:extLst>
            </p:cNvPr>
            <p:cNvCxnSpPr>
              <a:cxnSpLocks/>
            </p:cNvCxnSpPr>
            <p:nvPr/>
          </p:nvCxnSpPr>
          <p:spPr>
            <a:xfrm rot="296636">
              <a:off x="4081172" y="2530880"/>
              <a:ext cx="137849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5" name="Connector 28">
              <a:extLst>
                <a:ext uri="{FF2B5EF4-FFF2-40B4-BE49-F238E27FC236}">
                  <a16:creationId xmlns:a16="http://schemas.microsoft.com/office/drawing/2014/main" id="{824187FB-6B43-6C54-6431-E163E176D8B9}"/>
                </a:ext>
              </a:extLst>
            </p:cNvPr>
            <p:cNvCxnSpPr>
              <a:cxnSpLocks/>
            </p:cNvCxnSpPr>
            <p:nvPr/>
          </p:nvCxnSpPr>
          <p:spPr>
            <a:xfrm rot="20914409">
              <a:off x="5443932" y="2478512"/>
              <a:ext cx="1397309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6" name="Connector 29">
              <a:extLst>
                <a:ext uri="{FF2B5EF4-FFF2-40B4-BE49-F238E27FC236}">
                  <a16:creationId xmlns:a16="http://schemas.microsoft.com/office/drawing/2014/main" id="{8C2559DB-0231-9BEE-A12E-EE9E998C18D3}"/>
                </a:ext>
              </a:extLst>
            </p:cNvPr>
            <p:cNvCxnSpPr>
              <a:cxnSpLocks/>
            </p:cNvCxnSpPr>
            <p:nvPr/>
          </p:nvCxnSpPr>
          <p:spPr>
            <a:xfrm rot="459717">
              <a:off x="6821571" y="2452341"/>
              <a:ext cx="138636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7" name="Connector 30">
              <a:extLst>
                <a:ext uri="{FF2B5EF4-FFF2-40B4-BE49-F238E27FC236}">
                  <a16:creationId xmlns:a16="http://schemas.microsoft.com/office/drawing/2014/main" id="{926D8905-8F28-A4AE-B5D9-D4374CA155D7}"/>
                </a:ext>
              </a:extLst>
            </p:cNvPr>
            <p:cNvCxnSpPr>
              <a:cxnSpLocks/>
            </p:cNvCxnSpPr>
            <p:nvPr/>
          </p:nvCxnSpPr>
          <p:spPr>
            <a:xfrm rot="296636">
              <a:off x="8197673" y="2583240"/>
              <a:ext cx="137849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8" name="Connector 31">
              <a:extLst>
                <a:ext uri="{FF2B5EF4-FFF2-40B4-BE49-F238E27FC236}">
                  <a16:creationId xmlns:a16="http://schemas.microsoft.com/office/drawing/2014/main" id="{CE85F1A5-BFF5-F4FF-6AC7-C29ECF7D8F52}"/>
                </a:ext>
              </a:extLst>
            </p:cNvPr>
            <p:cNvCxnSpPr>
              <a:cxnSpLocks/>
            </p:cNvCxnSpPr>
            <p:nvPr/>
          </p:nvCxnSpPr>
          <p:spPr>
            <a:xfrm rot="21335983">
              <a:off x="9571453" y="2598944"/>
              <a:ext cx="1375271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69" name="Connector 18">
              <a:extLst>
                <a:ext uri="{FF2B5EF4-FFF2-40B4-BE49-F238E27FC236}">
                  <a16:creationId xmlns:a16="http://schemas.microsoft.com/office/drawing/2014/main" id="{26E5481C-AFC5-A165-AB2D-147F46E04751}"/>
                </a:ext>
              </a:extLst>
            </p:cNvPr>
            <p:cNvCxnSpPr>
              <a:cxnSpLocks/>
            </p:cNvCxnSpPr>
            <p:nvPr/>
          </p:nvCxnSpPr>
          <p:spPr>
            <a:xfrm rot="5365623">
              <a:off x="1991309" y="2893681"/>
              <a:ext cx="1047201" cy="13194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CCCC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0" name="AutoShape 44">
              <a:extLst>
                <a:ext uri="{FF2B5EF4-FFF2-40B4-BE49-F238E27FC236}">
                  <a16:creationId xmlns:a16="http://schemas.microsoft.com/office/drawing/2014/main" id="{30AEB28B-1320-DD31-666F-85E55911829D}"/>
                </a:ext>
              </a:extLst>
            </p:cNvPr>
            <p:cNvSpPr/>
            <p:nvPr/>
          </p:nvSpPr>
          <p:spPr>
            <a:xfrm>
              <a:off x="2053123" y="2324291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3</a:t>
              </a: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00</a:t>
              </a:r>
              <a:endParaRPr lang="en-US" sz="1100" dirty="0"/>
            </a:p>
          </p:txBody>
        </p:sp>
        <p:sp>
          <p:nvSpPr>
            <p:cNvPr id="71" name="AutoShape 45">
              <a:extLst>
                <a:ext uri="{FF2B5EF4-FFF2-40B4-BE49-F238E27FC236}">
                  <a16:creationId xmlns:a16="http://schemas.microsoft.com/office/drawing/2014/main" id="{8EFF395B-82BD-7D54-E483-E786D6DB87CE}"/>
                </a:ext>
              </a:extLst>
            </p:cNvPr>
            <p:cNvSpPr/>
            <p:nvPr/>
          </p:nvSpPr>
          <p:spPr>
            <a:xfrm>
              <a:off x="2053123" y="2669868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2</a:t>
              </a: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00</a:t>
              </a:r>
              <a:endParaRPr lang="en-US" sz="1100" dirty="0"/>
            </a:p>
          </p:txBody>
        </p:sp>
        <p:sp>
          <p:nvSpPr>
            <p:cNvPr id="72" name="AutoShape 46">
              <a:extLst>
                <a:ext uri="{FF2B5EF4-FFF2-40B4-BE49-F238E27FC236}">
                  <a16:creationId xmlns:a16="http://schemas.microsoft.com/office/drawing/2014/main" id="{0CF4ADD1-60A8-D877-2E94-A7600B6149B3}"/>
                </a:ext>
              </a:extLst>
            </p:cNvPr>
            <p:cNvSpPr/>
            <p:nvPr/>
          </p:nvSpPr>
          <p:spPr>
            <a:xfrm>
              <a:off x="2053123" y="3015444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1</a:t>
              </a: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00</a:t>
              </a:r>
              <a:endParaRPr lang="en-US" sz="1100" dirty="0"/>
            </a:p>
          </p:txBody>
        </p:sp>
        <p:sp>
          <p:nvSpPr>
            <p:cNvPr id="73" name="AutoShape 47">
              <a:extLst>
                <a:ext uri="{FF2B5EF4-FFF2-40B4-BE49-F238E27FC236}">
                  <a16:creationId xmlns:a16="http://schemas.microsoft.com/office/drawing/2014/main" id="{48D3610F-140A-2F97-C5B0-0332C190788A}"/>
                </a:ext>
              </a:extLst>
            </p:cNvPr>
            <p:cNvSpPr/>
            <p:nvPr/>
          </p:nvSpPr>
          <p:spPr>
            <a:xfrm>
              <a:off x="2053123" y="3361021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r">
                <a:lnSpc>
                  <a:spcPct val="125000"/>
                </a:lnSpc>
                <a:defRPr/>
              </a:pPr>
              <a:r>
                <a:rPr lang="en-US" sz="1000" b="0" i="0" u="none" strike="noStrike" dirty="0">
                  <a:solidFill>
                    <a:srgbClr val="AAAAA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</a:t>
              </a:r>
              <a:endParaRPr lang="en-US" sz="1100" dirty="0"/>
            </a:p>
          </p:txBody>
        </p:sp>
      </p:grpSp>
      <p:sp>
        <p:nvSpPr>
          <p:cNvPr id="14" name="AutoShape 5">
            <a:extLst>
              <a:ext uri="{FF2B5EF4-FFF2-40B4-BE49-F238E27FC236}">
                <a16:creationId xmlns:a16="http://schemas.microsoft.com/office/drawing/2014/main" id="{2AB1A310-88A9-2035-A7A8-A1C5C004E25D}"/>
              </a:ext>
            </a:extLst>
          </p:cNvPr>
          <p:cNvSpPr/>
          <p:nvPr/>
        </p:nvSpPr>
        <p:spPr>
          <a:xfrm>
            <a:off x="2233571" y="808770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3">
            <a:extLst>
              <a:ext uri="{FF2B5EF4-FFF2-40B4-BE49-F238E27FC236}">
                <a16:creationId xmlns:a16="http://schemas.microsoft.com/office/drawing/2014/main" id="{FDEB60E6-7351-32CA-8784-A9A868024085}"/>
              </a:ext>
            </a:extLst>
          </p:cNvPr>
          <p:cNvSpPr/>
          <p:nvPr/>
        </p:nvSpPr>
        <p:spPr>
          <a:xfrm>
            <a:off x="2381404" y="89414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市场总览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sp>
        <p:nvSpPr>
          <p:cNvPr id="17" name="AutoShape 11">
            <a:extLst>
              <a:ext uri="{FF2B5EF4-FFF2-40B4-BE49-F238E27FC236}">
                <a16:creationId xmlns:a16="http://schemas.microsoft.com/office/drawing/2014/main" id="{07264013-38CB-B7A5-573E-4814DA99D718}"/>
              </a:ext>
            </a:extLst>
          </p:cNvPr>
          <p:cNvSpPr/>
          <p:nvPr/>
        </p:nvSpPr>
        <p:spPr>
          <a:xfrm>
            <a:off x="3736084" y="88497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详情分析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pic>
        <p:nvPicPr>
          <p:cNvPr id="29" name="Picture 6">
            <a:extLst>
              <a:ext uri="{FF2B5EF4-FFF2-40B4-BE49-F238E27FC236}">
                <a16:creationId xmlns:a16="http://schemas.microsoft.com/office/drawing/2014/main" id="{5CC52124-53D6-A163-E82C-8FC2D3B4FD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" y="2429016"/>
            <a:ext cx="203200" cy="203200"/>
          </a:xfrm>
          <a:prstGeom prst="rect">
            <a:avLst/>
          </a:prstGeom>
        </p:spPr>
      </p:pic>
      <p:sp>
        <p:nvSpPr>
          <p:cNvPr id="32" name="AutoShape 7">
            <a:extLst>
              <a:ext uri="{FF2B5EF4-FFF2-40B4-BE49-F238E27FC236}">
                <a16:creationId xmlns:a16="http://schemas.microsoft.com/office/drawing/2014/main" id="{425C282B-2D95-1655-EA80-6F767D6C993D}"/>
              </a:ext>
            </a:extLst>
          </p:cNvPr>
          <p:cNvSpPr/>
          <p:nvPr/>
        </p:nvSpPr>
        <p:spPr>
          <a:xfrm>
            <a:off x="965200" y="23782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信息披露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pic>
        <p:nvPicPr>
          <p:cNvPr id="47" name="Picture 8">
            <a:extLst>
              <a:ext uri="{FF2B5EF4-FFF2-40B4-BE49-F238E27FC236}">
                <a16:creationId xmlns:a16="http://schemas.microsoft.com/office/drawing/2014/main" id="{B150569F-AADC-BB1F-8EA1-7948E3ECD7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1440873"/>
            <a:ext cx="203200" cy="203200"/>
          </a:xfrm>
          <a:prstGeom prst="rect">
            <a:avLst/>
          </a:prstGeom>
        </p:spPr>
      </p:pic>
      <p:sp>
        <p:nvSpPr>
          <p:cNvPr id="59" name="AutoShape 9">
            <a:extLst>
              <a:ext uri="{FF2B5EF4-FFF2-40B4-BE49-F238E27FC236}">
                <a16:creationId xmlns:a16="http://schemas.microsoft.com/office/drawing/2014/main" id="{B17115FD-C526-536E-26CC-DEAB99AB2DA9}"/>
              </a:ext>
            </a:extLst>
          </p:cNvPr>
          <p:cNvSpPr/>
          <p:nvPr/>
        </p:nvSpPr>
        <p:spPr>
          <a:xfrm>
            <a:off x="965200" y="13900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企业信息</a:t>
            </a:r>
            <a:endParaRPr lang="en-US" sz="1100" dirty="0"/>
          </a:p>
        </p:txBody>
      </p:sp>
      <p:sp>
        <p:nvSpPr>
          <p:cNvPr id="60" name="AutoShape 5">
            <a:extLst>
              <a:ext uri="{FF2B5EF4-FFF2-40B4-BE49-F238E27FC236}">
                <a16:creationId xmlns:a16="http://schemas.microsoft.com/office/drawing/2014/main" id="{C9B66BA4-93C7-BC5C-A54D-2E0E43F52572}"/>
              </a:ext>
            </a:extLst>
          </p:cNvPr>
          <p:cNvSpPr/>
          <p:nvPr/>
        </p:nvSpPr>
        <p:spPr>
          <a:xfrm>
            <a:off x="508000" y="3343416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1" name="Picture 10">
            <a:extLst>
              <a:ext uri="{FF2B5EF4-FFF2-40B4-BE49-F238E27FC236}">
                <a16:creationId xmlns:a16="http://schemas.microsoft.com/office/drawing/2014/main" id="{37556D0D-0CC1-3EAC-A15A-721D83AFD3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" y="2962416"/>
            <a:ext cx="203200" cy="203200"/>
          </a:xfrm>
          <a:prstGeom prst="rect">
            <a:avLst/>
          </a:prstGeom>
        </p:spPr>
      </p:pic>
      <p:sp>
        <p:nvSpPr>
          <p:cNvPr id="62" name="AutoShape 11">
            <a:extLst>
              <a:ext uri="{FF2B5EF4-FFF2-40B4-BE49-F238E27FC236}">
                <a16:creationId xmlns:a16="http://schemas.microsoft.com/office/drawing/2014/main" id="{B0411008-6080-DA60-FFD0-604D23060DE6}"/>
              </a:ext>
            </a:extLst>
          </p:cNvPr>
          <p:cNvSpPr/>
          <p:nvPr/>
        </p:nvSpPr>
        <p:spPr>
          <a:xfrm>
            <a:off x="965200" y="29116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市场交易</a:t>
            </a:r>
            <a:endParaRPr lang="en-US" sz="1100" dirty="0"/>
          </a:p>
        </p:txBody>
      </p:sp>
      <p:pic>
        <p:nvPicPr>
          <p:cNvPr id="63" name="Picture 12">
            <a:extLst>
              <a:ext uri="{FF2B5EF4-FFF2-40B4-BE49-F238E27FC236}">
                <a16:creationId xmlns:a16="http://schemas.microsoft.com/office/drawing/2014/main" id="{BEDBB87C-7C0F-A733-144D-279C9C7DFF4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" y="3470416"/>
            <a:ext cx="203200" cy="203200"/>
          </a:xfrm>
          <a:prstGeom prst="rect">
            <a:avLst/>
          </a:prstGeom>
        </p:spPr>
      </p:pic>
      <p:sp>
        <p:nvSpPr>
          <p:cNvPr id="64" name="AutoShape 13">
            <a:extLst>
              <a:ext uri="{FF2B5EF4-FFF2-40B4-BE49-F238E27FC236}">
                <a16:creationId xmlns:a16="http://schemas.microsoft.com/office/drawing/2014/main" id="{C9811458-7047-8CFC-8C70-132C39EE5FD0}"/>
              </a:ext>
            </a:extLst>
          </p:cNvPr>
          <p:cNvSpPr/>
          <p:nvPr/>
        </p:nvSpPr>
        <p:spPr>
          <a:xfrm>
            <a:off x="965200" y="34196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结算报告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sp>
        <p:nvSpPr>
          <p:cNvPr id="65" name="AutoShape 11">
            <a:extLst>
              <a:ext uri="{FF2B5EF4-FFF2-40B4-BE49-F238E27FC236}">
                <a16:creationId xmlns:a16="http://schemas.microsoft.com/office/drawing/2014/main" id="{243CBD94-6B0E-0A5D-60CA-7F5C785E994C}"/>
              </a:ext>
            </a:extLst>
          </p:cNvPr>
          <p:cNvSpPr/>
          <p:nvPr/>
        </p:nvSpPr>
        <p:spPr>
          <a:xfrm>
            <a:off x="655833" y="4366158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理性报价结果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sp>
        <p:nvSpPr>
          <p:cNvPr id="66" name="AutoShape 11">
            <a:extLst>
              <a:ext uri="{FF2B5EF4-FFF2-40B4-BE49-F238E27FC236}">
                <a16:creationId xmlns:a16="http://schemas.microsoft.com/office/drawing/2014/main" id="{A9FE5244-04D6-55A2-F08D-E2C1A0BDD07C}"/>
              </a:ext>
            </a:extLst>
          </p:cNvPr>
          <p:cNvSpPr/>
          <p:nvPr/>
        </p:nvSpPr>
        <p:spPr>
          <a:xfrm>
            <a:off x="655833" y="4728624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报价结果对比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sp>
        <p:nvSpPr>
          <p:cNvPr id="67" name="AutoShape 5">
            <a:extLst>
              <a:ext uri="{FF2B5EF4-FFF2-40B4-BE49-F238E27FC236}">
                <a16:creationId xmlns:a16="http://schemas.microsoft.com/office/drawing/2014/main" id="{9C847C2E-83A6-9766-7B4B-38C9B7331569}"/>
              </a:ext>
            </a:extLst>
          </p:cNvPr>
          <p:cNvSpPr/>
          <p:nvPr/>
        </p:nvSpPr>
        <p:spPr>
          <a:xfrm>
            <a:off x="508000" y="3836094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" name="AutoShape 13">
            <a:extLst>
              <a:ext uri="{FF2B5EF4-FFF2-40B4-BE49-F238E27FC236}">
                <a16:creationId xmlns:a16="http://schemas.microsoft.com/office/drawing/2014/main" id="{254DE590-8A73-53F5-4885-204ACA546CDC}"/>
              </a:ext>
            </a:extLst>
          </p:cNvPr>
          <p:cNvSpPr/>
          <p:nvPr/>
        </p:nvSpPr>
        <p:spPr>
          <a:xfrm>
            <a:off x="655833" y="3921467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自主报价结果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sp>
        <p:nvSpPr>
          <p:cNvPr id="74" name="AutoShape 13">
            <a:extLst>
              <a:ext uri="{FF2B5EF4-FFF2-40B4-BE49-F238E27FC236}">
                <a16:creationId xmlns:a16="http://schemas.microsoft.com/office/drawing/2014/main" id="{F17D95A4-CFCF-BEF9-2DF7-808D8361BF8C}"/>
              </a:ext>
            </a:extLst>
          </p:cNvPr>
          <p:cNvSpPr/>
          <p:nvPr/>
        </p:nvSpPr>
        <p:spPr>
          <a:xfrm>
            <a:off x="965200" y="1856091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成交历史</a:t>
            </a:r>
            <a:endParaRPr lang="en-US" sz="1100" dirty="0"/>
          </a:p>
        </p:txBody>
      </p:sp>
      <p:pic>
        <p:nvPicPr>
          <p:cNvPr id="75" name="Picture 14">
            <a:extLst>
              <a:ext uri="{FF2B5EF4-FFF2-40B4-BE49-F238E27FC236}">
                <a16:creationId xmlns:a16="http://schemas.microsoft.com/office/drawing/2014/main" id="{AC701158-20C1-6B78-94D3-AA75C30EB3F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" y="1906891"/>
            <a:ext cx="2032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5815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7802F-A941-4D2A-8FED-5FD3EA81D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57A385B-005F-6BAE-DAC5-FFBB0C3E599D}"/>
              </a:ext>
            </a:extLst>
          </p:cNvPr>
          <p:cNvSpPr/>
          <p:nvPr/>
        </p:nvSpPr>
        <p:spPr>
          <a:xfrm>
            <a:off x="508000" y="203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电力市场</a:t>
            </a:r>
            <a:r>
              <a:rPr lang="en-US" sz="1800" b="1" i="0" u="none" strike="noStrike" dirty="0" err="1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lang="en-US" sz="1100" dirty="0"/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2F1FD7F5-17EA-0523-F39B-94E5DF8E4EF8}"/>
              </a:ext>
            </a:extLst>
          </p:cNvPr>
          <p:cNvCxnSpPr/>
          <p:nvPr/>
        </p:nvCxnSpPr>
        <p:spPr>
          <a:xfrm rot="-3906">
            <a:off x="508004" y="704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AE1F53A7-2331-EC6F-6BFD-2587F54ACE80}"/>
              </a:ext>
            </a:extLst>
          </p:cNvPr>
          <p:cNvSpPr/>
          <p:nvPr/>
        </p:nvSpPr>
        <p:spPr>
          <a:xfrm>
            <a:off x="508000" y="914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lang="en-US" sz="1100" dirty="0"/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6F96E81A-5A12-28F3-7BE0-E702D0FE624E}"/>
              </a:ext>
            </a:extLst>
          </p:cNvPr>
          <p:cNvCxnSpPr>
            <a:cxnSpLocks/>
          </p:cNvCxnSpPr>
          <p:nvPr/>
        </p:nvCxnSpPr>
        <p:spPr>
          <a:xfrm>
            <a:off x="1990706" y="942109"/>
            <a:ext cx="20461" cy="796287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>
            <a:extLst>
              <a:ext uri="{FF2B5EF4-FFF2-40B4-BE49-F238E27FC236}">
                <a16:creationId xmlns:a16="http://schemas.microsoft.com/office/drawing/2014/main" id="{6199FA4F-FAEE-E1CA-1519-9A27D27714E4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A9D3B171-24B1-4B89-CDA2-3D84A048A5E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A63BB4F7-12D2-DC72-BA67-93ADE1050682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63E39C38-5D6C-4E06-8561-97CCDED052C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FFD0BE54-1C1A-F8C5-F029-0A275C79819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3A407797-F8E6-6FE0-8632-F0AFF85A5E0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11A4ACA0-A654-53AD-C562-13FDBC4E1B02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C5DC57E7-4791-518D-AEFC-965812D88A6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4D1E005A-4530-4AE6-491C-3B2ACB89F57F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76386A0B-7578-9CD2-3F92-F557CB0BF868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6899DC6F-3BA3-A527-6958-0F9676AF88A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A3FB371F-AE43-BF16-78E0-5FF8AB05223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621BCB84-47BF-C30D-D778-0F57997EFDC2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1BB2D869-07EA-7D42-814B-C8FB565BE83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E11B2019-DFF6-05D4-77CE-70015CAC7C51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3CF8B76B-712F-8FCF-23C7-7B35017048DA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graphicFrame>
        <p:nvGraphicFramePr>
          <p:cNvPr id="14" name="图表 13">
            <a:extLst>
              <a:ext uri="{FF2B5EF4-FFF2-40B4-BE49-F238E27FC236}">
                <a16:creationId xmlns:a16="http://schemas.microsoft.com/office/drawing/2014/main" id="{00000000-0008-0000-3A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7585487"/>
              </p:ext>
            </p:extLst>
          </p:nvPr>
        </p:nvGraphicFramePr>
        <p:xfrm>
          <a:off x="2433833" y="1219200"/>
          <a:ext cx="7383780" cy="51987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AutoShape 5">
            <a:extLst>
              <a:ext uri="{FF2B5EF4-FFF2-40B4-BE49-F238E27FC236}">
                <a16:creationId xmlns:a16="http://schemas.microsoft.com/office/drawing/2014/main" id="{9CA01605-1853-88B4-D6AC-DDA4BF285276}"/>
              </a:ext>
            </a:extLst>
          </p:cNvPr>
          <p:cNvSpPr/>
          <p:nvPr/>
        </p:nvSpPr>
        <p:spPr>
          <a:xfrm>
            <a:off x="2233571" y="808770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3">
            <a:extLst>
              <a:ext uri="{FF2B5EF4-FFF2-40B4-BE49-F238E27FC236}">
                <a16:creationId xmlns:a16="http://schemas.microsoft.com/office/drawing/2014/main" id="{41C51BB2-CBDD-29CE-3F69-8D01DF55A987}"/>
              </a:ext>
            </a:extLst>
          </p:cNvPr>
          <p:cNvSpPr/>
          <p:nvPr/>
        </p:nvSpPr>
        <p:spPr>
          <a:xfrm>
            <a:off x="2381404" y="89414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市场总览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sp>
        <p:nvSpPr>
          <p:cNvPr id="29" name="AutoShape 11">
            <a:extLst>
              <a:ext uri="{FF2B5EF4-FFF2-40B4-BE49-F238E27FC236}">
                <a16:creationId xmlns:a16="http://schemas.microsoft.com/office/drawing/2014/main" id="{6CE7B01D-A9FD-891D-C4B3-3B80AC65A8F4}"/>
              </a:ext>
            </a:extLst>
          </p:cNvPr>
          <p:cNvSpPr/>
          <p:nvPr/>
        </p:nvSpPr>
        <p:spPr>
          <a:xfrm>
            <a:off x="3736084" y="88497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详情分析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91D63161-32FA-8139-3048-0B5575ED8C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" y="2429016"/>
            <a:ext cx="203200" cy="203200"/>
          </a:xfrm>
          <a:prstGeom prst="rect">
            <a:avLst/>
          </a:prstGeom>
        </p:spPr>
      </p:pic>
      <p:sp>
        <p:nvSpPr>
          <p:cNvPr id="11" name="AutoShape 7">
            <a:extLst>
              <a:ext uri="{FF2B5EF4-FFF2-40B4-BE49-F238E27FC236}">
                <a16:creationId xmlns:a16="http://schemas.microsoft.com/office/drawing/2014/main" id="{5E6F2653-0BA9-76BC-4E76-198092B803B5}"/>
              </a:ext>
            </a:extLst>
          </p:cNvPr>
          <p:cNvSpPr/>
          <p:nvPr/>
        </p:nvSpPr>
        <p:spPr>
          <a:xfrm>
            <a:off x="965200" y="23782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信息披露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pic>
        <p:nvPicPr>
          <p:cNvPr id="12" name="Picture 8">
            <a:extLst>
              <a:ext uri="{FF2B5EF4-FFF2-40B4-BE49-F238E27FC236}">
                <a16:creationId xmlns:a16="http://schemas.microsoft.com/office/drawing/2014/main" id="{D5B819B2-77FD-C6CA-FC92-BFAFA6FDB4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" y="1440873"/>
            <a:ext cx="203200" cy="203200"/>
          </a:xfrm>
          <a:prstGeom prst="rect">
            <a:avLst/>
          </a:prstGeom>
        </p:spPr>
      </p:pic>
      <p:sp>
        <p:nvSpPr>
          <p:cNvPr id="30" name="AutoShape 9">
            <a:extLst>
              <a:ext uri="{FF2B5EF4-FFF2-40B4-BE49-F238E27FC236}">
                <a16:creationId xmlns:a16="http://schemas.microsoft.com/office/drawing/2014/main" id="{82ECB4C2-1A15-14E4-CF02-8C9B0E4AC897}"/>
              </a:ext>
            </a:extLst>
          </p:cNvPr>
          <p:cNvSpPr/>
          <p:nvPr/>
        </p:nvSpPr>
        <p:spPr>
          <a:xfrm>
            <a:off x="965200" y="13900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企业信息</a:t>
            </a:r>
            <a:endParaRPr lang="en-US" sz="1100" dirty="0"/>
          </a:p>
        </p:txBody>
      </p:sp>
      <p:sp>
        <p:nvSpPr>
          <p:cNvPr id="31" name="AutoShape 5">
            <a:extLst>
              <a:ext uri="{FF2B5EF4-FFF2-40B4-BE49-F238E27FC236}">
                <a16:creationId xmlns:a16="http://schemas.microsoft.com/office/drawing/2014/main" id="{F0D50B64-09BA-7A4C-9512-A441D39976D9}"/>
              </a:ext>
            </a:extLst>
          </p:cNvPr>
          <p:cNvSpPr/>
          <p:nvPr/>
        </p:nvSpPr>
        <p:spPr>
          <a:xfrm>
            <a:off x="508000" y="3343416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2" name="Picture 10">
            <a:extLst>
              <a:ext uri="{FF2B5EF4-FFF2-40B4-BE49-F238E27FC236}">
                <a16:creationId xmlns:a16="http://schemas.microsoft.com/office/drawing/2014/main" id="{B4342577-EA40-1478-512D-91AC9F2C27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" y="2962416"/>
            <a:ext cx="203200" cy="203200"/>
          </a:xfrm>
          <a:prstGeom prst="rect">
            <a:avLst/>
          </a:prstGeom>
        </p:spPr>
      </p:pic>
      <p:sp>
        <p:nvSpPr>
          <p:cNvPr id="33" name="AutoShape 11">
            <a:extLst>
              <a:ext uri="{FF2B5EF4-FFF2-40B4-BE49-F238E27FC236}">
                <a16:creationId xmlns:a16="http://schemas.microsoft.com/office/drawing/2014/main" id="{32D3F4B7-4801-CE06-6A9C-36A7B4203943}"/>
              </a:ext>
            </a:extLst>
          </p:cNvPr>
          <p:cNvSpPr/>
          <p:nvPr/>
        </p:nvSpPr>
        <p:spPr>
          <a:xfrm>
            <a:off x="965200" y="29116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市场交易</a:t>
            </a:r>
            <a:endParaRPr lang="en-US" sz="1100" dirty="0"/>
          </a:p>
        </p:txBody>
      </p:sp>
      <p:pic>
        <p:nvPicPr>
          <p:cNvPr id="36" name="Picture 12">
            <a:extLst>
              <a:ext uri="{FF2B5EF4-FFF2-40B4-BE49-F238E27FC236}">
                <a16:creationId xmlns:a16="http://schemas.microsoft.com/office/drawing/2014/main" id="{DA75DC24-29D0-1FB4-AD8E-EBA864AC554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" y="3470416"/>
            <a:ext cx="203200" cy="203200"/>
          </a:xfrm>
          <a:prstGeom prst="rect">
            <a:avLst/>
          </a:prstGeom>
        </p:spPr>
      </p:pic>
      <p:sp>
        <p:nvSpPr>
          <p:cNvPr id="47" name="AutoShape 13">
            <a:extLst>
              <a:ext uri="{FF2B5EF4-FFF2-40B4-BE49-F238E27FC236}">
                <a16:creationId xmlns:a16="http://schemas.microsoft.com/office/drawing/2014/main" id="{3847CBF6-7E47-66D0-62D0-BA2CAB999D05}"/>
              </a:ext>
            </a:extLst>
          </p:cNvPr>
          <p:cNvSpPr/>
          <p:nvPr/>
        </p:nvSpPr>
        <p:spPr>
          <a:xfrm>
            <a:off x="965200" y="34196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结算报告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sp>
        <p:nvSpPr>
          <p:cNvPr id="48" name="AutoShape 11">
            <a:extLst>
              <a:ext uri="{FF2B5EF4-FFF2-40B4-BE49-F238E27FC236}">
                <a16:creationId xmlns:a16="http://schemas.microsoft.com/office/drawing/2014/main" id="{1AC13FCE-C96D-7A25-8445-EA1723EAA7AB}"/>
              </a:ext>
            </a:extLst>
          </p:cNvPr>
          <p:cNvSpPr/>
          <p:nvPr/>
        </p:nvSpPr>
        <p:spPr>
          <a:xfrm>
            <a:off x="655833" y="4366158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理性报价结果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sp>
        <p:nvSpPr>
          <p:cNvPr id="49" name="AutoShape 11">
            <a:extLst>
              <a:ext uri="{FF2B5EF4-FFF2-40B4-BE49-F238E27FC236}">
                <a16:creationId xmlns:a16="http://schemas.microsoft.com/office/drawing/2014/main" id="{3BFE679C-FA7B-976F-3AA6-C247506EA82A}"/>
              </a:ext>
            </a:extLst>
          </p:cNvPr>
          <p:cNvSpPr/>
          <p:nvPr/>
        </p:nvSpPr>
        <p:spPr>
          <a:xfrm>
            <a:off x="655833" y="4728624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报价结果对比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8E389357-EF39-4687-FEE3-20F125366CAB}"/>
              </a:ext>
            </a:extLst>
          </p:cNvPr>
          <p:cNvSpPr/>
          <p:nvPr/>
        </p:nvSpPr>
        <p:spPr>
          <a:xfrm>
            <a:off x="508000" y="3836094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AutoShape 13">
            <a:extLst>
              <a:ext uri="{FF2B5EF4-FFF2-40B4-BE49-F238E27FC236}">
                <a16:creationId xmlns:a16="http://schemas.microsoft.com/office/drawing/2014/main" id="{74D97B6D-8A32-47FE-4836-ECA7E32BC82F}"/>
              </a:ext>
            </a:extLst>
          </p:cNvPr>
          <p:cNvSpPr/>
          <p:nvPr/>
        </p:nvSpPr>
        <p:spPr>
          <a:xfrm>
            <a:off x="655833" y="3921467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自主报价结果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sp>
        <p:nvSpPr>
          <p:cNvPr id="52" name="AutoShape 13">
            <a:extLst>
              <a:ext uri="{FF2B5EF4-FFF2-40B4-BE49-F238E27FC236}">
                <a16:creationId xmlns:a16="http://schemas.microsoft.com/office/drawing/2014/main" id="{A4F2CE57-40D0-DB8E-19E0-EA4A1357C743}"/>
              </a:ext>
            </a:extLst>
          </p:cNvPr>
          <p:cNvSpPr/>
          <p:nvPr/>
        </p:nvSpPr>
        <p:spPr>
          <a:xfrm>
            <a:off x="965200" y="1856091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成交历史</a:t>
            </a:r>
            <a:endParaRPr lang="en-US" sz="1100" dirty="0"/>
          </a:p>
        </p:txBody>
      </p:sp>
      <p:pic>
        <p:nvPicPr>
          <p:cNvPr id="53" name="Picture 14">
            <a:extLst>
              <a:ext uri="{FF2B5EF4-FFF2-40B4-BE49-F238E27FC236}">
                <a16:creationId xmlns:a16="http://schemas.microsoft.com/office/drawing/2014/main" id="{F449F823-571A-FE9D-B709-659F1F08819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0400" y="1906891"/>
            <a:ext cx="2032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2778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5B7C1-94CA-A6F7-FD6A-EAFBF50AF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752ABB2-E1B6-677F-0B09-7211DBC66D48}"/>
              </a:ext>
            </a:extLst>
          </p:cNvPr>
          <p:cNvSpPr/>
          <p:nvPr/>
        </p:nvSpPr>
        <p:spPr>
          <a:xfrm>
            <a:off x="508000" y="203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电力市场</a:t>
            </a:r>
            <a:r>
              <a:rPr lang="en-US" sz="1800" b="1" i="0" u="none" strike="noStrike" dirty="0" err="1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lang="en-US" sz="1100" dirty="0"/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5F9069CF-4815-6D41-7759-710AB3F6741D}"/>
              </a:ext>
            </a:extLst>
          </p:cNvPr>
          <p:cNvCxnSpPr/>
          <p:nvPr/>
        </p:nvCxnSpPr>
        <p:spPr>
          <a:xfrm rot="-3906">
            <a:off x="508004" y="704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7E9121EF-D056-925F-FB65-E1E4A48C66B9}"/>
              </a:ext>
            </a:extLst>
          </p:cNvPr>
          <p:cNvSpPr/>
          <p:nvPr/>
        </p:nvSpPr>
        <p:spPr>
          <a:xfrm>
            <a:off x="508000" y="914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lang="en-US" sz="1100" dirty="0"/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3DD22F37-D518-65E7-93A1-11681AD41C0B}"/>
              </a:ext>
            </a:extLst>
          </p:cNvPr>
          <p:cNvCxnSpPr>
            <a:cxnSpLocks/>
          </p:cNvCxnSpPr>
          <p:nvPr/>
        </p:nvCxnSpPr>
        <p:spPr>
          <a:xfrm>
            <a:off x="1990706" y="942109"/>
            <a:ext cx="20461" cy="796287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>
            <a:extLst>
              <a:ext uri="{FF2B5EF4-FFF2-40B4-BE49-F238E27FC236}">
                <a16:creationId xmlns:a16="http://schemas.microsoft.com/office/drawing/2014/main" id="{79863D34-B810-BB49-4150-0EADB5817EE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926C8AE6-7289-A546-14A7-F2BF21CF7864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D562D920-85DB-2F07-1C29-A99D1C61339A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F4AE261F-EAFE-D1F0-DC68-27CD4E6AA27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AE5EA08F-86EA-4CC3-39CA-86B51757EE61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24358B7D-6D71-B55E-2F95-09D8EB61360A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358BCBF3-1D71-D23A-0F44-A9E13F329E3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64D662C2-5921-985E-8FC7-886942DB301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59AE5BA0-71E6-3E09-5887-F02DD60CD6B2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20977F94-917C-5A90-8C71-72C47A640BC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FEF85A91-8A5D-9276-F8BE-D0768FC5998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896C41A4-B811-D096-0A70-5A513C09867A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1F7A7B17-D681-29BA-976C-CF9B14D4FDB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A7296027-E7EB-4382-F291-E97B700B6D5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2806A46F-5A3A-6C8B-DCCB-637C20850D7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90119564-1C1A-A411-6219-D3F388A24F0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5">
            <a:extLst>
              <a:ext uri="{FF2B5EF4-FFF2-40B4-BE49-F238E27FC236}">
                <a16:creationId xmlns:a16="http://schemas.microsoft.com/office/drawing/2014/main" id="{A62EB561-D6DF-55D0-93CC-82F7A662FD32}"/>
              </a:ext>
            </a:extLst>
          </p:cNvPr>
          <p:cNvSpPr/>
          <p:nvPr/>
        </p:nvSpPr>
        <p:spPr>
          <a:xfrm>
            <a:off x="3899811" y="812800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3">
            <a:extLst>
              <a:ext uri="{FF2B5EF4-FFF2-40B4-BE49-F238E27FC236}">
                <a16:creationId xmlns:a16="http://schemas.microsoft.com/office/drawing/2014/main" id="{7224E1BF-7889-45E2-EBD9-2D54E5CBE3D8}"/>
              </a:ext>
            </a:extLst>
          </p:cNvPr>
          <p:cNvSpPr/>
          <p:nvPr/>
        </p:nvSpPr>
        <p:spPr>
          <a:xfrm>
            <a:off x="4047644" y="8981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详情分析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sp>
        <p:nvSpPr>
          <p:cNvPr id="14" name="AutoShape 11">
            <a:extLst>
              <a:ext uri="{FF2B5EF4-FFF2-40B4-BE49-F238E27FC236}">
                <a16:creationId xmlns:a16="http://schemas.microsoft.com/office/drawing/2014/main" id="{CE92FC2A-0F5F-F552-C6C8-D7A6F823C323}"/>
              </a:ext>
            </a:extLst>
          </p:cNvPr>
          <p:cNvSpPr/>
          <p:nvPr/>
        </p:nvSpPr>
        <p:spPr>
          <a:xfrm>
            <a:off x="2407093" y="91242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市场总览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2D8914DF-72B0-E43F-0FC5-FBEBC6BD9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267314"/>
              </p:ext>
            </p:extLst>
          </p:nvPr>
        </p:nvGraphicFramePr>
        <p:xfrm>
          <a:off x="2011167" y="1703807"/>
          <a:ext cx="10515599" cy="1633671"/>
        </p:xfrm>
        <a:graphic>
          <a:graphicData uri="http://schemas.openxmlformats.org/drawingml/2006/table">
            <a:tbl>
              <a:tblPr/>
              <a:tblGrid>
                <a:gridCol w="1084943">
                  <a:extLst>
                    <a:ext uri="{9D8B030D-6E8A-4147-A177-3AD203B41FA5}">
                      <a16:colId xmlns:a16="http://schemas.microsoft.com/office/drawing/2014/main" val="889876694"/>
                    </a:ext>
                  </a:extLst>
                </a:gridCol>
                <a:gridCol w="845004">
                  <a:extLst>
                    <a:ext uri="{9D8B030D-6E8A-4147-A177-3AD203B41FA5}">
                      <a16:colId xmlns:a16="http://schemas.microsoft.com/office/drawing/2014/main" val="926768362"/>
                    </a:ext>
                  </a:extLst>
                </a:gridCol>
                <a:gridCol w="1105807">
                  <a:extLst>
                    <a:ext uri="{9D8B030D-6E8A-4147-A177-3AD203B41FA5}">
                      <a16:colId xmlns:a16="http://schemas.microsoft.com/office/drawing/2014/main" val="2153301486"/>
                    </a:ext>
                  </a:extLst>
                </a:gridCol>
                <a:gridCol w="1105807">
                  <a:extLst>
                    <a:ext uri="{9D8B030D-6E8A-4147-A177-3AD203B41FA5}">
                      <a16:colId xmlns:a16="http://schemas.microsoft.com/office/drawing/2014/main" val="3278601056"/>
                    </a:ext>
                  </a:extLst>
                </a:gridCol>
                <a:gridCol w="1105807">
                  <a:extLst>
                    <a:ext uri="{9D8B030D-6E8A-4147-A177-3AD203B41FA5}">
                      <a16:colId xmlns:a16="http://schemas.microsoft.com/office/drawing/2014/main" val="3946107428"/>
                    </a:ext>
                  </a:extLst>
                </a:gridCol>
                <a:gridCol w="1241425">
                  <a:extLst>
                    <a:ext uri="{9D8B030D-6E8A-4147-A177-3AD203B41FA5}">
                      <a16:colId xmlns:a16="http://schemas.microsoft.com/office/drawing/2014/main" val="445930221"/>
                    </a:ext>
                  </a:extLst>
                </a:gridCol>
                <a:gridCol w="1721304">
                  <a:extLst>
                    <a:ext uri="{9D8B030D-6E8A-4147-A177-3AD203B41FA5}">
                      <a16:colId xmlns:a16="http://schemas.microsoft.com/office/drawing/2014/main" val="620954174"/>
                    </a:ext>
                  </a:extLst>
                </a:gridCol>
                <a:gridCol w="1272720">
                  <a:extLst>
                    <a:ext uri="{9D8B030D-6E8A-4147-A177-3AD203B41FA5}">
                      <a16:colId xmlns:a16="http://schemas.microsoft.com/office/drawing/2014/main" val="3023003241"/>
                    </a:ext>
                  </a:extLst>
                </a:gridCol>
                <a:gridCol w="1032782">
                  <a:extLst>
                    <a:ext uri="{9D8B030D-6E8A-4147-A177-3AD203B41FA5}">
                      <a16:colId xmlns:a16="http://schemas.microsoft.com/office/drawing/2014/main" val="869092610"/>
                    </a:ext>
                  </a:extLst>
                </a:gridCol>
              </a:tblGrid>
              <a:tr h="18151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火电厂编号</a:t>
                      </a:r>
                    </a:p>
                  </a:txBody>
                  <a:tcPr marL="6259" marR="6259" marT="625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火电厂名称</a:t>
                      </a:r>
                    </a:p>
                  </a:txBody>
                  <a:tcPr marL="6259" marR="6259" marT="625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运行成本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万元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</a:p>
                  </a:txBody>
                  <a:tcPr marL="6259" marR="6259" marT="625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开机成本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万元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</a:p>
                  </a:txBody>
                  <a:tcPr marL="6259" marR="6259" marT="625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关机成本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万元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</a:p>
                  </a:txBody>
                  <a:tcPr marL="6259" marR="6259" marT="625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总中标出力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MW)</a:t>
                      </a:r>
                    </a:p>
                  </a:txBody>
                  <a:tcPr marL="6259" marR="6259" marT="625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中标电量均价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元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/MWh)</a:t>
                      </a:r>
                    </a:p>
                  </a:txBody>
                  <a:tcPr marL="6259" marR="6259" marT="625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总中标收益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万元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</a:p>
                  </a:txBody>
                  <a:tcPr marL="6259" marR="6259" marT="625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净收益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万元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</a:p>
                  </a:txBody>
                  <a:tcPr marL="6259" marR="6259" marT="625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322731"/>
                  </a:ext>
                </a:extLst>
              </a:tr>
              <a:tr h="1815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ThermalPlant_1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G13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433.7622865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80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106560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224.8459088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663.1399429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149.3776564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020743"/>
                  </a:ext>
                </a:extLst>
              </a:tr>
              <a:tr h="1815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ThermalPlant_2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G14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897.6068759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160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209492.5328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241.2388321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1305.460937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247.8540608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787428"/>
                  </a:ext>
                </a:extLst>
              </a:tr>
              <a:tr h="1815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ThermalPlant_3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G15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333.747228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80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73625.70642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246.1600044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459.6455807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45.89835279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437694"/>
                  </a:ext>
                </a:extLst>
              </a:tr>
              <a:tr h="1815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ThermalPlant_4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G16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374.1880882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90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70495.22206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245.0287267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439.5350533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-24.65303483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9131642"/>
                  </a:ext>
                </a:extLst>
              </a:tr>
              <a:tr h="1815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ThermalPlant_5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G17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223.0158222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90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41471.80201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248.2419171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260.3419726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-52.67384956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694211"/>
                  </a:ext>
                </a:extLst>
              </a:tr>
              <a:tr h="1815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ThermalPlant_6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G18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328.0332774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60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68953.6316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237.0293892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429.4274416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41.39416421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750708"/>
                  </a:ext>
                </a:extLst>
              </a:tr>
              <a:tr h="1815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ThermalPlant_7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G19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035268"/>
                  </a:ext>
                </a:extLst>
              </a:tr>
              <a:tr h="1815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ThermalPlant_8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G20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133.9732112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120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29051.37148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249.4234496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182.5133813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-71.45982986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254845"/>
                  </a:ext>
                </a:extLst>
              </a:tr>
            </a:tbl>
          </a:graphicData>
        </a:graphic>
      </p:graphicFrame>
      <p:graphicFrame>
        <p:nvGraphicFramePr>
          <p:cNvPr id="31" name="表格 30">
            <a:extLst>
              <a:ext uri="{FF2B5EF4-FFF2-40B4-BE49-F238E27FC236}">
                <a16:creationId xmlns:a16="http://schemas.microsoft.com/office/drawing/2014/main" id="{645DB473-EDF2-3E54-6DD3-DBED9CA6D2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464123"/>
              </p:ext>
            </p:extLst>
          </p:nvPr>
        </p:nvGraphicFramePr>
        <p:xfrm>
          <a:off x="3585967" y="4126011"/>
          <a:ext cx="7366000" cy="1988820"/>
        </p:xfrm>
        <a:graphic>
          <a:graphicData uri="http://schemas.openxmlformats.org/drawingml/2006/table">
            <a:tbl>
              <a:tblPr/>
              <a:tblGrid>
                <a:gridCol w="1320800">
                  <a:extLst>
                    <a:ext uri="{9D8B030D-6E8A-4147-A177-3AD203B41FA5}">
                      <a16:colId xmlns:a16="http://schemas.microsoft.com/office/drawing/2014/main" val="16442969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26802504"/>
                    </a:ext>
                  </a:extLst>
                </a:gridCol>
                <a:gridCol w="1282700">
                  <a:extLst>
                    <a:ext uri="{9D8B030D-6E8A-4147-A177-3AD203B41FA5}">
                      <a16:colId xmlns:a16="http://schemas.microsoft.com/office/drawing/2014/main" val="2853163729"/>
                    </a:ext>
                  </a:extLst>
                </a:gridCol>
                <a:gridCol w="2044700">
                  <a:extLst>
                    <a:ext uri="{9D8B030D-6E8A-4147-A177-3AD203B41FA5}">
                      <a16:colId xmlns:a16="http://schemas.microsoft.com/office/drawing/2014/main" val="1467271314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832779249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火电厂编号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火电厂名称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中标总量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中标电量均价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元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/MWh)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调频补偿收益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万元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257668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ThermalPlant_1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G13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8640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7.25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3.195438019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18120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ThermalPlant_2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G14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5437.5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14.32195852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2.013413165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621357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ThermalPlant_3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G15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8325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12.0981323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3.079445693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9813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ThermalPlant_4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G16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4320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10.58474724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1.59771901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91957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ThermalPlant_5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G17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4530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11.47452452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1.669998777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325352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ThermalPlant_6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G18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4330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11.65444349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1.60153801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0061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ThermalPlant_7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G19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79782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ThermalPlant_8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G20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3307.5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10.50647292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1.217736537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8121231"/>
                  </a:ext>
                </a:extLst>
              </a:tr>
            </a:tbl>
          </a:graphicData>
        </a:graphic>
      </p:graphicFrame>
      <p:pic>
        <p:nvPicPr>
          <p:cNvPr id="6" name="Picture 6">
            <a:extLst>
              <a:ext uri="{FF2B5EF4-FFF2-40B4-BE49-F238E27FC236}">
                <a16:creationId xmlns:a16="http://schemas.microsoft.com/office/drawing/2014/main" id="{04155D3C-A94E-0A7C-C40C-C12607D7EE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" y="2429016"/>
            <a:ext cx="203200" cy="203200"/>
          </a:xfrm>
          <a:prstGeom prst="rect">
            <a:avLst/>
          </a:prstGeom>
        </p:spPr>
      </p:pic>
      <p:sp>
        <p:nvSpPr>
          <p:cNvPr id="15" name="AutoShape 7">
            <a:extLst>
              <a:ext uri="{FF2B5EF4-FFF2-40B4-BE49-F238E27FC236}">
                <a16:creationId xmlns:a16="http://schemas.microsoft.com/office/drawing/2014/main" id="{A2C07EFA-B0B2-96B1-00D5-E0A9C74A35A9}"/>
              </a:ext>
            </a:extLst>
          </p:cNvPr>
          <p:cNvSpPr/>
          <p:nvPr/>
        </p:nvSpPr>
        <p:spPr>
          <a:xfrm>
            <a:off x="965200" y="23782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信息披露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pic>
        <p:nvPicPr>
          <p:cNvPr id="17" name="Picture 8">
            <a:extLst>
              <a:ext uri="{FF2B5EF4-FFF2-40B4-BE49-F238E27FC236}">
                <a16:creationId xmlns:a16="http://schemas.microsoft.com/office/drawing/2014/main" id="{70DC1D66-AC84-1AF2-C765-BF8F79A154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1440873"/>
            <a:ext cx="203200" cy="203200"/>
          </a:xfrm>
          <a:prstGeom prst="rect">
            <a:avLst/>
          </a:prstGeom>
        </p:spPr>
      </p:pic>
      <p:sp>
        <p:nvSpPr>
          <p:cNvPr id="30" name="AutoShape 9">
            <a:extLst>
              <a:ext uri="{FF2B5EF4-FFF2-40B4-BE49-F238E27FC236}">
                <a16:creationId xmlns:a16="http://schemas.microsoft.com/office/drawing/2014/main" id="{4141FD2F-B93C-FD11-424C-3B426AA3D2AF}"/>
              </a:ext>
            </a:extLst>
          </p:cNvPr>
          <p:cNvSpPr/>
          <p:nvPr/>
        </p:nvSpPr>
        <p:spPr>
          <a:xfrm>
            <a:off x="965200" y="13900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企业信息</a:t>
            </a:r>
            <a:endParaRPr lang="en-US" sz="1100" dirty="0"/>
          </a:p>
        </p:txBody>
      </p:sp>
      <p:sp>
        <p:nvSpPr>
          <p:cNvPr id="32" name="AutoShape 5">
            <a:extLst>
              <a:ext uri="{FF2B5EF4-FFF2-40B4-BE49-F238E27FC236}">
                <a16:creationId xmlns:a16="http://schemas.microsoft.com/office/drawing/2014/main" id="{528D1091-920E-3C7C-81D6-A1DF9A4E5A95}"/>
              </a:ext>
            </a:extLst>
          </p:cNvPr>
          <p:cNvSpPr/>
          <p:nvPr/>
        </p:nvSpPr>
        <p:spPr>
          <a:xfrm>
            <a:off x="508000" y="3343416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3" name="Picture 10">
            <a:extLst>
              <a:ext uri="{FF2B5EF4-FFF2-40B4-BE49-F238E27FC236}">
                <a16:creationId xmlns:a16="http://schemas.microsoft.com/office/drawing/2014/main" id="{38E7292B-3624-47D7-6302-97E5962853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" y="2962416"/>
            <a:ext cx="203200" cy="203200"/>
          </a:xfrm>
          <a:prstGeom prst="rect">
            <a:avLst/>
          </a:prstGeom>
        </p:spPr>
      </p:pic>
      <p:sp>
        <p:nvSpPr>
          <p:cNvPr id="36" name="AutoShape 11">
            <a:extLst>
              <a:ext uri="{FF2B5EF4-FFF2-40B4-BE49-F238E27FC236}">
                <a16:creationId xmlns:a16="http://schemas.microsoft.com/office/drawing/2014/main" id="{0E475915-E45F-39EA-A4F0-1918F2758CD8}"/>
              </a:ext>
            </a:extLst>
          </p:cNvPr>
          <p:cNvSpPr/>
          <p:nvPr/>
        </p:nvSpPr>
        <p:spPr>
          <a:xfrm>
            <a:off x="965200" y="29116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市场交易</a:t>
            </a:r>
            <a:endParaRPr lang="en-US" sz="1100" dirty="0"/>
          </a:p>
        </p:txBody>
      </p:sp>
      <p:pic>
        <p:nvPicPr>
          <p:cNvPr id="47" name="Picture 12">
            <a:extLst>
              <a:ext uri="{FF2B5EF4-FFF2-40B4-BE49-F238E27FC236}">
                <a16:creationId xmlns:a16="http://schemas.microsoft.com/office/drawing/2014/main" id="{98F5E01A-EAE3-2A22-FAFF-42AB96957BE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" y="3470416"/>
            <a:ext cx="203200" cy="203200"/>
          </a:xfrm>
          <a:prstGeom prst="rect">
            <a:avLst/>
          </a:prstGeom>
        </p:spPr>
      </p:pic>
      <p:sp>
        <p:nvSpPr>
          <p:cNvPr id="48" name="AutoShape 13">
            <a:extLst>
              <a:ext uri="{FF2B5EF4-FFF2-40B4-BE49-F238E27FC236}">
                <a16:creationId xmlns:a16="http://schemas.microsoft.com/office/drawing/2014/main" id="{FA318A30-F8FA-83AE-874F-0DF40CB31658}"/>
              </a:ext>
            </a:extLst>
          </p:cNvPr>
          <p:cNvSpPr/>
          <p:nvPr/>
        </p:nvSpPr>
        <p:spPr>
          <a:xfrm>
            <a:off x="965200" y="34196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结算报告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sp>
        <p:nvSpPr>
          <p:cNvPr id="49" name="AutoShape 11">
            <a:extLst>
              <a:ext uri="{FF2B5EF4-FFF2-40B4-BE49-F238E27FC236}">
                <a16:creationId xmlns:a16="http://schemas.microsoft.com/office/drawing/2014/main" id="{7134F680-8FC0-1DAF-D428-A9AFED96B07B}"/>
              </a:ext>
            </a:extLst>
          </p:cNvPr>
          <p:cNvSpPr/>
          <p:nvPr/>
        </p:nvSpPr>
        <p:spPr>
          <a:xfrm>
            <a:off x="655833" y="4366158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理性报价结果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sp>
        <p:nvSpPr>
          <p:cNvPr id="50" name="AutoShape 11">
            <a:extLst>
              <a:ext uri="{FF2B5EF4-FFF2-40B4-BE49-F238E27FC236}">
                <a16:creationId xmlns:a16="http://schemas.microsoft.com/office/drawing/2014/main" id="{0CA7DAB5-3A1D-500E-D8FD-76FD0744E834}"/>
              </a:ext>
            </a:extLst>
          </p:cNvPr>
          <p:cNvSpPr/>
          <p:nvPr/>
        </p:nvSpPr>
        <p:spPr>
          <a:xfrm>
            <a:off x="655833" y="4728624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报价结果对比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sp>
        <p:nvSpPr>
          <p:cNvPr id="51" name="AutoShape 5">
            <a:extLst>
              <a:ext uri="{FF2B5EF4-FFF2-40B4-BE49-F238E27FC236}">
                <a16:creationId xmlns:a16="http://schemas.microsoft.com/office/drawing/2014/main" id="{037CA973-12C6-FBCE-969E-040B6F28D868}"/>
              </a:ext>
            </a:extLst>
          </p:cNvPr>
          <p:cNvSpPr/>
          <p:nvPr/>
        </p:nvSpPr>
        <p:spPr>
          <a:xfrm>
            <a:off x="508000" y="3836094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" name="AutoShape 13">
            <a:extLst>
              <a:ext uri="{FF2B5EF4-FFF2-40B4-BE49-F238E27FC236}">
                <a16:creationId xmlns:a16="http://schemas.microsoft.com/office/drawing/2014/main" id="{A8C67C6C-388A-485B-6267-34D8E0AA1AC1}"/>
              </a:ext>
            </a:extLst>
          </p:cNvPr>
          <p:cNvSpPr/>
          <p:nvPr/>
        </p:nvSpPr>
        <p:spPr>
          <a:xfrm>
            <a:off x="655833" y="3921467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自主报价结果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sp>
        <p:nvSpPr>
          <p:cNvPr id="53" name="AutoShape 13">
            <a:extLst>
              <a:ext uri="{FF2B5EF4-FFF2-40B4-BE49-F238E27FC236}">
                <a16:creationId xmlns:a16="http://schemas.microsoft.com/office/drawing/2014/main" id="{5FD9DD51-0189-EEEA-FE2A-7A67A8849DB2}"/>
              </a:ext>
            </a:extLst>
          </p:cNvPr>
          <p:cNvSpPr/>
          <p:nvPr/>
        </p:nvSpPr>
        <p:spPr>
          <a:xfrm>
            <a:off x="965200" y="1856091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成交历史</a:t>
            </a:r>
            <a:endParaRPr lang="en-US" sz="1100" dirty="0"/>
          </a:p>
        </p:txBody>
      </p:sp>
      <p:pic>
        <p:nvPicPr>
          <p:cNvPr id="54" name="Picture 14">
            <a:extLst>
              <a:ext uri="{FF2B5EF4-FFF2-40B4-BE49-F238E27FC236}">
                <a16:creationId xmlns:a16="http://schemas.microsoft.com/office/drawing/2014/main" id="{4A1E012E-F7ED-167D-8A72-12073208882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" y="1906891"/>
            <a:ext cx="2032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798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FC477-3AFE-34EC-06B4-A9329F6B7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87A3BA4-158D-E3E1-61C2-EAA42507C715}"/>
              </a:ext>
            </a:extLst>
          </p:cNvPr>
          <p:cNvSpPr/>
          <p:nvPr/>
        </p:nvSpPr>
        <p:spPr>
          <a:xfrm>
            <a:off x="508000" y="203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电力市场</a:t>
            </a:r>
            <a:r>
              <a:rPr lang="en-US" sz="1800" b="1" i="0" u="none" strike="noStrike" dirty="0" err="1">
                <a:solidFill>
                  <a:srgbClr val="409EF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lang="en-US" sz="1100" dirty="0"/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D610C4A2-E5A5-BEED-3F84-29E5F8DDAB38}"/>
              </a:ext>
            </a:extLst>
          </p:cNvPr>
          <p:cNvCxnSpPr/>
          <p:nvPr/>
        </p:nvCxnSpPr>
        <p:spPr>
          <a:xfrm rot="-3906">
            <a:off x="508004" y="704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F9C14781-F420-22DB-898A-C89C2F457259}"/>
              </a:ext>
            </a:extLst>
          </p:cNvPr>
          <p:cNvSpPr/>
          <p:nvPr/>
        </p:nvSpPr>
        <p:spPr>
          <a:xfrm>
            <a:off x="508000" y="914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lang="en-US" sz="1100" dirty="0"/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3C5E85C2-EE74-D22E-6E23-3FE2D8B69423}"/>
              </a:ext>
            </a:extLst>
          </p:cNvPr>
          <p:cNvCxnSpPr>
            <a:cxnSpLocks/>
          </p:cNvCxnSpPr>
          <p:nvPr/>
        </p:nvCxnSpPr>
        <p:spPr>
          <a:xfrm>
            <a:off x="1990706" y="942109"/>
            <a:ext cx="20461" cy="796287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>
            <a:extLst>
              <a:ext uri="{FF2B5EF4-FFF2-40B4-BE49-F238E27FC236}">
                <a16:creationId xmlns:a16="http://schemas.microsoft.com/office/drawing/2014/main" id="{7A1797CE-4DB2-E1AF-8A1E-1B75BE67559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BE4EC166-E2EB-C281-B4FB-B1E7035B34D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79C58E4C-338B-F254-632B-E5976A540DBB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3831F4F7-39ED-B620-13CD-0BB2BD6B130B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C459A566-0044-9AA9-7A01-7004B831708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6A332937-4AE1-BDE6-0DBB-7E864F9AFDD8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F3323264-B3A1-5C1F-E6B4-5377DE1FE71F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93C122AD-3112-FDCC-BCF5-AA41D83C9B3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44603B1D-75F7-0399-D358-DE5EF8C109E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B93CAD3C-3DA4-6AD8-1EAE-6C20BC0A1A0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62FFEED1-1DE2-CA68-DC48-3795D4B087C8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4715CC61-E74F-E044-31E2-2493E3D3257F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73BD0A48-F24B-73E3-E1B8-78D645CB73B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C95C5F80-F9EA-E999-6CE4-140F343530F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0D1DC8CF-31A8-2EE8-9694-A86E7AEC11B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C7AA9BCD-4023-229B-8EC8-1E07E6F486D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5">
            <a:extLst>
              <a:ext uri="{FF2B5EF4-FFF2-40B4-BE49-F238E27FC236}">
                <a16:creationId xmlns:a16="http://schemas.microsoft.com/office/drawing/2014/main" id="{AED68CF5-B3FC-3267-670E-610525C20B9B}"/>
              </a:ext>
            </a:extLst>
          </p:cNvPr>
          <p:cNvSpPr/>
          <p:nvPr/>
        </p:nvSpPr>
        <p:spPr>
          <a:xfrm>
            <a:off x="3899811" y="812800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3">
            <a:extLst>
              <a:ext uri="{FF2B5EF4-FFF2-40B4-BE49-F238E27FC236}">
                <a16:creationId xmlns:a16="http://schemas.microsoft.com/office/drawing/2014/main" id="{3072EFD4-DB08-4EEF-1798-A05E72A7F071}"/>
              </a:ext>
            </a:extLst>
          </p:cNvPr>
          <p:cNvSpPr/>
          <p:nvPr/>
        </p:nvSpPr>
        <p:spPr>
          <a:xfrm>
            <a:off x="4047644" y="8981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详情分析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sp>
        <p:nvSpPr>
          <p:cNvPr id="14" name="AutoShape 11">
            <a:extLst>
              <a:ext uri="{FF2B5EF4-FFF2-40B4-BE49-F238E27FC236}">
                <a16:creationId xmlns:a16="http://schemas.microsoft.com/office/drawing/2014/main" id="{EA617FA3-1C14-D587-D8CC-7EAB19A06A30}"/>
              </a:ext>
            </a:extLst>
          </p:cNvPr>
          <p:cNvSpPr/>
          <p:nvPr/>
        </p:nvSpPr>
        <p:spPr>
          <a:xfrm>
            <a:off x="2407093" y="91242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市场总览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28648DC-AAF6-5D24-8973-C83E83F3A9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087924"/>
              </p:ext>
            </p:extLst>
          </p:nvPr>
        </p:nvGraphicFramePr>
        <p:xfrm>
          <a:off x="3036673" y="2279650"/>
          <a:ext cx="3721100" cy="876300"/>
        </p:xfrm>
        <a:graphic>
          <a:graphicData uri="http://schemas.openxmlformats.org/drawingml/2006/table">
            <a:tbl>
              <a:tblPr/>
              <a:tblGrid>
                <a:gridCol w="930275">
                  <a:extLst>
                    <a:ext uri="{9D8B030D-6E8A-4147-A177-3AD203B41FA5}">
                      <a16:colId xmlns:a16="http://schemas.microsoft.com/office/drawing/2014/main" val="1447535226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713488200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1463587908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420613421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机组编号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日前市场中标出力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(MW)/</a:t>
                      </a: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中标均价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/MWh)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时段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时段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7290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Thermal_1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中标出力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MW)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555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555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31521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Thermal_2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中标出力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MW)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555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555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09508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8B452F20-231E-AAF7-4B10-395AE6B651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63231"/>
              </p:ext>
            </p:extLst>
          </p:nvPr>
        </p:nvGraphicFramePr>
        <p:xfrm>
          <a:off x="3036673" y="4216400"/>
          <a:ext cx="3721100" cy="868680"/>
        </p:xfrm>
        <a:graphic>
          <a:graphicData uri="http://schemas.openxmlformats.org/drawingml/2006/table">
            <a:tbl>
              <a:tblPr/>
              <a:tblGrid>
                <a:gridCol w="930275">
                  <a:extLst>
                    <a:ext uri="{9D8B030D-6E8A-4147-A177-3AD203B41FA5}">
                      <a16:colId xmlns:a16="http://schemas.microsoft.com/office/drawing/2014/main" val="1447535226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713488200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1463587908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420613421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机组编号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中标容量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(MW)/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中标均价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元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/MWh)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时段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时段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7290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Thermal_1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中标容量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31521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Thermal_2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中标容量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09508"/>
                  </a:ext>
                </a:extLst>
              </a:tr>
            </a:tbl>
          </a:graphicData>
        </a:graphic>
      </p:graphicFrame>
      <p:pic>
        <p:nvPicPr>
          <p:cNvPr id="17" name="Picture 6">
            <a:extLst>
              <a:ext uri="{FF2B5EF4-FFF2-40B4-BE49-F238E27FC236}">
                <a16:creationId xmlns:a16="http://schemas.microsoft.com/office/drawing/2014/main" id="{70137787-1546-889A-7F6E-340BDBEC5F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" y="2429016"/>
            <a:ext cx="203200" cy="203200"/>
          </a:xfrm>
          <a:prstGeom prst="rect">
            <a:avLst/>
          </a:prstGeom>
        </p:spPr>
      </p:pic>
      <p:sp>
        <p:nvSpPr>
          <p:cNvPr id="29" name="AutoShape 7">
            <a:extLst>
              <a:ext uri="{FF2B5EF4-FFF2-40B4-BE49-F238E27FC236}">
                <a16:creationId xmlns:a16="http://schemas.microsoft.com/office/drawing/2014/main" id="{7AEAC4B8-6BFE-4824-2381-94561C2C4A7D}"/>
              </a:ext>
            </a:extLst>
          </p:cNvPr>
          <p:cNvSpPr/>
          <p:nvPr/>
        </p:nvSpPr>
        <p:spPr>
          <a:xfrm>
            <a:off x="965200" y="23782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信息披露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pic>
        <p:nvPicPr>
          <p:cNvPr id="30" name="Picture 8">
            <a:extLst>
              <a:ext uri="{FF2B5EF4-FFF2-40B4-BE49-F238E27FC236}">
                <a16:creationId xmlns:a16="http://schemas.microsoft.com/office/drawing/2014/main" id="{9AC1A829-D283-7441-9B60-87E75782B9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1440873"/>
            <a:ext cx="203200" cy="203200"/>
          </a:xfrm>
          <a:prstGeom prst="rect">
            <a:avLst/>
          </a:prstGeom>
        </p:spPr>
      </p:pic>
      <p:sp>
        <p:nvSpPr>
          <p:cNvPr id="31" name="AutoShape 9">
            <a:extLst>
              <a:ext uri="{FF2B5EF4-FFF2-40B4-BE49-F238E27FC236}">
                <a16:creationId xmlns:a16="http://schemas.microsoft.com/office/drawing/2014/main" id="{C89DB12B-D9C3-8697-4B1F-755D9F3E6067}"/>
              </a:ext>
            </a:extLst>
          </p:cNvPr>
          <p:cNvSpPr/>
          <p:nvPr/>
        </p:nvSpPr>
        <p:spPr>
          <a:xfrm>
            <a:off x="965200" y="13900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企业信息</a:t>
            </a:r>
            <a:endParaRPr lang="en-US" sz="1100" dirty="0"/>
          </a:p>
        </p:txBody>
      </p:sp>
      <p:sp>
        <p:nvSpPr>
          <p:cNvPr id="32" name="AutoShape 5">
            <a:extLst>
              <a:ext uri="{FF2B5EF4-FFF2-40B4-BE49-F238E27FC236}">
                <a16:creationId xmlns:a16="http://schemas.microsoft.com/office/drawing/2014/main" id="{0BFA5E1B-9135-73E6-0BDB-C9A54FEFBFFF}"/>
              </a:ext>
            </a:extLst>
          </p:cNvPr>
          <p:cNvSpPr/>
          <p:nvPr/>
        </p:nvSpPr>
        <p:spPr>
          <a:xfrm>
            <a:off x="508000" y="3343416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3" name="Picture 10">
            <a:extLst>
              <a:ext uri="{FF2B5EF4-FFF2-40B4-BE49-F238E27FC236}">
                <a16:creationId xmlns:a16="http://schemas.microsoft.com/office/drawing/2014/main" id="{9D23ED49-1FBF-0888-0D19-B8E5D17507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" y="2962416"/>
            <a:ext cx="203200" cy="203200"/>
          </a:xfrm>
          <a:prstGeom prst="rect">
            <a:avLst/>
          </a:prstGeom>
        </p:spPr>
      </p:pic>
      <p:sp>
        <p:nvSpPr>
          <p:cNvPr id="36" name="AutoShape 11">
            <a:extLst>
              <a:ext uri="{FF2B5EF4-FFF2-40B4-BE49-F238E27FC236}">
                <a16:creationId xmlns:a16="http://schemas.microsoft.com/office/drawing/2014/main" id="{0F8DF478-5E5B-B505-8E19-F606A1A5D028}"/>
              </a:ext>
            </a:extLst>
          </p:cNvPr>
          <p:cNvSpPr/>
          <p:nvPr/>
        </p:nvSpPr>
        <p:spPr>
          <a:xfrm>
            <a:off x="965200" y="29116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市场交易</a:t>
            </a:r>
            <a:endParaRPr lang="en-US" sz="1100" dirty="0"/>
          </a:p>
        </p:txBody>
      </p:sp>
      <p:pic>
        <p:nvPicPr>
          <p:cNvPr id="47" name="Picture 12">
            <a:extLst>
              <a:ext uri="{FF2B5EF4-FFF2-40B4-BE49-F238E27FC236}">
                <a16:creationId xmlns:a16="http://schemas.microsoft.com/office/drawing/2014/main" id="{8F6D0AEF-BEEF-FD87-9E9E-31A2EE0C0E4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" y="3470416"/>
            <a:ext cx="203200" cy="203200"/>
          </a:xfrm>
          <a:prstGeom prst="rect">
            <a:avLst/>
          </a:prstGeom>
        </p:spPr>
      </p:pic>
      <p:sp>
        <p:nvSpPr>
          <p:cNvPr id="48" name="AutoShape 13">
            <a:extLst>
              <a:ext uri="{FF2B5EF4-FFF2-40B4-BE49-F238E27FC236}">
                <a16:creationId xmlns:a16="http://schemas.microsoft.com/office/drawing/2014/main" id="{4F76CF14-6BDE-6B33-D593-479BCC9349CA}"/>
              </a:ext>
            </a:extLst>
          </p:cNvPr>
          <p:cNvSpPr/>
          <p:nvPr/>
        </p:nvSpPr>
        <p:spPr>
          <a:xfrm>
            <a:off x="965200" y="34196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结算报告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sp>
        <p:nvSpPr>
          <p:cNvPr id="49" name="AutoShape 11">
            <a:extLst>
              <a:ext uri="{FF2B5EF4-FFF2-40B4-BE49-F238E27FC236}">
                <a16:creationId xmlns:a16="http://schemas.microsoft.com/office/drawing/2014/main" id="{D9BCD54B-874A-9B25-A740-FB4A3025C09E}"/>
              </a:ext>
            </a:extLst>
          </p:cNvPr>
          <p:cNvSpPr/>
          <p:nvPr/>
        </p:nvSpPr>
        <p:spPr>
          <a:xfrm>
            <a:off x="655833" y="4366158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理性报价结果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sp>
        <p:nvSpPr>
          <p:cNvPr id="50" name="AutoShape 11">
            <a:extLst>
              <a:ext uri="{FF2B5EF4-FFF2-40B4-BE49-F238E27FC236}">
                <a16:creationId xmlns:a16="http://schemas.microsoft.com/office/drawing/2014/main" id="{D7120854-CA91-659A-9FBF-DDC070431BB1}"/>
              </a:ext>
            </a:extLst>
          </p:cNvPr>
          <p:cNvSpPr/>
          <p:nvPr/>
        </p:nvSpPr>
        <p:spPr>
          <a:xfrm>
            <a:off x="655833" y="4728624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</a:rPr>
              <a:t>报价结果对比</a:t>
            </a:r>
            <a:endParaRPr lang="en-US" dirty="0">
              <a:solidFill>
                <a:srgbClr val="333333"/>
              </a:solidFill>
              <a:latin typeface="Noto Sans SC"/>
              <a:ea typeface="Noto Sans SC"/>
            </a:endParaRPr>
          </a:p>
        </p:txBody>
      </p:sp>
      <p:sp>
        <p:nvSpPr>
          <p:cNvPr id="51" name="AutoShape 5">
            <a:extLst>
              <a:ext uri="{FF2B5EF4-FFF2-40B4-BE49-F238E27FC236}">
                <a16:creationId xmlns:a16="http://schemas.microsoft.com/office/drawing/2014/main" id="{A3CD3E4B-3EFC-4442-33CE-247108185E67}"/>
              </a:ext>
            </a:extLst>
          </p:cNvPr>
          <p:cNvSpPr/>
          <p:nvPr/>
        </p:nvSpPr>
        <p:spPr>
          <a:xfrm>
            <a:off x="508000" y="3836094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" name="AutoShape 13">
            <a:extLst>
              <a:ext uri="{FF2B5EF4-FFF2-40B4-BE49-F238E27FC236}">
                <a16:creationId xmlns:a16="http://schemas.microsoft.com/office/drawing/2014/main" id="{A8AAE81B-4A8A-F784-FC5D-DB336F5BAD76}"/>
              </a:ext>
            </a:extLst>
          </p:cNvPr>
          <p:cNvSpPr/>
          <p:nvPr/>
        </p:nvSpPr>
        <p:spPr>
          <a:xfrm>
            <a:off x="655833" y="3921467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09EFF"/>
                </a:solidFill>
                <a:latin typeface="Noto Sans SC"/>
                <a:ea typeface="Noto Sans SC"/>
                <a:sym typeface="Noto Sans SC"/>
              </a:rPr>
              <a:t>自主报价结果</a:t>
            </a:r>
            <a:endParaRPr lang="en-US" b="1" dirty="0">
              <a:solidFill>
                <a:srgbClr val="409EFF"/>
              </a:solidFill>
              <a:latin typeface="Noto Sans SC"/>
              <a:ea typeface="Noto Sans SC"/>
            </a:endParaRPr>
          </a:p>
        </p:txBody>
      </p:sp>
      <p:sp>
        <p:nvSpPr>
          <p:cNvPr id="53" name="AutoShape 13">
            <a:extLst>
              <a:ext uri="{FF2B5EF4-FFF2-40B4-BE49-F238E27FC236}">
                <a16:creationId xmlns:a16="http://schemas.microsoft.com/office/drawing/2014/main" id="{63A71F91-F84E-3074-4E52-CF357731FC2B}"/>
              </a:ext>
            </a:extLst>
          </p:cNvPr>
          <p:cNvSpPr/>
          <p:nvPr/>
        </p:nvSpPr>
        <p:spPr>
          <a:xfrm>
            <a:off x="965200" y="1856091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成交历史</a:t>
            </a:r>
            <a:endParaRPr lang="en-US" sz="1100" dirty="0"/>
          </a:p>
        </p:txBody>
      </p:sp>
      <p:pic>
        <p:nvPicPr>
          <p:cNvPr id="54" name="Picture 14">
            <a:extLst>
              <a:ext uri="{FF2B5EF4-FFF2-40B4-BE49-F238E27FC236}">
                <a16:creationId xmlns:a16="http://schemas.microsoft.com/office/drawing/2014/main" id="{07BD4647-0007-EDFD-F555-96CDBA6BA4E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" y="1906891"/>
            <a:ext cx="203200" cy="203200"/>
          </a:xfrm>
          <a:prstGeom prst="rect">
            <a:avLst/>
          </a:prstGeom>
        </p:spPr>
      </p:pic>
      <p:sp>
        <p:nvSpPr>
          <p:cNvPr id="5" name="AutoShape 5">
            <a:extLst>
              <a:ext uri="{FF2B5EF4-FFF2-40B4-BE49-F238E27FC236}">
                <a16:creationId xmlns:a16="http://schemas.microsoft.com/office/drawing/2014/main" id="{38DC6450-6751-7D1A-434B-A8CF05638FED}"/>
              </a:ext>
            </a:extLst>
          </p:cNvPr>
          <p:cNvSpPr/>
          <p:nvPr/>
        </p:nvSpPr>
        <p:spPr>
          <a:xfrm>
            <a:off x="2496000" y="1367120"/>
            <a:ext cx="720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电能量市场中标结果</a:t>
            </a:r>
            <a:endParaRPr lang="zh-CN" altLang="en-US" sz="16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C68E87F5-2A70-679B-3BA3-2427E6586F71}"/>
              </a:ext>
            </a:extLst>
          </p:cNvPr>
          <p:cNvSpPr/>
          <p:nvPr/>
        </p:nvSpPr>
        <p:spPr>
          <a:xfrm>
            <a:off x="2496000" y="1730218"/>
            <a:ext cx="720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中标出力单位为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MW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，中标均价单位为元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/MWh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D8DCFE70-4231-D44F-2C6E-F71F5165550A}"/>
              </a:ext>
            </a:extLst>
          </p:cNvPr>
          <p:cNvSpPr/>
          <p:nvPr/>
        </p:nvSpPr>
        <p:spPr>
          <a:xfrm>
            <a:off x="2496000" y="3282374"/>
            <a:ext cx="720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辅助服务市场中标结果</a:t>
            </a:r>
            <a:endParaRPr lang="zh-CN" altLang="en-US" sz="16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024D021F-D027-F79B-FBD2-A43FBB3F9647}"/>
              </a:ext>
            </a:extLst>
          </p:cNvPr>
          <p:cNvSpPr/>
          <p:nvPr/>
        </p:nvSpPr>
        <p:spPr>
          <a:xfrm>
            <a:off x="2496000" y="3645472"/>
            <a:ext cx="720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中标容量单位为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MW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，中标均价单位为元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/MWh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62212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2089</TotalTime>
  <Words>3050</Words>
  <Application>Microsoft Office PowerPoint</Application>
  <PresentationFormat>宽屏</PresentationFormat>
  <Paragraphs>1252</Paragraphs>
  <Slides>27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33" baseType="lpstr">
      <vt:lpstr>Noto Sans SC</vt:lpstr>
      <vt:lpstr>等线</vt:lpstr>
      <vt:lpstr>宋体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hyy</dc:creator>
  <cp:lastModifiedBy>宇阳 何</cp:lastModifiedBy>
  <cp:revision>120</cp:revision>
  <dcterms:modified xsi:type="dcterms:W3CDTF">2026-02-14T08:00:15Z</dcterms:modified>
</cp:coreProperties>
</file>