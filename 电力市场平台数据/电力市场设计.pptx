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73" r:id="rId3"/>
    <p:sldId id="286" r:id="rId4"/>
    <p:sldId id="290" r:id="rId5"/>
    <p:sldId id="291" r:id="rId6"/>
    <p:sldId id="292" r:id="rId7"/>
    <p:sldId id="285" r:id="rId8"/>
    <p:sldId id="276" r:id="rId9"/>
    <p:sldId id="281" r:id="rId10"/>
    <p:sldId id="282" r:id="rId11"/>
    <p:sldId id="289" r:id="rId12"/>
    <p:sldId id="284" r:id="rId13"/>
    <p:sldId id="293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496" autoAdjust="0"/>
  </p:normalViewPr>
  <p:slideViewPr>
    <p:cSldViewPr snapToGrid="0">
      <p:cViewPr varScale="1">
        <p:scale>
          <a:sx n="67" d="100"/>
          <a:sy n="67" d="100"/>
        </p:scale>
        <p:origin x="24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hyy\Desktop\marketcorecodecalshortterm2025\Case\ROTS%2044\Output\ou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200" b="1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  <a:r>
              <a:rPr lang="zh-CN" altLang="en-US"/>
              <a:t>电力电量平衡表单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200" b="1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  <a:endParaRPr lang="en-US" altLang="zh-CN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LevelC_电力电量平衡表单!$A$4</c:f>
              <c:strCache>
                <c:ptCount val="1"/>
                <c:pt idx="0">
                  <c:v>火电功率</c:v>
                </c:pt>
              </c:strCache>
            </c:strRef>
          </c:tx>
          <c:spPr>
            <a:solidFill>
              <a:srgbClr val="FFA379"/>
            </a:solidFill>
            <a:ln>
              <a:noFill/>
            </a:ln>
            <a:effectLst/>
          </c:spPr>
          <c:invertIfNegative val="0"/>
          <c:val>
            <c:numRef>
              <c:f>LevelC_电力电量平衡表单!$B$4:$CS$4</c:f>
              <c:numCache>
                <c:formatCode>General</c:formatCode>
                <c:ptCount val="96"/>
                <c:pt idx="0">
                  <c:v>54.302462362</c:v>
                </c:pt>
                <c:pt idx="1">
                  <c:v>53.626591735557902</c:v>
                </c:pt>
                <c:pt idx="2">
                  <c:v>52.950721109115698</c:v>
                </c:pt>
                <c:pt idx="3">
                  <c:v>52.274850482673699</c:v>
                </c:pt>
                <c:pt idx="4">
                  <c:v>51.598979856231601</c:v>
                </c:pt>
                <c:pt idx="5">
                  <c:v>50.412669205789399</c:v>
                </c:pt>
                <c:pt idx="6">
                  <c:v>49.149792551747403</c:v>
                </c:pt>
                <c:pt idx="7">
                  <c:v>47.8869158977053</c:v>
                </c:pt>
                <c:pt idx="8">
                  <c:v>46.624039243663098</c:v>
                </c:pt>
                <c:pt idx="9">
                  <c:v>45.833730338294799</c:v>
                </c:pt>
                <c:pt idx="10">
                  <c:v>45.210210050105303</c:v>
                </c:pt>
                <c:pt idx="11">
                  <c:v>44.5866897619158</c:v>
                </c:pt>
                <c:pt idx="12">
                  <c:v>43.963169473726303</c:v>
                </c:pt>
                <c:pt idx="13">
                  <c:v>43.658762221368399</c:v>
                </c:pt>
                <c:pt idx="14">
                  <c:v>43.559499063473702</c:v>
                </c:pt>
                <c:pt idx="15">
                  <c:v>43.460235905578898</c:v>
                </c:pt>
                <c:pt idx="16">
                  <c:v>43.360972747684201</c:v>
                </c:pt>
                <c:pt idx="17">
                  <c:v>43.2785465239579</c:v>
                </c:pt>
                <c:pt idx="18">
                  <c:v>43.214487864778903</c:v>
                </c:pt>
                <c:pt idx="19">
                  <c:v>43.150429205599998</c:v>
                </c:pt>
                <c:pt idx="20">
                  <c:v>43.086370546421101</c:v>
                </c:pt>
                <c:pt idx="21">
                  <c:v>43.806339551915798</c:v>
                </c:pt>
                <c:pt idx="22">
                  <c:v>45.996360428673597</c:v>
                </c:pt>
                <c:pt idx="23">
                  <c:v>48.186381305431503</c:v>
                </c:pt>
                <c:pt idx="24">
                  <c:v>50.376402182189501</c:v>
                </c:pt>
                <c:pt idx="25">
                  <c:v>52.6211167551579</c:v>
                </c:pt>
                <c:pt idx="26">
                  <c:v>55.062728634484202</c:v>
                </c:pt>
                <c:pt idx="27">
                  <c:v>57.504340513810597</c:v>
                </c:pt>
                <c:pt idx="28">
                  <c:v>59.945952393136899</c:v>
                </c:pt>
                <c:pt idx="29">
                  <c:v>62.327643648084198</c:v>
                </c:pt>
                <c:pt idx="30">
                  <c:v>64.080168347052606</c:v>
                </c:pt>
                <c:pt idx="31">
                  <c:v>65.832693046021006</c:v>
                </c:pt>
                <c:pt idx="32">
                  <c:v>67.585217744989507</c:v>
                </c:pt>
                <c:pt idx="33">
                  <c:v>69.337742443957893</c:v>
                </c:pt>
                <c:pt idx="34">
                  <c:v>69.291297248863202</c:v>
                </c:pt>
                <c:pt idx="35">
                  <c:v>69.163080694947297</c:v>
                </c:pt>
                <c:pt idx="36">
                  <c:v>69.034864141031605</c:v>
                </c:pt>
                <c:pt idx="37">
                  <c:v>68.9066475871157</c:v>
                </c:pt>
                <c:pt idx="38">
                  <c:v>68.871349056</c:v>
                </c:pt>
                <c:pt idx="39">
                  <c:v>68.855612213894702</c:v>
                </c:pt>
                <c:pt idx="40">
                  <c:v>68.839875371789503</c:v>
                </c:pt>
                <c:pt idx="41">
                  <c:v>68.824138529684205</c:v>
                </c:pt>
                <c:pt idx="42">
                  <c:v>69.006227390989494</c:v>
                </c:pt>
                <c:pt idx="43">
                  <c:v>69.274864997536795</c:v>
                </c:pt>
                <c:pt idx="44">
                  <c:v>69.543502604084196</c:v>
                </c:pt>
                <c:pt idx="45">
                  <c:v>69.812140210631597</c:v>
                </c:pt>
                <c:pt idx="46">
                  <c:v>69.911833906842105</c:v>
                </c:pt>
                <c:pt idx="47">
                  <c:v>69.881570748947397</c:v>
                </c:pt>
                <c:pt idx="48">
                  <c:v>69.851307591052603</c:v>
                </c:pt>
                <c:pt idx="49">
                  <c:v>69.821044433157894</c:v>
                </c:pt>
                <c:pt idx="50">
                  <c:v>69.927623380526299</c:v>
                </c:pt>
                <c:pt idx="51">
                  <c:v>70.212097064736795</c:v>
                </c:pt>
                <c:pt idx="52">
                  <c:v>70.496570748947406</c:v>
                </c:pt>
                <c:pt idx="53">
                  <c:v>70.781044433157902</c:v>
                </c:pt>
                <c:pt idx="54">
                  <c:v>70.894141923641996</c:v>
                </c:pt>
                <c:pt idx="55">
                  <c:v>70.615522399894701</c:v>
                </c:pt>
                <c:pt idx="56">
                  <c:v>70.336902876147306</c:v>
                </c:pt>
                <c:pt idx="57">
                  <c:v>70.058283352399997</c:v>
                </c:pt>
                <c:pt idx="58">
                  <c:v>69.910873498463204</c:v>
                </c:pt>
                <c:pt idx="59">
                  <c:v>70.386709576126293</c:v>
                </c:pt>
                <c:pt idx="60">
                  <c:v>70.862545653789496</c:v>
                </c:pt>
                <c:pt idx="61">
                  <c:v>71.3383817314526</c:v>
                </c:pt>
                <c:pt idx="62">
                  <c:v>71.831077172736798</c:v>
                </c:pt>
                <c:pt idx="63">
                  <c:v>72.694678613684204</c:v>
                </c:pt>
                <c:pt idx="64">
                  <c:v>73.558280054631595</c:v>
                </c:pt>
                <c:pt idx="65">
                  <c:v>74.421881495578901</c:v>
                </c:pt>
                <c:pt idx="66">
                  <c:v>75.285482936526293</c:v>
                </c:pt>
                <c:pt idx="67">
                  <c:v>76.072458794063095</c:v>
                </c:pt>
                <c:pt idx="68">
                  <c:v>76.852136976989399</c:v>
                </c:pt>
                <c:pt idx="69">
                  <c:v>77.631815159915803</c:v>
                </c:pt>
                <c:pt idx="70">
                  <c:v>78.411493342842107</c:v>
                </c:pt>
                <c:pt idx="71">
                  <c:v>78.275935968420995</c:v>
                </c:pt>
                <c:pt idx="72">
                  <c:v>77.886146494736806</c:v>
                </c:pt>
                <c:pt idx="73">
                  <c:v>77.496357021052603</c:v>
                </c:pt>
                <c:pt idx="74">
                  <c:v>77.1065675473684</c:v>
                </c:pt>
                <c:pt idx="75">
                  <c:v>76.421256040421</c:v>
                </c:pt>
                <c:pt idx="76">
                  <c:v>75.578332782399997</c:v>
                </c:pt>
                <c:pt idx="77">
                  <c:v>74.735409524378994</c:v>
                </c:pt>
                <c:pt idx="78">
                  <c:v>73.892486266357807</c:v>
                </c:pt>
                <c:pt idx="79">
                  <c:v>73.027405970105207</c:v>
                </c:pt>
                <c:pt idx="80">
                  <c:v>72.142015055473706</c:v>
                </c:pt>
                <c:pt idx="81">
                  <c:v>71.256624140842106</c:v>
                </c:pt>
                <c:pt idx="82">
                  <c:v>70.371233226210506</c:v>
                </c:pt>
                <c:pt idx="83">
                  <c:v>69.015357396610597</c:v>
                </c:pt>
                <c:pt idx="84">
                  <c:v>66.927616143726297</c:v>
                </c:pt>
                <c:pt idx="85">
                  <c:v>64.839874890842097</c:v>
                </c:pt>
                <c:pt idx="86">
                  <c:v>62.752133637957897</c:v>
                </c:pt>
                <c:pt idx="87">
                  <c:v>60.708551136315798</c:v>
                </c:pt>
                <c:pt idx="88">
                  <c:v>58.790085096526397</c:v>
                </c:pt>
                <c:pt idx="89">
                  <c:v>56.871619056736897</c:v>
                </c:pt>
                <c:pt idx="90">
                  <c:v>54.953153016947297</c:v>
                </c:pt>
                <c:pt idx="91">
                  <c:v>53.011950135052601</c:v>
                </c:pt>
                <c:pt idx="92">
                  <c:v>50.919168305789398</c:v>
                </c:pt>
                <c:pt idx="93">
                  <c:v>48.826386476526203</c:v>
                </c:pt>
                <c:pt idx="94">
                  <c:v>46.733604647263199</c:v>
                </c:pt>
                <c:pt idx="95">
                  <c:v>44.640822817999997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B3-451D-8B29-0849DEB848C3}"/>
            </c:ext>
          </c:extLst>
        </c:ser>
        <c:ser>
          <c:idx val="1"/>
          <c:order val="1"/>
          <c:tx>
            <c:strRef>
              <c:f>LevelC_电力电量平衡表单!$A$5</c:f>
              <c:strCache>
                <c:ptCount val="1"/>
                <c:pt idx="0">
                  <c:v>库容式水电功率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val>
            <c:numRef>
              <c:f>LevelC_电力电量平衡表单!$B$5:$CS$5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B3-451D-8B29-0849DEB848C3}"/>
            </c:ext>
          </c:extLst>
        </c:ser>
        <c:ser>
          <c:idx val="2"/>
          <c:order val="2"/>
          <c:tx>
            <c:strRef>
              <c:f>LevelC_电力电量平衡表单!$A$6</c:f>
              <c:strCache>
                <c:ptCount val="1"/>
                <c:pt idx="0">
                  <c:v>径流式水电功率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val>
            <c:numRef>
              <c:f>LevelC_电力电量平衡表单!$B$6:$CS$6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8B3-451D-8B29-0849DEB848C3}"/>
            </c:ext>
          </c:extLst>
        </c:ser>
        <c:ser>
          <c:idx val="3"/>
          <c:order val="3"/>
          <c:tx>
            <c:strRef>
              <c:f>LevelC_电力电量平衡表单!$A$7</c:f>
              <c:strCache>
                <c:ptCount val="1"/>
                <c:pt idx="0">
                  <c:v>风电消纳功率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val>
            <c:numRef>
              <c:f>LevelC_电力电量平衡表单!$B$7:$CS$7</c:f>
              <c:numCache>
                <c:formatCode>General</c:formatCode>
                <c:ptCount val="96"/>
                <c:pt idx="0">
                  <c:v>1.67</c:v>
                </c:pt>
                <c:pt idx="1">
                  <c:v>1.53684210526316</c:v>
                </c:pt>
                <c:pt idx="2">
                  <c:v>1.4036842105263201</c:v>
                </c:pt>
                <c:pt idx="3">
                  <c:v>1.27052631578947</c:v>
                </c:pt>
                <c:pt idx="4">
                  <c:v>1.13736842105263</c:v>
                </c:pt>
                <c:pt idx="5">
                  <c:v>1.6905263157894701</c:v>
                </c:pt>
                <c:pt idx="6">
                  <c:v>2.34663157894737</c:v>
                </c:pt>
                <c:pt idx="7">
                  <c:v>3.0027368421052598</c:v>
                </c:pt>
                <c:pt idx="8">
                  <c:v>3.6588421052631599</c:v>
                </c:pt>
                <c:pt idx="9">
                  <c:v>4.14136842105263</c:v>
                </c:pt>
                <c:pt idx="10">
                  <c:v>4.5626315789473697</c:v>
                </c:pt>
                <c:pt idx="11">
                  <c:v>4.9838947368420996</c:v>
                </c:pt>
                <c:pt idx="12">
                  <c:v>5.4051578947368499</c:v>
                </c:pt>
                <c:pt idx="13">
                  <c:v>5.6304210526315801</c:v>
                </c:pt>
                <c:pt idx="14">
                  <c:v>5.7296842105263197</c:v>
                </c:pt>
                <c:pt idx="15">
                  <c:v>5.8289473684210504</c:v>
                </c:pt>
                <c:pt idx="16">
                  <c:v>5.9282105263157803</c:v>
                </c:pt>
                <c:pt idx="17">
                  <c:v>6.10736842105264</c:v>
                </c:pt>
                <c:pt idx="18">
                  <c:v>6.3736842105263101</c:v>
                </c:pt>
                <c:pt idx="19">
                  <c:v>6.64</c:v>
                </c:pt>
                <c:pt idx="20">
                  <c:v>6.9063157894736902</c:v>
                </c:pt>
                <c:pt idx="21">
                  <c:v>7.3031578947368399</c:v>
                </c:pt>
                <c:pt idx="22">
                  <c:v>7.94473684210526</c:v>
                </c:pt>
                <c:pt idx="23">
                  <c:v>8.5863157894736801</c:v>
                </c:pt>
                <c:pt idx="24">
                  <c:v>9.22789473684211</c:v>
                </c:pt>
                <c:pt idx="25">
                  <c:v>9.7257894736842108</c:v>
                </c:pt>
                <c:pt idx="26">
                  <c:v>9.7064210526315797</c:v>
                </c:pt>
                <c:pt idx="27">
                  <c:v>9.6870526315789505</c:v>
                </c:pt>
                <c:pt idx="28">
                  <c:v>9.6676842105263194</c:v>
                </c:pt>
                <c:pt idx="29">
                  <c:v>9.64663157894738</c:v>
                </c:pt>
                <c:pt idx="30">
                  <c:v>9.6078947368421108</c:v>
                </c:pt>
                <c:pt idx="31">
                  <c:v>9.5691578947368505</c:v>
                </c:pt>
                <c:pt idx="32">
                  <c:v>9.5304210526315796</c:v>
                </c:pt>
                <c:pt idx="33">
                  <c:v>9.4916842105263193</c:v>
                </c:pt>
                <c:pt idx="34">
                  <c:v>9.5201052631578893</c:v>
                </c:pt>
                <c:pt idx="35">
                  <c:v>9.5515789473684301</c:v>
                </c:pt>
                <c:pt idx="36">
                  <c:v>9.5830526315789495</c:v>
                </c:pt>
                <c:pt idx="37">
                  <c:v>9.6145263157894796</c:v>
                </c:pt>
                <c:pt idx="38">
                  <c:v>9.3640000000000008</c:v>
                </c:pt>
                <c:pt idx="39">
                  <c:v>9.05410526315789</c:v>
                </c:pt>
                <c:pt idx="40">
                  <c:v>8.7442105263157899</c:v>
                </c:pt>
                <c:pt idx="41">
                  <c:v>8.4343157894736898</c:v>
                </c:pt>
                <c:pt idx="42">
                  <c:v>7.9661052631578997</c:v>
                </c:pt>
                <c:pt idx="43">
                  <c:v>7.4286315789473703</c:v>
                </c:pt>
                <c:pt idx="44">
                  <c:v>6.8911578947368497</c:v>
                </c:pt>
                <c:pt idx="45">
                  <c:v>6.3536842105263096</c:v>
                </c:pt>
                <c:pt idx="46">
                  <c:v>5.9393684210526203</c:v>
                </c:pt>
                <c:pt idx="47">
                  <c:v>5.61978947368421</c:v>
                </c:pt>
                <c:pt idx="48">
                  <c:v>5.3002105263157899</c:v>
                </c:pt>
                <c:pt idx="49">
                  <c:v>4.9806315789473601</c:v>
                </c:pt>
                <c:pt idx="50">
                  <c:v>4.5642105263157902</c:v>
                </c:pt>
                <c:pt idx="51">
                  <c:v>4.0218947368421096</c:v>
                </c:pt>
                <c:pt idx="52">
                  <c:v>3.47957894736843</c:v>
                </c:pt>
                <c:pt idx="53">
                  <c:v>2.9372631578947299</c:v>
                </c:pt>
                <c:pt idx="54">
                  <c:v>2.7132631578947399</c:v>
                </c:pt>
                <c:pt idx="55">
                  <c:v>3.21684210526315</c:v>
                </c:pt>
                <c:pt idx="56">
                  <c:v>3.72042105263158</c:v>
                </c:pt>
                <c:pt idx="57">
                  <c:v>4.2240000000000002</c:v>
                </c:pt>
                <c:pt idx="58">
                  <c:v>4.6067368421052599</c:v>
                </c:pt>
                <c:pt idx="59">
                  <c:v>4.4154736842105198</c:v>
                </c:pt>
                <c:pt idx="60">
                  <c:v>4.2242105263157903</c:v>
                </c:pt>
                <c:pt idx="61">
                  <c:v>4.0329473684210502</c:v>
                </c:pt>
                <c:pt idx="62">
                  <c:v>3.87305263157895</c:v>
                </c:pt>
                <c:pt idx="63">
                  <c:v>4.4032631578947301</c:v>
                </c:pt>
                <c:pt idx="64">
                  <c:v>4.9334736842105302</c:v>
                </c:pt>
                <c:pt idx="65">
                  <c:v>5.4636842105263197</c:v>
                </c:pt>
                <c:pt idx="66">
                  <c:v>5.9938947368421003</c:v>
                </c:pt>
                <c:pt idx="67">
                  <c:v>5.7902105263157901</c:v>
                </c:pt>
                <c:pt idx="68">
                  <c:v>5.5166315789473703</c:v>
                </c:pt>
                <c:pt idx="69">
                  <c:v>5.2430526315789399</c:v>
                </c:pt>
                <c:pt idx="70">
                  <c:v>4.9694736842105396</c:v>
                </c:pt>
                <c:pt idx="71">
                  <c:v>5.2245263157894799</c:v>
                </c:pt>
                <c:pt idx="72">
                  <c:v>5.6264210526315797</c:v>
                </c:pt>
                <c:pt idx="73">
                  <c:v>6.0283157894736696</c:v>
                </c:pt>
                <c:pt idx="74">
                  <c:v>6.4302105263157898</c:v>
                </c:pt>
                <c:pt idx="75">
                  <c:v>6.5921052631579</c:v>
                </c:pt>
                <c:pt idx="76">
                  <c:v>6.6260000000000003</c:v>
                </c:pt>
                <c:pt idx="77">
                  <c:v>6.6598947368421104</c:v>
                </c:pt>
                <c:pt idx="78">
                  <c:v>6.6937894736842098</c:v>
                </c:pt>
                <c:pt idx="79">
                  <c:v>6.6443157894736897</c:v>
                </c:pt>
                <c:pt idx="80">
                  <c:v>6.51842105263158</c:v>
                </c:pt>
                <c:pt idx="81">
                  <c:v>6.3925263157894703</c:v>
                </c:pt>
                <c:pt idx="82">
                  <c:v>6.2666315789473703</c:v>
                </c:pt>
                <c:pt idx="83">
                  <c:v>6.3737894736841998</c:v>
                </c:pt>
                <c:pt idx="84">
                  <c:v>6.8434736842105304</c:v>
                </c:pt>
                <c:pt idx="85">
                  <c:v>7.3131578947368396</c:v>
                </c:pt>
                <c:pt idx="86">
                  <c:v>7.7828421052631596</c:v>
                </c:pt>
                <c:pt idx="87">
                  <c:v>8.1028421052631501</c:v>
                </c:pt>
                <c:pt idx="88">
                  <c:v>7.9987368421052603</c:v>
                </c:pt>
                <c:pt idx="89">
                  <c:v>7.8946315789473598</c:v>
                </c:pt>
                <c:pt idx="90">
                  <c:v>7.7905263157894797</c:v>
                </c:pt>
                <c:pt idx="91">
                  <c:v>7.7091578947368502</c:v>
                </c:pt>
                <c:pt idx="92">
                  <c:v>7.7793684210526397</c:v>
                </c:pt>
                <c:pt idx="93">
                  <c:v>7.8495789473684301</c:v>
                </c:pt>
                <c:pt idx="94">
                  <c:v>7.9197894736842001</c:v>
                </c:pt>
                <c:pt idx="95">
                  <c:v>7.99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8B3-451D-8B29-0849DEB848C3}"/>
            </c:ext>
          </c:extLst>
        </c:ser>
        <c:ser>
          <c:idx val="4"/>
          <c:order val="4"/>
          <c:tx>
            <c:strRef>
              <c:f>LevelC_电力电量平衡表单!$A$8</c:f>
              <c:strCache>
                <c:ptCount val="1"/>
                <c:pt idx="0">
                  <c:v>光伏消纳功率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val>
            <c:numRef>
              <c:f>LevelC_电力电量平衡表单!$B$8:$CS$8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1.0526315789473599E-3</c:v>
                </c:pt>
                <c:pt idx="26">
                  <c:v>5.8947368421052504E-3</c:v>
                </c:pt>
                <c:pt idx="27">
                  <c:v>1.0736842105263201E-2</c:v>
                </c:pt>
                <c:pt idx="28">
                  <c:v>1.5578947368421E-2</c:v>
                </c:pt>
                <c:pt idx="29">
                  <c:v>2.9263157894736901E-2</c:v>
                </c:pt>
                <c:pt idx="30">
                  <c:v>0.13578947368421099</c:v>
                </c:pt>
                <c:pt idx="31">
                  <c:v>0.24231578947368401</c:v>
                </c:pt>
                <c:pt idx="32">
                  <c:v>0.34884210526315801</c:v>
                </c:pt>
                <c:pt idx="33">
                  <c:v>0.45536842105263098</c:v>
                </c:pt>
                <c:pt idx="34">
                  <c:v>0.746</c:v>
                </c:pt>
                <c:pt idx="35">
                  <c:v>1.0449999999999999</c:v>
                </c:pt>
                <c:pt idx="36">
                  <c:v>1.3440000000000001</c:v>
                </c:pt>
                <c:pt idx="37">
                  <c:v>1.643</c:v>
                </c:pt>
                <c:pt idx="38">
                  <c:v>1.964</c:v>
                </c:pt>
                <c:pt idx="39">
                  <c:v>2.28963157894737</c:v>
                </c:pt>
                <c:pt idx="40">
                  <c:v>2.6152631578947299</c:v>
                </c:pt>
                <c:pt idx="41">
                  <c:v>2.9408947368420999</c:v>
                </c:pt>
                <c:pt idx="42">
                  <c:v>3.0863157894736801</c:v>
                </c:pt>
                <c:pt idx="43">
                  <c:v>3.1528947368421099</c:v>
                </c:pt>
                <c:pt idx="44">
                  <c:v>3.2194736842105298</c:v>
                </c:pt>
                <c:pt idx="45">
                  <c:v>3.2860526315789498</c:v>
                </c:pt>
                <c:pt idx="46">
                  <c:v>3.51273684210526</c:v>
                </c:pt>
                <c:pt idx="47">
                  <c:v>3.86257894736841</c:v>
                </c:pt>
                <c:pt idx="48">
                  <c:v>4.21242105263158</c:v>
                </c:pt>
                <c:pt idx="49">
                  <c:v>4.5622631578947397</c:v>
                </c:pt>
                <c:pt idx="50">
                  <c:v>4.8721052631578896</c:v>
                </c:pt>
                <c:pt idx="51">
                  <c:v>5.1299473684210497</c:v>
                </c:pt>
                <c:pt idx="52">
                  <c:v>5.3877894736842098</c:v>
                </c:pt>
                <c:pt idx="53">
                  <c:v>5.6456315789473699</c:v>
                </c:pt>
                <c:pt idx="54">
                  <c:v>5.6334210526315802</c:v>
                </c:pt>
                <c:pt idx="55">
                  <c:v>5.0039473684210503</c:v>
                </c:pt>
                <c:pt idx="56">
                  <c:v>4.3744736842105203</c:v>
                </c:pt>
                <c:pt idx="57">
                  <c:v>3.7450000000000001</c:v>
                </c:pt>
                <c:pt idx="58">
                  <c:v>3.21068421052632</c:v>
                </c:pt>
                <c:pt idx="59">
                  <c:v>3.1283684210526301</c:v>
                </c:pt>
                <c:pt idx="60">
                  <c:v>3.04605263157895</c:v>
                </c:pt>
                <c:pt idx="61">
                  <c:v>2.9637368421052699</c:v>
                </c:pt>
                <c:pt idx="62">
                  <c:v>2.8683684210526299</c:v>
                </c:pt>
                <c:pt idx="63">
                  <c:v>2.4858421052631501</c:v>
                </c:pt>
                <c:pt idx="64">
                  <c:v>2.10331578947368</c:v>
                </c:pt>
                <c:pt idx="65">
                  <c:v>1.72078947368422</c:v>
                </c:pt>
                <c:pt idx="66">
                  <c:v>1.3382631578947399</c:v>
                </c:pt>
                <c:pt idx="67">
                  <c:v>1.02757894736842</c:v>
                </c:pt>
                <c:pt idx="68">
                  <c:v>0.72373684210526301</c:v>
                </c:pt>
                <c:pt idx="69">
                  <c:v>0.41989473684210399</c:v>
                </c:pt>
                <c:pt idx="70">
                  <c:v>0.116052631578949</c:v>
                </c:pt>
                <c:pt idx="71">
                  <c:v>4.0526315789473702E-2</c:v>
                </c:pt>
                <c:pt idx="72">
                  <c:v>2.8421052631578899E-2</c:v>
                </c:pt>
                <c:pt idx="73">
                  <c:v>1.6315789473684301E-2</c:v>
                </c:pt>
                <c:pt idx="74">
                  <c:v>4.2105263157894797E-3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8B3-451D-8B29-0849DEB848C3}"/>
            </c:ext>
          </c:extLst>
        </c:ser>
        <c:ser>
          <c:idx val="5"/>
          <c:order val="5"/>
          <c:tx>
            <c:strRef>
              <c:f>LevelC_电力电量平衡表单!$A$9</c:f>
              <c:strCache>
                <c:ptCount val="1"/>
                <c:pt idx="0">
                  <c:v>抽水蓄能功率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val>
            <c:numRef>
              <c:f>LevelC_电力电量平衡表单!$B$9:$CS$9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8B3-451D-8B29-0849DEB848C3}"/>
            </c:ext>
          </c:extLst>
        </c:ser>
        <c:ser>
          <c:idx val="6"/>
          <c:order val="6"/>
          <c:tx>
            <c:strRef>
              <c:f>LevelC_电力电量平衡表单!$A$10</c:f>
              <c:strCache>
                <c:ptCount val="1"/>
                <c:pt idx="0">
                  <c:v>电化学储能功率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val>
            <c:numRef>
              <c:f>LevelC_电力电量平衡表单!$B$10:$CS$10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B3-451D-8B29-0849DEB848C3}"/>
            </c:ext>
          </c:extLst>
        </c:ser>
        <c:ser>
          <c:idx val="7"/>
          <c:order val="7"/>
          <c:tx>
            <c:strRef>
              <c:f>LevelC_电力电量平衡表单!$A$11</c:f>
              <c:strCache>
                <c:ptCount val="1"/>
                <c:pt idx="0">
                  <c:v>燃气功率</c:v>
                </c:pt>
              </c:strCache>
            </c:strRef>
          </c:tx>
          <c:spPr>
            <a:solidFill>
              <a:srgbClr val="FF5E3D"/>
            </a:solidFill>
            <a:ln>
              <a:noFill/>
            </a:ln>
            <a:effectLst/>
          </c:spPr>
          <c:invertIfNegative val="0"/>
          <c:val>
            <c:numRef>
              <c:f>LevelC_电力电量平衡表单!$B$11:$CS$11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8B3-451D-8B29-0849DEB848C3}"/>
            </c:ext>
          </c:extLst>
        </c:ser>
        <c:ser>
          <c:idx val="8"/>
          <c:order val="8"/>
          <c:tx>
            <c:strRef>
              <c:f>LevelC_电力电量平衡表单!$A$12</c:f>
              <c:strCache>
                <c:ptCount val="1"/>
                <c:pt idx="0">
                  <c:v>直流联络线功率</c:v>
                </c:pt>
              </c:strCache>
            </c:strRef>
          </c:tx>
          <c:spPr>
            <a:solidFill>
              <a:srgbClr val="D0CECE"/>
            </a:solidFill>
            <a:ln>
              <a:noFill/>
            </a:ln>
            <a:effectLst/>
          </c:spPr>
          <c:invertIfNegative val="0"/>
          <c:val>
            <c:numRef>
              <c:f>LevelC_电力电量平衡表单!$B$12:$CS$12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8B3-451D-8B29-0849DEB848C3}"/>
            </c:ext>
          </c:extLst>
        </c:ser>
        <c:ser>
          <c:idx val="9"/>
          <c:order val="9"/>
          <c:tx>
            <c:strRef>
              <c:f>LevelC_电力电量平衡表单!$A$13</c:f>
              <c:strCache>
                <c:ptCount val="1"/>
                <c:pt idx="0">
                  <c:v>交流联络线功率</c:v>
                </c:pt>
              </c:strCache>
            </c:strRef>
          </c:tx>
          <c:spPr>
            <a:solidFill>
              <a:srgbClr val="D0CECE"/>
            </a:solidFill>
            <a:ln>
              <a:noFill/>
            </a:ln>
            <a:effectLst/>
          </c:spPr>
          <c:invertIfNegative val="0"/>
          <c:val>
            <c:numRef>
              <c:f>LevelC_电力电量平衡表单!$B$13:$CS$13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8B3-451D-8B29-0849DEB848C3}"/>
            </c:ext>
          </c:extLst>
        </c:ser>
        <c:ser>
          <c:idx val="11"/>
          <c:order val="11"/>
          <c:tx>
            <c:strRef>
              <c:f>LevelC_电力电量平衡表单!$A$15</c:f>
              <c:strCache>
                <c:ptCount val="1"/>
                <c:pt idx="0">
                  <c:v>外送</c:v>
                </c:pt>
              </c:strCache>
            </c:strRef>
          </c:tx>
          <c:spPr>
            <a:solidFill>
              <a:srgbClr val="7F7F7F"/>
            </a:solidFill>
            <a:ln>
              <a:noFill/>
            </a:ln>
            <a:effectLst/>
          </c:spPr>
          <c:invertIfNegative val="0"/>
          <c:val>
            <c:numRef>
              <c:f>LevelC_电力电量平衡表单!$B$15:$CS$15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8B3-451D-8B29-0849DEB848C3}"/>
            </c:ext>
          </c:extLst>
        </c:ser>
        <c:ser>
          <c:idx val="13"/>
          <c:order val="13"/>
          <c:tx>
            <c:strRef>
              <c:f>LevelC_电力电量平衡表单!$A$17</c:f>
              <c:strCache>
                <c:ptCount val="1"/>
                <c:pt idx="0">
                  <c:v>弃风功率</c:v>
                </c:pt>
              </c:strCache>
            </c:strRef>
          </c:tx>
          <c:spPr>
            <a:pattFill prst="wdUpDiag">
              <a:fgClr>
                <a:srgbClr val="70AD47"/>
              </a:fgClr>
              <a:bgClr>
                <a:srgbClr val="FFFFFF"/>
              </a:bgClr>
            </a:pattFill>
            <a:ln w="12700" cmpd="sng">
              <a:noFill/>
              <a:prstDash val="solid"/>
            </a:ln>
            <a:effectLst/>
            <a:sp3d contourW="12700"/>
          </c:spPr>
          <c:invertIfNegative val="0"/>
          <c:val>
            <c:numRef>
              <c:f>LevelC_电力电量平衡表单!$B$17:$CS$17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8B3-451D-8B29-0849DEB848C3}"/>
            </c:ext>
          </c:extLst>
        </c:ser>
        <c:ser>
          <c:idx val="14"/>
          <c:order val="14"/>
          <c:tx>
            <c:strRef>
              <c:f>LevelC_电力电量平衡表单!$A$18</c:f>
              <c:strCache>
                <c:ptCount val="1"/>
                <c:pt idx="0">
                  <c:v>弃光功率</c:v>
                </c:pt>
              </c:strCache>
            </c:strRef>
          </c:tx>
          <c:spPr>
            <a:pattFill prst="wdUpDiag">
              <a:fgClr>
                <a:srgbClr val="FFC000"/>
              </a:fgClr>
              <a:bgClr>
                <a:srgbClr val="FFFFFF"/>
              </a:bgClr>
            </a:pattFill>
            <a:ln>
              <a:noFill/>
            </a:ln>
            <a:effectLst/>
          </c:spPr>
          <c:invertIfNegative val="0"/>
          <c:val>
            <c:numRef>
              <c:f>LevelC_电力电量平衡表单!$B$18:$CS$18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8B3-451D-8B29-0849DEB848C3}"/>
            </c:ext>
          </c:extLst>
        </c:ser>
        <c:ser>
          <c:idx val="15"/>
          <c:order val="15"/>
          <c:tx>
            <c:strRef>
              <c:f>LevelC_电力电量平衡表单!$A$19</c:f>
              <c:strCache>
                <c:ptCount val="1"/>
                <c:pt idx="0">
                  <c:v>弃水功率</c:v>
                </c:pt>
              </c:strCache>
            </c:strRef>
          </c:tx>
          <c:spPr>
            <a:solidFill>
              <a:schemeClr val="accent4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LevelC_电力电量平衡表单!$B$19:$CS$19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28B3-451D-8B29-0849DEB848C3}"/>
            </c:ext>
          </c:extLst>
        </c:ser>
        <c:ser>
          <c:idx val="16"/>
          <c:order val="16"/>
          <c:tx>
            <c:strRef>
              <c:f>LevelC_电力电量平衡表单!$A$20</c:f>
              <c:strCache>
                <c:ptCount val="1"/>
                <c:pt idx="0">
                  <c:v>切负荷功率</c:v>
                </c:pt>
              </c:strCache>
            </c:strRef>
          </c:tx>
          <c:spPr>
            <a:solidFill>
              <a:schemeClr val="accent5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LevelC_电力电量平衡表单!$B$20:$CS$20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8B3-451D-8B29-0849DEB848C3}"/>
            </c:ext>
          </c:extLst>
        </c:ser>
        <c:ser>
          <c:idx val="17"/>
          <c:order val="17"/>
          <c:tx>
            <c:strRef>
              <c:f>LevelC_电力电量平衡表单!$A$21</c:f>
              <c:strCache>
                <c:ptCount val="1"/>
                <c:pt idx="0">
                  <c:v>增负荷功率</c:v>
                </c:pt>
              </c:strCache>
            </c:strRef>
          </c:tx>
          <c:spPr>
            <a:solidFill>
              <a:schemeClr val="accent6">
                <a:lumMod val="80000"/>
                <a:lumOff val="20000"/>
              </a:schemeClr>
            </a:solidFill>
            <a:ln>
              <a:noFill/>
            </a:ln>
            <a:effectLst/>
          </c:spPr>
          <c:invertIfNegative val="0"/>
          <c:val>
            <c:numRef>
              <c:f>LevelC_电力电量平衡表单!$B$21:$CS$21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28B3-451D-8B29-0849DEB848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74879708"/>
        <c:axId val="645535607"/>
      </c:barChart>
      <c:lineChart>
        <c:grouping val="standard"/>
        <c:varyColors val="0"/>
        <c:ser>
          <c:idx val="10"/>
          <c:order val="10"/>
          <c:tx>
            <c:strRef>
              <c:f>LevelC_电力电量平衡表单!$A$14</c:f>
              <c:strCache>
                <c:ptCount val="1"/>
                <c:pt idx="0">
                  <c:v>负荷消耗功率</c:v>
                </c:pt>
              </c:strCache>
            </c:strRef>
          </c:tx>
          <c:spPr>
            <a:ln w="19050" cap="rnd">
              <a:solidFill>
                <a:srgbClr val="000000"/>
              </a:solidFill>
              <a:round/>
            </a:ln>
            <a:effectLst/>
          </c:spPr>
          <c:marker>
            <c:symbol val="none"/>
          </c:marker>
          <c:val>
            <c:numRef>
              <c:f>LevelC_电力电量平衡表单!$B$14:$CS$14</c:f>
              <c:numCache>
                <c:formatCode>General</c:formatCode>
                <c:ptCount val="96"/>
                <c:pt idx="0">
                  <c:v>55.972462362000002</c:v>
                </c:pt>
                <c:pt idx="1">
                  <c:v>55.163433840821099</c:v>
                </c:pt>
                <c:pt idx="2">
                  <c:v>54.354405319642098</c:v>
                </c:pt>
                <c:pt idx="3">
                  <c:v>53.545376798463103</c:v>
                </c:pt>
                <c:pt idx="4">
                  <c:v>52.7363482772842</c:v>
                </c:pt>
                <c:pt idx="5">
                  <c:v>52.103195521578897</c:v>
                </c:pt>
                <c:pt idx="6">
                  <c:v>51.496424130694798</c:v>
                </c:pt>
                <c:pt idx="7">
                  <c:v>50.889652739810501</c:v>
                </c:pt>
                <c:pt idx="8">
                  <c:v>50.282881348926303</c:v>
                </c:pt>
                <c:pt idx="9">
                  <c:v>49.975098759347397</c:v>
                </c:pt>
                <c:pt idx="10">
                  <c:v>49.7728416290526</c:v>
                </c:pt>
                <c:pt idx="11">
                  <c:v>49.570584498757903</c:v>
                </c:pt>
                <c:pt idx="12">
                  <c:v>49.368327368463099</c:v>
                </c:pt>
                <c:pt idx="13">
                  <c:v>49.289183274000003</c:v>
                </c:pt>
                <c:pt idx="14">
                  <c:v>49.289183274000003</c:v>
                </c:pt>
                <c:pt idx="15">
                  <c:v>49.289183274000003</c:v>
                </c:pt>
                <c:pt idx="16">
                  <c:v>49.289183274000003</c:v>
                </c:pt>
                <c:pt idx="17">
                  <c:v>49.385914945010498</c:v>
                </c:pt>
                <c:pt idx="18">
                  <c:v>49.588172075305202</c:v>
                </c:pt>
                <c:pt idx="19">
                  <c:v>49.790429205599999</c:v>
                </c:pt>
                <c:pt idx="20">
                  <c:v>49.992686335894803</c:v>
                </c:pt>
                <c:pt idx="21">
                  <c:v>51.109497446652597</c:v>
                </c:pt>
                <c:pt idx="22">
                  <c:v>53.941097270778897</c:v>
                </c:pt>
                <c:pt idx="23">
                  <c:v>56.772697094905197</c:v>
                </c:pt>
                <c:pt idx="24">
                  <c:v>59.604296919031597</c:v>
                </c:pt>
                <c:pt idx="25">
                  <c:v>62.347958860421102</c:v>
                </c:pt>
                <c:pt idx="26">
                  <c:v>64.775044423957894</c:v>
                </c:pt>
                <c:pt idx="27">
                  <c:v>67.2021299874948</c:v>
                </c:pt>
                <c:pt idx="28">
                  <c:v>69.629215551031606</c:v>
                </c:pt>
                <c:pt idx="29">
                  <c:v>72.003538384926301</c:v>
                </c:pt>
                <c:pt idx="30">
                  <c:v>73.823852557578903</c:v>
                </c:pt>
                <c:pt idx="31">
                  <c:v>75.644166730231504</c:v>
                </c:pt>
                <c:pt idx="32">
                  <c:v>77.464480902884205</c:v>
                </c:pt>
                <c:pt idx="33">
                  <c:v>79.284795075536806</c:v>
                </c:pt>
                <c:pt idx="34">
                  <c:v>79.557402512021099</c:v>
                </c:pt>
                <c:pt idx="35">
                  <c:v>79.759659642315796</c:v>
                </c:pt>
                <c:pt idx="36">
                  <c:v>79.961916772610493</c:v>
                </c:pt>
                <c:pt idx="37">
                  <c:v>80.164173902905205</c:v>
                </c:pt>
                <c:pt idx="38">
                  <c:v>80.199349056000003</c:v>
                </c:pt>
                <c:pt idx="39">
                  <c:v>80.199349056000003</c:v>
                </c:pt>
                <c:pt idx="40">
                  <c:v>80.199349056000003</c:v>
                </c:pt>
                <c:pt idx="41">
                  <c:v>80.199349056000003</c:v>
                </c:pt>
                <c:pt idx="42">
                  <c:v>80.058648443621095</c:v>
                </c:pt>
                <c:pt idx="43">
                  <c:v>79.856391313326299</c:v>
                </c:pt>
                <c:pt idx="44">
                  <c:v>79.654134183031502</c:v>
                </c:pt>
                <c:pt idx="45">
                  <c:v>79.451877052736805</c:v>
                </c:pt>
                <c:pt idx="46">
                  <c:v>79.363939169999995</c:v>
                </c:pt>
                <c:pt idx="47">
                  <c:v>79.363939169999995</c:v>
                </c:pt>
                <c:pt idx="48">
                  <c:v>79.363939169999995</c:v>
                </c:pt>
                <c:pt idx="49">
                  <c:v>79.363939169999995</c:v>
                </c:pt>
                <c:pt idx="50">
                  <c:v>79.363939169999995</c:v>
                </c:pt>
                <c:pt idx="51">
                  <c:v>79.363939169999995</c:v>
                </c:pt>
                <c:pt idx="52">
                  <c:v>79.363939169999995</c:v>
                </c:pt>
                <c:pt idx="53">
                  <c:v>79.363939169999995</c:v>
                </c:pt>
                <c:pt idx="54">
                  <c:v>79.240826134168401</c:v>
                </c:pt>
                <c:pt idx="55">
                  <c:v>78.836311873578893</c:v>
                </c:pt>
                <c:pt idx="56">
                  <c:v>78.431797612989499</c:v>
                </c:pt>
                <c:pt idx="57">
                  <c:v>78.027283352400005</c:v>
                </c:pt>
                <c:pt idx="58">
                  <c:v>77.728294551094805</c:v>
                </c:pt>
                <c:pt idx="59">
                  <c:v>77.930551681389503</c:v>
                </c:pt>
                <c:pt idx="60">
                  <c:v>78.1328088116842</c:v>
                </c:pt>
                <c:pt idx="61">
                  <c:v>78.335065941978897</c:v>
                </c:pt>
                <c:pt idx="62">
                  <c:v>78.572498225368406</c:v>
                </c:pt>
                <c:pt idx="63">
                  <c:v>79.583783876842105</c:v>
                </c:pt>
                <c:pt idx="64">
                  <c:v>80.595069528315804</c:v>
                </c:pt>
                <c:pt idx="65">
                  <c:v>81.606355179789404</c:v>
                </c:pt>
                <c:pt idx="66">
                  <c:v>82.617640831263202</c:v>
                </c:pt>
                <c:pt idx="67">
                  <c:v>82.890248267747396</c:v>
                </c:pt>
                <c:pt idx="68">
                  <c:v>83.092505398042107</c:v>
                </c:pt>
                <c:pt idx="69">
                  <c:v>83.294762528336804</c:v>
                </c:pt>
                <c:pt idx="70">
                  <c:v>83.497019658631601</c:v>
                </c:pt>
                <c:pt idx="71">
                  <c:v>83.540988600000006</c:v>
                </c:pt>
                <c:pt idx="72">
                  <c:v>83.540988600000006</c:v>
                </c:pt>
                <c:pt idx="73">
                  <c:v>83.540988600000006</c:v>
                </c:pt>
                <c:pt idx="74">
                  <c:v>83.540988600000006</c:v>
                </c:pt>
                <c:pt idx="75">
                  <c:v>83.013361303578904</c:v>
                </c:pt>
                <c:pt idx="76">
                  <c:v>82.204332782400002</c:v>
                </c:pt>
                <c:pt idx="77">
                  <c:v>81.395304261221099</c:v>
                </c:pt>
                <c:pt idx="78">
                  <c:v>80.586275740042097</c:v>
                </c:pt>
                <c:pt idx="79">
                  <c:v>79.671721759578901</c:v>
                </c:pt>
                <c:pt idx="80">
                  <c:v>78.660436108105202</c:v>
                </c:pt>
                <c:pt idx="81">
                  <c:v>77.649150456631503</c:v>
                </c:pt>
                <c:pt idx="82">
                  <c:v>76.637864805157903</c:v>
                </c:pt>
                <c:pt idx="83">
                  <c:v>75.389146870294795</c:v>
                </c:pt>
                <c:pt idx="84">
                  <c:v>73.771089827936805</c:v>
                </c:pt>
                <c:pt idx="85">
                  <c:v>72.153032785578901</c:v>
                </c:pt>
                <c:pt idx="86">
                  <c:v>70.534975743221096</c:v>
                </c:pt>
                <c:pt idx="87">
                  <c:v>68.811393241578898</c:v>
                </c:pt>
                <c:pt idx="88">
                  <c:v>66.7888219386316</c:v>
                </c:pt>
                <c:pt idx="89">
                  <c:v>64.766250635684202</c:v>
                </c:pt>
                <c:pt idx="90">
                  <c:v>62.743679332736903</c:v>
                </c:pt>
                <c:pt idx="91">
                  <c:v>60.721108029789399</c:v>
                </c:pt>
                <c:pt idx="92">
                  <c:v>58.6985367268421</c:v>
                </c:pt>
                <c:pt idx="93">
                  <c:v>56.675965423894702</c:v>
                </c:pt>
                <c:pt idx="94">
                  <c:v>54.653394120947397</c:v>
                </c:pt>
                <c:pt idx="95">
                  <c:v>52.630822817999999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0-28B3-451D-8B29-0849DEB848C3}"/>
            </c:ext>
          </c:extLst>
        </c:ser>
        <c:ser>
          <c:idx val="12"/>
          <c:order val="12"/>
          <c:tx>
            <c:strRef>
              <c:f>LevelC_电力电量平衡表单!$A$16</c:f>
              <c:strCache>
                <c:ptCount val="1"/>
                <c:pt idx="0">
                  <c:v>总负荷功率</c:v>
                </c:pt>
              </c:strCache>
            </c:strRef>
          </c:tx>
          <c:spPr>
            <a:ln w="19050" cap="rnd">
              <a:solidFill>
                <a:srgbClr val="000000"/>
              </a:solidFill>
              <a:round/>
            </a:ln>
            <a:effectLst/>
          </c:spPr>
          <c:marker>
            <c:symbol val="none"/>
          </c:marker>
          <c:val>
            <c:numRef>
              <c:f>LevelC_电力电量平衡表单!$B$16:$CS$16</c:f>
              <c:numCache>
                <c:formatCode>General</c:formatCode>
                <c:ptCount val="96"/>
                <c:pt idx="0">
                  <c:v>55.972462362000002</c:v>
                </c:pt>
                <c:pt idx="1">
                  <c:v>55.163433840821099</c:v>
                </c:pt>
                <c:pt idx="2">
                  <c:v>54.354405319642098</c:v>
                </c:pt>
                <c:pt idx="3">
                  <c:v>53.545376798463103</c:v>
                </c:pt>
                <c:pt idx="4">
                  <c:v>52.7363482772842</c:v>
                </c:pt>
                <c:pt idx="5">
                  <c:v>52.103195521578897</c:v>
                </c:pt>
                <c:pt idx="6">
                  <c:v>51.496424130694798</c:v>
                </c:pt>
                <c:pt idx="7">
                  <c:v>50.889652739810501</c:v>
                </c:pt>
                <c:pt idx="8">
                  <c:v>50.282881348926303</c:v>
                </c:pt>
                <c:pt idx="9">
                  <c:v>49.975098759347397</c:v>
                </c:pt>
                <c:pt idx="10">
                  <c:v>49.7728416290526</c:v>
                </c:pt>
                <c:pt idx="11">
                  <c:v>49.570584498757903</c:v>
                </c:pt>
                <c:pt idx="12">
                  <c:v>49.368327368463099</c:v>
                </c:pt>
                <c:pt idx="13">
                  <c:v>49.289183274000003</c:v>
                </c:pt>
                <c:pt idx="14">
                  <c:v>49.289183274000003</c:v>
                </c:pt>
                <c:pt idx="15">
                  <c:v>49.289183274000003</c:v>
                </c:pt>
                <c:pt idx="16">
                  <c:v>49.289183274000003</c:v>
                </c:pt>
                <c:pt idx="17">
                  <c:v>49.385914945010498</c:v>
                </c:pt>
                <c:pt idx="18">
                  <c:v>49.588172075305202</c:v>
                </c:pt>
                <c:pt idx="19">
                  <c:v>49.790429205599999</c:v>
                </c:pt>
                <c:pt idx="20">
                  <c:v>49.992686335894803</c:v>
                </c:pt>
                <c:pt idx="21">
                  <c:v>51.109497446652597</c:v>
                </c:pt>
                <c:pt idx="22">
                  <c:v>53.941097270778897</c:v>
                </c:pt>
                <c:pt idx="23">
                  <c:v>56.772697094905197</c:v>
                </c:pt>
                <c:pt idx="24">
                  <c:v>59.604296919031597</c:v>
                </c:pt>
                <c:pt idx="25">
                  <c:v>62.347958860421102</c:v>
                </c:pt>
                <c:pt idx="26">
                  <c:v>64.775044423957894</c:v>
                </c:pt>
                <c:pt idx="27">
                  <c:v>67.2021299874948</c:v>
                </c:pt>
                <c:pt idx="28">
                  <c:v>69.629215551031606</c:v>
                </c:pt>
                <c:pt idx="29">
                  <c:v>72.003538384926301</c:v>
                </c:pt>
                <c:pt idx="30">
                  <c:v>73.823852557578903</c:v>
                </c:pt>
                <c:pt idx="31">
                  <c:v>75.644166730231504</c:v>
                </c:pt>
                <c:pt idx="32">
                  <c:v>77.464480902884205</c:v>
                </c:pt>
                <c:pt idx="33">
                  <c:v>79.284795075536806</c:v>
                </c:pt>
                <c:pt idx="34">
                  <c:v>79.557402512021099</c:v>
                </c:pt>
                <c:pt idx="35">
                  <c:v>79.759659642315796</c:v>
                </c:pt>
                <c:pt idx="36">
                  <c:v>79.961916772610493</c:v>
                </c:pt>
                <c:pt idx="37">
                  <c:v>80.164173902905205</c:v>
                </c:pt>
                <c:pt idx="38">
                  <c:v>80.199349056000003</c:v>
                </c:pt>
                <c:pt idx="39">
                  <c:v>80.199349056000003</c:v>
                </c:pt>
                <c:pt idx="40">
                  <c:v>80.199349056000003</c:v>
                </c:pt>
                <c:pt idx="41">
                  <c:v>80.199349056000003</c:v>
                </c:pt>
                <c:pt idx="42">
                  <c:v>80.058648443621095</c:v>
                </c:pt>
                <c:pt idx="43">
                  <c:v>79.856391313326299</c:v>
                </c:pt>
                <c:pt idx="44">
                  <c:v>79.654134183031502</c:v>
                </c:pt>
                <c:pt idx="45">
                  <c:v>79.451877052736805</c:v>
                </c:pt>
                <c:pt idx="46">
                  <c:v>79.363939169999995</c:v>
                </c:pt>
                <c:pt idx="47">
                  <c:v>79.363939169999995</c:v>
                </c:pt>
                <c:pt idx="48">
                  <c:v>79.363939169999995</c:v>
                </c:pt>
                <c:pt idx="49">
                  <c:v>79.363939169999995</c:v>
                </c:pt>
                <c:pt idx="50">
                  <c:v>79.363939169999995</c:v>
                </c:pt>
                <c:pt idx="51">
                  <c:v>79.363939169999995</c:v>
                </c:pt>
                <c:pt idx="52">
                  <c:v>79.363939169999995</c:v>
                </c:pt>
                <c:pt idx="53">
                  <c:v>79.363939169999995</c:v>
                </c:pt>
                <c:pt idx="54">
                  <c:v>79.240826134168401</c:v>
                </c:pt>
                <c:pt idx="55">
                  <c:v>78.836311873578893</c:v>
                </c:pt>
                <c:pt idx="56">
                  <c:v>78.431797612989499</c:v>
                </c:pt>
                <c:pt idx="57">
                  <c:v>78.027283352400005</c:v>
                </c:pt>
                <c:pt idx="58">
                  <c:v>77.728294551094805</c:v>
                </c:pt>
                <c:pt idx="59">
                  <c:v>77.930551681389503</c:v>
                </c:pt>
                <c:pt idx="60">
                  <c:v>78.1328088116842</c:v>
                </c:pt>
                <c:pt idx="61">
                  <c:v>78.335065941978897</c:v>
                </c:pt>
                <c:pt idx="62">
                  <c:v>78.572498225368406</c:v>
                </c:pt>
                <c:pt idx="63">
                  <c:v>79.583783876842105</c:v>
                </c:pt>
                <c:pt idx="64">
                  <c:v>80.595069528315804</c:v>
                </c:pt>
                <c:pt idx="65">
                  <c:v>81.606355179789404</c:v>
                </c:pt>
                <c:pt idx="66">
                  <c:v>82.617640831263202</c:v>
                </c:pt>
                <c:pt idx="67">
                  <c:v>82.890248267747396</c:v>
                </c:pt>
                <c:pt idx="68">
                  <c:v>83.092505398042107</c:v>
                </c:pt>
                <c:pt idx="69">
                  <c:v>83.294762528336804</c:v>
                </c:pt>
                <c:pt idx="70">
                  <c:v>83.497019658631601</c:v>
                </c:pt>
                <c:pt idx="71">
                  <c:v>83.540988600000006</c:v>
                </c:pt>
                <c:pt idx="72">
                  <c:v>83.540988600000006</c:v>
                </c:pt>
                <c:pt idx="73">
                  <c:v>83.540988600000006</c:v>
                </c:pt>
                <c:pt idx="74">
                  <c:v>83.540988600000006</c:v>
                </c:pt>
                <c:pt idx="75">
                  <c:v>83.013361303578904</c:v>
                </c:pt>
                <c:pt idx="76">
                  <c:v>82.204332782400002</c:v>
                </c:pt>
                <c:pt idx="77">
                  <c:v>81.395304261221099</c:v>
                </c:pt>
                <c:pt idx="78">
                  <c:v>80.586275740042097</c:v>
                </c:pt>
                <c:pt idx="79">
                  <c:v>79.671721759578901</c:v>
                </c:pt>
                <c:pt idx="80">
                  <c:v>78.660436108105202</c:v>
                </c:pt>
                <c:pt idx="81">
                  <c:v>77.649150456631503</c:v>
                </c:pt>
                <c:pt idx="82">
                  <c:v>76.637864805157903</c:v>
                </c:pt>
                <c:pt idx="83">
                  <c:v>75.389146870294795</c:v>
                </c:pt>
                <c:pt idx="84">
                  <c:v>73.771089827936805</c:v>
                </c:pt>
                <c:pt idx="85">
                  <c:v>72.153032785578901</c:v>
                </c:pt>
                <c:pt idx="86">
                  <c:v>70.534975743221096</c:v>
                </c:pt>
                <c:pt idx="87">
                  <c:v>68.811393241578898</c:v>
                </c:pt>
                <c:pt idx="88">
                  <c:v>66.7888219386316</c:v>
                </c:pt>
                <c:pt idx="89">
                  <c:v>64.766250635684202</c:v>
                </c:pt>
                <c:pt idx="90">
                  <c:v>62.743679332736903</c:v>
                </c:pt>
                <c:pt idx="91">
                  <c:v>60.721108029789399</c:v>
                </c:pt>
                <c:pt idx="92">
                  <c:v>58.6985367268421</c:v>
                </c:pt>
                <c:pt idx="93">
                  <c:v>56.675965423894702</c:v>
                </c:pt>
                <c:pt idx="94">
                  <c:v>54.653394120947397</c:v>
                </c:pt>
                <c:pt idx="95">
                  <c:v>52.630822817999999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1-28B3-451D-8B29-0849DEB848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4879708"/>
        <c:axId val="645535607"/>
      </c:lineChart>
      <c:catAx>
        <c:axId val="74879708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lang="zh-CN" altLang="en-US"/>
                  <a:t>时段</a:t>
                </a:r>
                <a:r>
                  <a:rPr lang="en-US" altLang="zh-CN"/>
                  <a:t>/15min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anchor="ctr" anchorCtr="1"/>
            <a:lstStyle/>
            <a:p>
              <a:pPr defTabSz="914400">
                <a:defRPr lang="zh-CN" sz="1000" b="0" i="0" u="none" strike="noStrike" kern="1200" baseline="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defRPr>
              </a:pPr>
              <a:endParaRPr lang="en-US" altLang="zh-CN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  <a:endParaRPr lang="zh-CN"/>
          </a:p>
        </c:txPr>
        <c:crossAx val="645535607"/>
        <c:crosses val="autoZero"/>
        <c:auto val="1"/>
        <c:lblAlgn val="ctr"/>
        <c:lblOffset val="100"/>
        <c:noMultiLvlLbl val="0"/>
      </c:catAx>
      <c:valAx>
        <c:axId val="645535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/>
                    </a:solidFill>
                    <a:latin typeface="Times New Roman" panose="02020603050405020304" charset="0"/>
                    <a:ea typeface="Times New Roman" panose="02020603050405020304" charset="0"/>
                    <a:cs typeface="Times New Roman" panose="02020603050405020304" charset="0"/>
                    <a:sym typeface="Times New Roman" panose="02020603050405020304" charset="0"/>
                  </a:defRPr>
                </a:pPr>
                <a:r>
                  <a:rPr lang="zh-CN" altLang="en-US"/>
                  <a:t>功率</a:t>
                </a:r>
                <a:r>
                  <a:rPr lang="en-US" altLang="zh-CN"/>
                  <a:t>/100MW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 defTabSz="914400">
                <a:defRPr lang="zh-CN" sz="1000" b="0" i="0" u="none" strike="noStrike" kern="1200" baseline="0">
                  <a:solidFill>
                    <a:schemeClr val="tx1"/>
                  </a:solidFill>
                  <a:latin typeface="Times New Roman" panose="02020603050405020304" charset="0"/>
                  <a:ea typeface="Times New Roman" panose="02020603050405020304" charset="0"/>
                  <a:cs typeface="Times New Roman" panose="02020603050405020304" charset="0"/>
                  <a:sym typeface="Times New Roman" panose="02020603050405020304" charset="0"/>
                </a:defRPr>
              </a:pPr>
              <a:endParaRPr lang="en-US" alt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  <a:sym typeface="Times New Roman" panose="02020603050405020304" charset="0"/>
              </a:defRPr>
            </a:pPr>
            <a:endParaRPr lang="zh-CN"/>
          </a:p>
        </c:txPr>
        <c:crossAx val="748797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 forceAA="0"/>
        <a:lstStyle/>
        <a:p>
          <a:pPr>
            <a:defRPr lang="zh-CN" sz="1000" b="1" i="0" u="none" strike="noStrike" kern="1200" baseline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  <a:sym typeface="Times New Roman" panose="02020603050405020304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000">
          <a:solidFill>
            <a:schemeClr val="tx1"/>
          </a:solidFill>
          <a:latin typeface="Times New Roman" panose="02020603050405020304" charset="0"/>
          <a:ea typeface="Times New Roman" panose="02020603050405020304" charset="0"/>
          <a:cs typeface="Times New Roman" panose="02020603050405020304" charset="0"/>
          <a:sym typeface="Times New Roman" panose="02020603050405020304" charset="0"/>
        </a:defRPr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87A87C-F4A5-4C73-AA6D-E5199936B43F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8173E-9CF6-45EA-BB7E-3F91A683B3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97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42630-D80E-7924-59F2-A5FA08F9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8E4260-4AF1-F23B-9C82-137FBA64C2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C7E59E-34F0-FBA5-D427-7D35BD46B5A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29C90FE-85FE-6415-D41D-950FC9774C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6ACB4B7-429E-61E4-7EFB-5F4963E74B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UnitThermalPlants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UnitThermalGenerators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无天数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只能看到自己这家公司的信息，不能切换公司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所有页面都不要成交历史了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3331C-5A31-9C68-40C9-37A2D2830B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16295-2D78-DB4F-FBF8-5FF1F3D45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13033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E1FA0-5DB5-BF23-5A6E-47C8B270B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5A27E61-3491-A8BA-53B5-BF3D972418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8D93E2-F0A9-0A3C-4EA5-F671391A97D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1D30E01-07F5-9131-5BBB-F7B3A72F40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7CC9CF7-70D9-68C4-7EB5-642543D26C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电价预测 信息披露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有天数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1-7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横坐标展示一天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96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节点的，其他图相同，不是按图中第几天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>
                <a:solidFill>
                  <a:srgbClr val="000000"/>
                </a:solidFill>
              </a:rPr>
              <a:t>电价预测会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改成概率预测的图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B3C6D-87E5-ED7D-BF21-3E0BBA39C0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079B67-D587-7632-6189-7DC7EA5CB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91777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1AD48-CD42-1683-5CE6-6595D5309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F05146-EAF5-964F-BFF1-3576E5397F7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E86385-1D51-5772-B9FD-A27326D80B0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BA68826-DEAB-356C-2214-6CDD1D2353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5105AA0-BD3B-0BC6-1A2F-8862CCE17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电价预测 信息披露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有天数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1-7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6BDF8-CAD0-9EAC-F3E0-53B9BDB6C1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64341-2B23-ED67-BE4A-195AA53E4B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08623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7139-018A-58AD-2779-AD7F98629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EC198B-6C7C-FAC3-4BF4-FFD9120ECE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12CFF-28ED-D9AB-ED08-E3DBD4428DA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CAAA6E7-464E-45CF-9836-43B0B07803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80E4102-9923-065A-BBAF-781372650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电价预测 信息披露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有天数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1-7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BD221-49DA-7EB5-F3BB-C8E573CB05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F888C-9473-E8C6-18CB-CC23536A3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14917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ECB9B-E164-E02F-B273-0380B9D45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453414-5266-CA68-56DA-08BC6D2E4D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B38B98-7EED-EA25-110E-5964BD12E97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912F864-B19F-C2FA-23B4-DF55A0BBDF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89A54A1-3A3E-69C7-B5C7-AF404EA2B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电价预测 信息披露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有天数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1-7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F7C98-BA2F-EAF1-8C3C-58C0D4263D7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F867B-7814-7FA9-2CAF-C9C2CFEA2A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91934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32142-5DB9-C127-B407-1DDC41D71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24F0A9-F9D3-8767-1D75-68BD256186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F6321E-D635-DAE4-0498-2B2A014C2AD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FEA7D96-417A-64FE-FE76-B31DD3D68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8E289C8-DA20-2855-0826-D42D5491B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MarDayAheadUnitQuotes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有天数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1-7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机组</a:t>
            </a:r>
            <a:r>
              <a:rPr lang="zh-CN" altLang="en-US" sz="1400" b="0" dirty="0">
                <a:solidFill>
                  <a:srgbClr val="333333"/>
                </a:solidFill>
                <a:latin typeface="Noto Sans SC"/>
                <a:ea typeface="Noto Sans SC"/>
              </a:rPr>
              <a:t>处可以切换该市场主体下其他机组</a:t>
            </a:r>
            <a:br>
              <a:rPr lang="en-US" altLang="zh-CN" sz="1400" b="0" dirty="0">
                <a:solidFill>
                  <a:srgbClr val="333333"/>
                </a:solidFill>
                <a:latin typeface="Noto Sans SC"/>
                <a:ea typeface="Noto Sans SC"/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有每个主体具体报价页面，初始都是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0</a:t>
            </a:r>
          </a:p>
          <a:p>
            <a:pPr indent="0" algn="l">
              <a:lnSpc>
                <a:spcPct val="100000"/>
              </a:lnSpc>
            </a:pPr>
            <a:r>
              <a:rPr lang="zh-CN" altLang="en-US" sz="1400" b="0" dirty="0">
                <a:solidFill>
                  <a:srgbClr val="333333"/>
                </a:solidFill>
                <a:latin typeface="Noto Sans SC"/>
                <a:ea typeface="Noto Sans SC"/>
              </a:rPr>
              <a:t>提交电能量的申报会形成报价曲线显示</a:t>
            </a:r>
            <a:endParaRPr lang="en-US" altLang="zh-CN" sz="1400" b="0" dirty="0">
              <a:solidFill>
                <a:srgbClr val="333333"/>
              </a:solidFill>
              <a:latin typeface="Noto Sans SC"/>
              <a:ea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具体排版你可以组织下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F3C97-8B2B-460D-C735-F5BF54C496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CD0DF-DBFC-60E3-B7B5-921416DEA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89805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6E14-4FCE-0BBF-90D6-EA7E9047B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534BF49-862D-A1C8-B22D-11F6431C36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0EA445-D48C-E346-C015-C22E0CD123F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8B7AFC9-6E1C-8885-1819-EF9540408D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6B97868-FFCE-D009-B88E-6C190ACE58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外面设计按钮选择市场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,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要么用左侧导航栏分为历史市场或当前市场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LevelA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电能量市场出清总览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有天数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1-7</a:t>
            </a: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用标签或横向表格形式，不同市场主体数量可用图表。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红字部分已转化为饼状图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en-US" altLang="zh-CN" sz="1400" b="0" i="0" u="none" strike="noStrike" dirty="0">
                <a:solidFill>
                  <a:srgbClr val="000000"/>
                </a:solidFill>
              </a:rPr>
              <a:t>Excel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里是左图，标签形式我找到个类似图片如右图。去除红字部分有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25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行，也可以把第一行市场名称删了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24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行好设计。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681D8-D340-CE00-044C-B75F973DBF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6C6C78-9269-22D4-4C24-CA2974B29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190099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6E8FE-EA40-525A-EF11-F1E5ECB89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452987-F928-AD6D-BE55-ABCFBE604C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42986D-784D-F600-AF99-43F05A3DFB6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545CE0C-FF65-B3D8-0B3F-F3F8165540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9FD9850-C2FB-AF11-C2FD-05F3803DC9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LevelC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电能量市场出清电价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有天数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1-7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接上图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E9E47-DB74-9FF6-F07E-4D1ED80AC8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9C213-724C-2275-187B-744CE742D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97751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444E2-9F87-709C-2164-7BC8CA330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EAE420E-A786-62D6-772C-295BB1A2F9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9F4D06-500F-0CAB-D97A-3258561F1C9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39AABDD-464A-FFA5-215A-1195D62C4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7731D1C-CB99-9A78-545E-25F2434266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LevelC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电力电量平衡表单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有天数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1-7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只做火电功率、风电功率、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光伏功率、水电功率（库容）、总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负荷功率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接上图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AE5A4-C889-25E5-726F-8FEEF9D30F4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839FB-CE17-D19E-F10C-8EA4BCA33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30541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26A38-6126-413A-BC00-B199CCCE3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8798B1-C9A1-CA10-E897-7BDED15367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8A5AC1-C9AE-379B-8B35-18243363713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A02B23D-D9A4-2269-279B-AB3B18BF44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0AE1558-DA69-7630-DC3C-1E94D06B4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LevelB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火电厂电能量市场收益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有天数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1-7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这个表格以标签形式展示，不要编号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67B611-A9D2-1819-DA88-F0CF7BBBA57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0510F-03EA-B5D6-11DB-F7FE999D2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737207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A7DFC-3F07-0201-0045-B9BFCAD0E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D6CBB6-C552-69C3-1813-492480AA8F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3E4D54-3AEE-C568-FC49-55F3CE42820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457454C-3490-5AB6-ED41-54F1D9E639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297DE7B-AA1E-1BD4-D169-A3AA0CDAFE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LevelC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_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机组电能量市场中标结果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有天数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1-7</a:t>
            </a:r>
          </a:p>
          <a:p>
            <a:pPr indent="0" algn="l">
              <a:lnSpc>
                <a:spcPct val="100000"/>
              </a:lnSpc>
            </a:pPr>
            <a:r>
              <a:rPr lang="en-US" altLang="zh-CN" sz="1400" b="0" i="0" u="none" strike="noStrike" dirty="0">
                <a:solidFill>
                  <a:srgbClr val="000000"/>
                </a:solidFill>
              </a:rPr>
              <a:t>Excel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里类似图中样子</a:t>
            </a:r>
            <a:endParaRPr lang="en-US" altLang="zh-CN" sz="1400" b="0" i="0" u="none" strike="noStrike" dirty="0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有一个选项可以切换在公司不同机组里切换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中标收益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=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中标出力乘中标均价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r>
              <a:rPr lang="zh-CN" altLang="en-US" sz="1400" b="0" i="0" u="none" strike="noStrike" dirty="0">
                <a:solidFill>
                  <a:srgbClr val="000000"/>
                </a:solidFill>
              </a:rPr>
              <a:t>有一个图是均价折线图和出力柱状图，再有一个图是收益（只做收益、暂不做成本和利润）柱状图，找了下图片可以参考</a:t>
            </a: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br>
              <a:rPr lang="en-US" altLang="zh-CN" sz="1400" b="0" i="0" u="none" strike="noStrike" dirty="0">
                <a:solidFill>
                  <a:srgbClr val="000000"/>
                </a:solidFill>
              </a:rPr>
            </a:br>
            <a:endParaRPr lang="en-US" altLang="zh-CN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3B942F-A460-2771-C512-13CB17DC55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D9531-ACFC-147B-C7B6-0121DF58E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86942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8173E-9CF6-45EA-BB7E-3F91A683B38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04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C8A71-E4F3-FD70-E72C-C7CBB685F5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01F62B-6B4D-422C-CA24-FB135F87CC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CC5A2C-B769-DC70-52AD-0E40203E6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B6E20-0CB5-4362-B979-23631DD9C9C5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2B09E9-653E-17F6-678C-2610D966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3F073B-7F1D-7E62-1FDA-FE8D5DA3D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1498-776E-48CE-9867-0381A302B2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584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C2FA43-E9E7-0C57-E319-EA754B211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873AFD-6E53-993B-D1EF-4C34EE651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E4D528-2BE0-0D9B-7F80-8E94BA8BB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B6E20-0CB5-4362-B979-23631DD9C9C5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33F655-4F00-0548-28C3-780D41DB1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7A6EDB-52A2-767E-3C64-A71BCE124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1498-776E-48CE-9867-0381A302B2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55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1C0DF-6341-7345-32CC-D706F682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5AF44B-3380-B81A-8D9D-68B171CA0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A3E9CE-9A68-21CB-C379-64B816647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B6E20-0CB5-4362-B979-23631DD9C9C5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EEC92A-5C69-F03C-5B77-A67D10D5F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FFBD96-612C-779B-63F2-4E8A25466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1498-776E-48CE-9867-0381A302B2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158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919AA-4CF1-BD2F-D666-A01FF2D3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D16ACC-F5D3-CA5F-D332-3D0540E625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6FF290-B6DE-F036-E0EC-CFEDD09B1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EC5A30-8948-7CFD-3E9B-EFD4151D7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B6E20-0CB5-4362-B979-23631DD9C9C5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1AD199-DFDB-06AE-CBA2-ED43AC7CE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2B8396-A630-F8D4-4E5E-3623ED011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1498-776E-48CE-9867-0381A302B2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4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C1B99A-F616-1F0A-DA5D-3EA70C3C8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D095F0-645F-C429-524D-8B00624B4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97D0E18-D12D-EB78-4854-D98BBB8E1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9D204C8-7A72-51E2-6F66-15DDD0360D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A8AD5FD-4DB4-F07E-C471-93AD9ACF3D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829FAB5-3F67-A7FA-536D-84CC83E8F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B6E20-0CB5-4362-B979-23631DD9C9C5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567F2A4-4F73-42C9-4D6F-B4B6C24FB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6F4DC49-8737-F333-358D-90CEC5B8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1498-776E-48CE-9867-0381A302B2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14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0E4F23-5ADB-AEB9-B42A-965A9DAE1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6E4F6D-EF74-BD6D-1B5A-D7BF3D89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B6E20-0CB5-4362-B979-23631DD9C9C5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D10DC2-79F5-849E-9599-A3978D788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4605E6-6E81-28D9-6E28-2207DA3EA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1498-776E-48CE-9867-0381A302B2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648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570184-29CB-2788-0812-E89C8B721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B6E20-0CB5-4362-B979-23631DD9C9C5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435AFEF-7720-2420-B99E-8A5D2FD61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4E60C7-05C5-7161-29E2-48E05A8BA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1498-776E-48CE-9867-0381A302B2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751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281379-A4ED-8B28-6C36-A9DB7FF4C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633F2B-1A2F-46BA-2FD2-21C2957CF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1C84AF-B9C9-ED50-E2CE-0C6D505F1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39DBB2-CD85-6601-BFA9-D538D4D13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B6E20-0CB5-4362-B979-23631DD9C9C5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8E9239-1F04-2936-F27E-C955047D7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5E3185-CFBE-6DBD-4484-5CE327C6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1498-776E-48CE-9867-0381A302B2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192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50DA2E-EF63-8EE2-92FF-CAE05E4B8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FABF985-CADE-A6F0-0055-DC6B01E2DD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176DDD-A515-C600-F801-F8E16C06B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5ADCAC-D2E2-C9AF-D422-F59868F7A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B6E20-0CB5-4362-B979-23631DD9C9C5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5B1058-782E-34B9-ED19-1F3243897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F50794-A115-C26A-8B29-43E40EB09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1498-776E-48CE-9867-0381A302B2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134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250C8A-B7C7-152C-76A6-AC5D2E2BC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C7F0046-C1FC-8CF9-2EB8-5F1FE3659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8C3797-61BC-E650-C87D-E8588E5C9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B6E20-0CB5-4362-B979-23631DD9C9C5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5B026E-3238-A2A4-6948-903EED275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2FBE08-B1A4-7841-86C8-D601BD002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1498-776E-48CE-9867-0381A302B2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864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8CD8B09-FA0F-57A0-5441-6330050F6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392923-106B-B0EB-403F-70309BB4D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F2C45D-4662-19B3-F50A-E2AD8520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B6E20-0CB5-4362-B979-23631DD9C9C5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7FC3FB-B762-99C9-4EA7-4F933CDBB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8646AF-3311-BC25-2254-EC7D37A87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71498-776E-48CE-9867-0381A302B2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533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052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A4FD72D-2449-0551-4C39-2177671C2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A6F8AC-B825-4A87-8312-33AAE7C92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F88692-21EF-964F-863B-CBCA73ED0D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B6E20-0CB5-4362-B979-23631DD9C9C5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956A75-5950-CF98-6E16-F6CBD19C7A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81F82E-F8B8-848D-02E7-2081AD80C8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71498-776E-48CE-9867-0381A302B26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832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748329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11" Type="http://schemas.openxmlformats.org/officeDocument/2006/relationships/image" Target="../media/image9.png"/><Relationship Id="rId5" Type="http://schemas.openxmlformats.org/officeDocument/2006/relationships/image" Target="../media/image11.png"/><Relationship Id="rId10" Type="http://schemas.openxmlformats.org/officeDocument/2006/relationships/image" Target="../media/image14.svg"/><Relationship Id="rId4" Type="http://schemas.openxmlformats.org/officeDocument/2006/relationships/image" Target="../media/image2.sv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11" Type="http://schemas.openxmlformats.org/officeDocument/2006/relationships/image" Target="../media/image9.png"/><Relationship Id="rId5" Type="http://schemas.openxmlformats.org/officeDocument/2006/relationships/image" Target="../media/image11.png"/><Relationship Id="rId10" Type="http://schemas.openxmlformats.org/officeDocument/2006/relationships/image" Target="../media/image14.svg"/><Relationship Id="rId4" Type="http://schemas.openxmlformats.org/officeDocument/2006/relationships/image" Target="../media/image2.sv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11" Type="http://schemas.openxmlformats.org/officeDocument/2006/relationships/image" Target="../media/image9.png"/><Relationship Id="rId5" Type="http://schemas.openxmlformats.org/officeDocument/2006/relationships/image" Target="../media/image11.png"/><Relationship Id="rId10" Type="http://schemas.openxmlformats.org/officeDocument/2006/relationships/image" Target="../media/image14.svg"/><Relationship Id="rId4" Type="http://schemas.openxmlformats.org/officeDocument/2006/relationships/image" Target="../media/image2.sv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11" Type="http://schemas.openxmlformats.org/officeDocument/2006/relationships/image" Target="../media/image9.png"/><Relationship Id="rId5" Type="http://schemas.openxmlformats.org/officeDocument/2006/relationships/image" Target="../media/image11.png"/><Relationship Id="rId10" Type="http://schemas.openxmlformats.org/officeDocument/2006/relationships/image" Target="../media/image14.svg"/><Relationship Id="rId4" Type="http://schemas.openxmlformats.org/officeDocument/2006/relationships/image" Target="../media/image2.sv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11" Type="http://schemas.openxmlformats.org/officeDocument/2006/relationships/image" Target="../media/image9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4.sv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11" Type="http://schemas.openxmlformats.org/officeDocument/2006/relationships/image" Target="../media/image9.png"/><Relationship Id="rId5" Type="http://schemas.openxmlformats.org/officeDocument/2006/relationships/image" Target="../media/image11.png"/><Relationship Id="rId10" Type="http://schemas.openxmlformats.org/officeDocument/2006/relationships/image" Target="../media/image18.svg"/><Relationship Id="rId4" Type="http://schemas.openxmlformats.org/officeDocument/2006/relationships/image" Target="../media/image4.sv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11" Type="http://schemas.openxmlformats.org/officeDocument/2006/relationships/image" Target="../media/image9.png"/><Relationship Id="rId5" Type="http://schemas.openxmlformats.org/officeDocument/2006/relationships/image" Target="../media/image11.png"/><Relationship Id="rId10" Type="http://schemas.openxmlformats.org/officeDocument/2006/relationships/image" Target="../media/image18.svg"/><Relationship Id="rId4" Type="http://schemas.openxmlformats.org/officeDocument/2006/relationships/image" Target="../media/image4.sv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0.svg"/><Relationship Id="rId3" Type="http://schemas.openxmlformats.org/officeDocument/2006/relationships/chart" Target="../charts/chart1.xml"/><Relationship Id="rId7" Type="http://schemas.openxmlformats.org/officeDocument/2006/relationships/image" Target="../media/image12.sv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18.svg"/><Relationship Id="rId5" Type="http://schemas.openxmlformats.org/officeDocument/2006/relationships/image" Target="../media/image4.sv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11" Type="http://schemas.openxmlformats.org/officeDocument/2006/relationships/image" Target="../media/image9.png"/><Relationship Id="rId5" Type="http://schemas.openxmlformats.org/officeDocument/2006/relationships/image" Target="../media/image11.png"/><Relationship Id="rId10" Type="http://schemas.openxmlformats.org/officeDocument/2006/relationships/image" Target="../media/image18.svg"/><Relationship Id="rId4" Type="http://schemas.openxmlformats.org/officeDocument/2006/relationships/image" Target="../media/image4.sv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11" Type="http://schemas.openxmlformats.org/officeDocument/2006/relationships/image" Target="../media/image9.png"/><Relationship Id="rId5" Type="http://schemas.openxmlformats.org/officeDocument/2006/relationships/image" Target="../media/image11.png"/><Relationship Id="rId10" Type="http://schemas.openxmlformats.org/officeDocument/2006/relationships/image" Target="../media/image18.svg"/><Relationship Id="rId4" Type="http://schemas.openxmlformats.org/officeDocument/2006/relationships/image" Target="../media/image4.svg"/><Relationship Id="rId9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47359-03ED-FB3E-FE3C-217C633C6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6C38A7F-E56B-A10F-2C22-3A4E6D6F05AE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0893EFB5-842B-0366-3E88-DF1E5CBD2A44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C64F3FD2-1961-F763-A07C-EE872768E52D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99B0930C-F921-BA80-6595-906A24EB5373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4E03999D-D51D-B45B-4171-DF995F713C4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A28AEC94-4BE7-5060-CF82-BE26348C60E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A5BDD5A1-3493-8438-B680-2E1432A6E8D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49BA7C75-94FF-1573-B65D-6EAD2A0B083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FDA5DF2E-9492-0541-4173-8A342824B0F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6F2C2ED0-B704-7D13-982F-B1508082432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D5A86346-BC41-FAB9-84AA-6F889D6A800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8D5C0878-530E-ABB8-9DB8-7F432E78665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A804E086-20CB-31B7-D33C-1C8B07A3679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282485C8-9A8D-1946-0101-93AA4C05C38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A591C998-CE7A-EB07-20BB-ACCE22F9B21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E8FB970E-319F-6BE0-74DC-228D13638CF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F8C48C70-FD0E-53ED-D7DF-E8FA156E882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B211976F-C2B2-20D3-4A37-3A7BD097965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EFE852D4-F623-5B28-717A-BB4C2306315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A1318F95-4BA6-91C2-7575-FDA61E06F53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A2807A9E-CC93-BC62-2D0E-5E9193F64ADB}"/>
              </a:ext>
            </a:extLst>
          </p:cNvPr>
          <p:cNvSpPr/>
          <p:nvPr/>
        </p:nvSpPr>
        <p:spPr>
          <a:xfrm>
            <a:off x="2250209" y="1761063"/>
            <a:ext cx="9921330" cy="4893737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AutoShape 5">
            <a:extLst>
              <a:ext uri="{FF2B5EF4-FFF2-40B4-BE49-F238E27FC236}">
                <a16:creationId xmlns:a16="http://schemas.microsoft.com/office/drawing/2014/main" id="{A258FC99-E6A1-5C17-0CBB-32BBDA000597}"/>
              </a:ext>
            </a:extLst>
          </p:cNvPr>
          <p:cNvSpPr/>
          <p:nvPr/>
        </p:nvSpPr>
        <p:spPr>
          <a:xfrm>
            <a:off x="2467450" y="1941592"/>
            <a:ext cx="2116667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机组信息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7322E266-F03C-87EE-11FE-F79A3582D45E}"/>
              </a:ext>
            </a:extLst>
          </p:cNvPr>
          <p:cNvGraphicFramePr>
            <a:graphicFrameLocks noGrp="1"/>
          </p:cNvGraphicFramePr>
          <p:nvPr/>
        </p:nvGraphicFramePr>
        <p:xfrm>
          <a:off x="2465686" y="2311019"/>
          <a:ext cx="4622800" cy="4198620"/>
        </p:xfrm>
        <a:graphic>
          <a:graphicData uri="http://schemas.openxmlformats.org/drawingml/2006/table">
            <a:tbl>
              <a:tblPr/>
              <a:tblGrid>
                <a:gridCol w="3670300">
                  <a:extLst>
                    <a:ext uri="{9D8B030D-6E8A-4147-A177-3AD203B41FA5}">
                      <a16:colId xmlns:a16="http://schemas.microsoft.com/office/drawing/2014/main" val="340601873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417259633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火电机组编号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17537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所在母线编号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Bus_8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1331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装机容量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59322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初始开机状态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TRUE/FALSE)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FALSE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89166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初始状态已持续时间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18275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最小技术出力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93897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上爬坡速率 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MW/h)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94473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下爬坡速率 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MW/h)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57855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最短开机时间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92680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最短关机时间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85357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启动成本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81069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关停成本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30699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燃料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煤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78725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运行成本曲线系数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吨标准煤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/(100MW)^2)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1442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运行成本曲线系数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吨标准煤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/100MW)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37922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运行成本曲线系数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吨标准煤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23.0194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62345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调频响应时间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(min)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1.2402334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95167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调频调节误差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(%)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2.164578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25389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调节速度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MW/min)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11.354614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926717"/>
                  </a:ext>
                </a:extLst>
              </a:tr>
            </a:tbl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2DB012B7-D282-04B3-3DAF-3E3FB381654F}"/>
              </a:ext>
            </a:extLst>
          </p:cNvPr>
          <p:cNvGraphicFramePr>
            <a:graphicFrameLocks noGrp="1"/>
          </p:cNvGraphicFramePr>
          <p:nvPr/>
        </p:nvGraphicFramePr>
        <p:xfrm>
          <a:off x="7303963" y="2291392"/>
          <a:ext cx="4622800" cy="4198620"/>
        </p:xfrm>
        <a:graphic>
          <a:graphicData uri="http://schemas.openxmlformats.org/drawingml/2006/table">
            <a:tbl>
              <a:tblPr/>
              <a:tblGrid>
                <a:gridCol w="3670300">
                  <a:extLst>
                    <a:ext uri="{9D8B030D-6E8A-4147-A177-3AD203B41FA5}">
                      <a16:colId xmlns:a16="http://schemas.microsoft.com/office/drawing/2014/main" val="340601873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417259633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火电机组编号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Thermal_2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17537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所在母线编号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Bus_8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1331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装机容量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59322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初始开机状态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TRUE/FALSE)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FALSE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89166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初始状态已持续时间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218275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最小技术出力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93897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上爬坡速率 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MW/h)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94473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下爬坡速率 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MW/h)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3.6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57855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最短开机时间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92680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最短关机时间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h)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85357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启动成本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81069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关停成本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30699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燃料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煤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478725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运行成本曲线系数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吨标准煤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/(100MW)^2)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0.17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1442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运行成本曲线系数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吨标准煤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/100MW)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37922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运行成本曲线系数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C(</a:t>
                      </a: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吨标准煤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23.0194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62345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调频响应时间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(min)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1.2402334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95167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调频调节误差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(%)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2.164578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25389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调节速度</a:t>
                      </a:r>
                      <a:r>
                        <a:rPr lang="en-US" altLang="zh-CN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MW/min)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11.354614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926717"/>
                  </a:ext>
                </a:extLst>
              </a:tr>
            </a:tbl>
          </a:graphicData>
        </a:graphic>
      </p:graphicFrame>
      <p:sp>
        <p:nvSpPr>
          <p:cNvPr id="9" name="AutoShape 5">
            <a:extLst>
              <a:ext uri="{FF2B5EF4-FFF2-40B4-BE49-F238E27FC236}">
                <a16:creationId xmlns:a16="http://schemas.microsoft.com/office/drawing/2014/main" id="{A6D2EE45-A6C9-3370-A164-09284017AB1B}"/>
              </a:ext>
            </a:extLst>
          </p:cNvPr>
          <p:cNvSpPr/>
          <p:nvPr/>
        </p:nvSpPr>
        <p:spPr>
          <a:xfrm>
            <a:off x="2250209" y="1174364"/>
            <a:ext cx="720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企业名称：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G13 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企业类型：火电公司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B4D098A7-F4AF-5E94-4348-3072B02AD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2982316"/>
            <a:ext cx="203200" cy="203200"/>
          </a:xfrm>
          <a:prstGeom prst="rect">
            <a:avLst/>
          </a:prstGeom>
        </p:spPr>
      </p:pic>
      <p:sp>
        <p:nvSpPr>
          <p:cNvPr id="7" name="AutoShape 11">
            <a:extLst>
              <a:ext uri="{FF2B5EF4-FFF2-40B4-BE49-F238E27FC236}">
                <a16:creationId xmlns:a16="http://schemas.microsoft.com/office/drawing/2014/main" id="{4A1490CE-07B0-E5CD-148F-FC6F25D3C23D}"/>
              </a:ext>
            </a:extLst>
          </p:cNvPr>
          <p:cNvSpPr/>
          <p:nvPr/>
        </p:nvSpPr>
        <p:spPr>
          <a:xfrm>
            <a:off x="965200" y="29315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市场交易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E88FD802-0DDA-1E86-D50F-7249D557D8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2448916"/>
            <a:ext cx="203200" cy="203200"/>
          </a:xfrm>
          <a:prstGeom prst="rect">
            <a:avLst/>
          </a:prstGeom>
        </p:spPr>
      </p:pic>
      <p:sp>
        <p:nvSpPr>
          <p:cNvPr id="17" name="AutoShape 7">
            <a:extLst>
              <a:ext uri="{FF2B5EF4-FFF2-40B4-BE49-F238E27FC236}">
                <a16:creationId xmlns:a16="http://schemas.microsoft.com/office/drawing/2014/main" id="{991D8AEF-FF7C-17C4-1CE1-EB9792F76DB0}"/>
              </a:ext>
            </a:extLst>
          </p:cNvPr>
          <p:cNvSpPr/>
          <p:nvPr/>
        </p:nvSpPr>
        <p:spPr>
          <a:xfrm>
            <a:off x="965200" y="23981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信息披露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pic>
        <p:nvPicPr>
          <p:cNvPr id="19" name="Picture 12">
            <a:extLst>
              <a:ext uri="{FF2B5EF4-FFF2-40B4-BE49-F238E27FC236}">
                <a16:creationId xmlns:a16="http://schemas.microsoft.com/office/drawing/2014/main" id="{EB792735-400C-32D9-F482-E8B0541F96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3511142"/>
            <a:ext cx="203200" cy="203200"/>
          </a:xfrm>
          <a:prstGeom prst="rect">
            <a:avLst/>
          </a:prstGeom>
        </p:spPr>
      </p:pic>
      <p:sp>
        <p:nvSpPr>
          <p:cNvPr id="20" name="AutoShape 13">
            <a:extLst>
              <a:ext uri="{FF2B5EF4-FFF2-40B4-BE49-F238E27FC236}">
                <a16:creationId xmlns:a16="http://schemas.microsoft.com/office/drawing/2014/main" id="{39902DDF-ED11-7D60-4641-D51526A5E1A6}"/>
              </a:ext>
            </a:extLst>
          </p:cNvPr>
          <p:cNvSpPr/>
          <p:nvPr/>
        </p:nvSpPr>
        <p:spPr>
          <a:xfrm>
            <a:off x="965200" y="3460342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结算报告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AutoShape 5">
            <a:extLst>
              <a:ext uri="{FF2B5EF4-FFF2-40B4-BE49-F238E27FC236}">
                <a16:creationId xmlns:a16="http://schemas.microsoft.com/office/drawing/2014/main" id="{F0DB359B-79BE-1D1C-925B-BE123D6BC2DC}"/>
              </a:ext>
            </a:extLst>
          </p:cNvPr>
          <p:cNvSpPr/>
          <p:nvPr/>
        </p:nvSpPr>
        <p:spPr>
          <a:xfrm>
            <a:off x="464624" y="132080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1" name="Picture 8">
            <a:extLst>
              <a:ext uri="{FF2B5EF4-FFF2-40B4-BE49-F238E27FC236}">
                <a16:creationId xmlns:a16="http://schemas.microsoft.com/office/drawing/2014/main" id="{509F8774-C20C-2EBE-BC92-DE40C58C2F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32" name="AutoShape 9">
            <a:extLst>
              <a:ext uri="{FF2B5EF4-FFF2-40B4-BE49-F238E27FC236}">
                <a16:creationId xmlns:a16="http://schemas.microsoft.com/office/drawing/2014/main" id="{9F415F3F-3FC8-66D8-B0E2-0EF5FCC58345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企业信息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409E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35" name="AutoShape 13">
            <a:extLst>
              <a:ext uri="{FF2B5EF4-FFF2-40B4-BE49-F238E27FC236}">
                <a16:creationId xmlns:a16="http://schemas.microsoft.com/office/drawing/2014/main" id="{C685D150-8115-289E-47FE-8A125872FA4A}"/>
              </a:ext>
            </a:extLst>
          </p:cNvPr>
          <p:cNvSpPr/>
          <p:nvPr/>
        </p:nvSpPr>
        <p:spPr>
          <a:xfrm>
            <a:off x="965200" y="190509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成交历史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6" name="Picture 14">
            <a:extLst>
              <a:ext uri="{FF2B5EF4-FFF2-40B4-BE49-F238E27FC236}">
                <a16:creationId xmlns:a16="http://schemas.microsoft.com/office/drawing/2014/main" id="{7E135167-DFD6-1483-093E-B9BB8F11B6C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955894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58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B4903-8F54-C6A4-10CC-508AEDC4F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06D273F-EEF9-F366-9183-1AD3838018FC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7D4EE923-4954-30F6-B853-E3E9212DB15B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72318D81-714D-03B7-6118-F4E6BB09D310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992F416E-C1C9-D88C-4ABF-2761924125A9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C444DDAE-43F3-92E7-D9BB-90FC90BAE26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0C9540E7-3DC1-25CC-341E-5E895635AA4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DCEBFAC4-AA41-9804-CE75-6FC0E2D3E19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DB38F700-B664-DC79-DABE-8F6B725C569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746FB6F9-99C6-0BFD-349D-027AA55F9C4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D4456A34-09C4-F884-04D3-99B7423B8B5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E98FFFA6-9D1A-E380-C444-6EB48250D5E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14993B3E-5341-DE57-7866-CCC6C24A1EA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9981F76E-E7B8-B743-F5FB-9D414D4ED46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9F62904D-F738-9D8F-9CD5-97A871DD685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4F76DCBD-675F-D68E-B0A2-9C8F3FADD07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90A91EEA-4790-7CE7-AB6F-5F9454E1061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59983D70-E247-383E-3CF9-7B5D7E632D8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1F8F7756-0274-E8DD-5107-499CD634898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B5AD090E-9C3F-78B6-A386-882CFB4A3D1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0123DD02-C073-938C-D0EF-F5EBB6BB178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D3102FE-FFAA-F88B-4415-22EC771857CB}"/>
              </a:ext>
            </a:extLst>
          </p:cNvPr>
          <p:cNvGrpSpPr/>
          <p:nvPr/>
        </p:nvGrpSpPr>
        <p:grpSpPr>
          <a:xfrm>
            <a:off x="2535433" y="1825502"/>
            <a:ext cx="7432420" cy="2292595"/>
            <a:chOff x="2039248" y="1447800"/>
            <a:chExt cx="9644751" cy="2292595"/>
          </a:xfrm>
        </p:grpSpPr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C45C5896-3ADB-E209-CBDC-15C699B7804E}"/>
                </a:ext>
              </a:extLst>
            </p:cNvPr>
            <p:cNvSpPr/>
            <p:nvPr/>
          </p:nvSpPr>
          <p:spPr>
            <a:xfrm>
              <a:off x="2039248" y="1447800"/>
              <a:ext cx="9644751" cy="2292595"/>
            </a:xfrm>
            <a:prstGeom prst="roundRect">
              <a:avLst>
                <a:gd name="adj" fmla="val 4444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6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4EA69178-D7ED-E264-143D-22B324962AC9}"/>
                </a:ext>
              </a:extLst>
            </p:cNvPr>
            <p:cNvSpPr/>
            <p:nvPr/>
          </p:nvSpPr>
          <p:spPr>
            <a:xfrm>
              <a:off x="2502484" y="1612022"/>
              <a:ext cx="2672096" cy="26757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电价预测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AutoShape 16">
              <a:extLst>
                <a:ext uri="{FF2B5EF4-FFF2-40B4-BE49-F238E27FC236}">
                  <a16:creationId xmlns:a16="http://schemas.microsoft.com/office/drawing/2014/main" id="{5022FF11-BBD3-9E04-CFF0-53FC8D530195}"/>
                </a:ext>
              </a:extLst>
            </p:cNvPr>
            <p:cNvSpPr/>
            <p:nvPr/>
          </p:nvSpPr>
          <p:spPr>
            <a:xfrm>
              <a:off x="2395698" y="2050909"/>
              <a:ext cx="1266718" cy="17681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电价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(元/kWh)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2" name="Connector 17">
              <a:extLst>
                <a:ext uri="{FF2B5EF4-FFF2-40B4-BE49-F238E27FC236}">
                  <a16:creationId xmlns:a16="http://schemas.microsoft.com/office/drawing/2014/main" id="{76F83637-BE75-F12E-72E4-5140F0C1979A}"/>
                </a:ext>
              </a:extLst>
            </p:cNvPr>
            <p:cNvCxnSpPr>
              <a:cxnSpLocks/>
            </p:cNvCxnSpPr>
            <p:nvPr/>
          </p:nvCxnSpPr>
          <p:spPr>
            <a:xfrm>
              <a:off x="2501035" y="3426235"/>
              <a:ext cx="8971862" cy="41888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AutoShape 19">
              <a:extLst>
                <a:ext uri="{FF2B5EF4-FFF2-40B4-BE49-F238E27FC236}">
                  <a16:creationId xmlns:a16="http://schemas.microsoft.com/office/drawing/2014/main" id="{CCE3A2C7-B53D-E840-BB9B-B4F41BF0402F}"/>
                </a:ext>
              </a:extLst>
            </p:cNvPr>
            <p:cNvSpPr/>
            <p:nvPr/>
          </p:nvSpPr>
          <p:spPr>
            <a:xfrm>
              <a:off x="2712138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Arial"/>
                  <a:sym typeface="Noto Sans SC"/>
                </a:rPr>
                <a:t>第一天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AutoShape 20">
              <a:extLst>
                <a:ext uri="{FF2B5EF4-FFF2-40B4-BE49-F238E27FC236}">
                  <a16:creationId xmlns:a16="http://schemas.microsoft.com/office/drawing/2014/main" id="{B4996921-4C9D-8AF7-BB24-0738F080AFDF}"/>
                </a:ext>
              </a:extLst>
            </p:cNvPr>
            <p:cNvSpPr/>
            <p:nvPr/>
          </p:nvSpPr>
          <p:spPr>
            <a:xfrm>
              <a:off x="4084305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第二天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" name="AutoShape 21">
              <a:extLst>
                <a:ext uri="{FF2B5EF4-FFF2-40B4-BE49-F238E27FC236}">
                  <a16:creationId xmlns:a16="http://schemas.microsoft.com/office/drawing/2014/main" id="{1CA5B1F7-6F05-ED07-91B4-F704CCC946A3}"/>
                </a:ext>
              </a:extLst>
            </p:cNvPr>
            <p:cNvSpPr/>
            <p:nvPr/>
          </p:nvSpPr>
          <p:spPr>
            <a:xfrm>
              <a:off x="5456472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第三天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AutoShape 22">
              <a:extLst>
                <a:ext uri="{FF2B5EF4-FFF2-40B4-BE49-F238E27FC236}">
                  <a16:creationId xmlns:a16="http://schemas.microsoft.com/office/drawing/2014/main" id="{513A114D-2736-16DF-22C3-4518DDAEA6A2}"/>
                </a:ext>
              </a:extLst>
            </p:cNvPr>
            <p:cNvSpPr/>
            <p:nvPr/>
          </p:nvSpPr>
          <p:spPr>
            <a:xfrm>
              <a:off x="6828639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第四天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" name="AutoShape 23">
              <a:extLst>
                <a:ext uri="{FF2B5EF4-FFF2-40B4-BE49-F238E27FC236}">
                  <a16:creationId xmlns:a16="http://schemas.microsoft.com/office/drawing/2014/main" id="{5B23E0C4-0D62-936A-78CA-C658DB0DAA22}"/>
                </a:ext>
              </a:extLst>
            </p:cNvPr>
            <p:cNvSpPr/>
            <p:nvPr/>
          </p:nvSpPr>
          <p:spPr>
            <a:xfrm>
              <a:off x="8200806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第五天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" name="AutoShape 24">
              <a:extLst>
                <a:ext uri="{FF2B5EF4-FFF2-40B4-BE49-F238E27FC236}">
                  <a16:creationId xmlns:a16="http://schemas.microsoft.com/office/drawing/2014/main" id="{AC816A9E-7EE7-DB49-389B-CCC949BEEA77}"/>
                </a:ext>
              </a:extLst>
            </p:cNvPr>
            <p:cNvSpPr/>
            <p:nvPr/>
          </p:nvSpPr>
          <p:spPr>
            <a:xfrm>
              <a:off x="9572974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第六天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" name="AutoShape 25">
              <a:extLst>
                <a:ext uri="{FF2B5EF4-FFF2-40B4-BE49-F238E27FC236}">
                  <a16:creationId xmlns:a16="http://schemas.microsoft.com/office/drawing/2014/main" id="{DEA199E6-214E-80E0-C5FF-F75B874A1B0C}"/>
                </a:ext>
              </a:extLst>
            </p:cNvPr>
            <p:cNvSpPr/>
            <p:nvPr/>
          </p:nvSpPr>
          <p:spPr>
            <a:xfrm>
              <a:off x="10945141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第七天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7" name="Connector 26">
              <a:extLst>
                <a:ext uri="{FF2B5EF4-FFF2-40B4-BE49-F238E27FC236}">
                  <a16:creationId xmlns:a16="http://schemas.microsoft.com/office/drawing/2014/main" id="{ADA2774A-1022-32FD-8C63-A8B63F8C928A}"/>
                </a:ext>
              </a:extLst>
            </p:cNvPr>
            <p:cNvCxnSpPr>
              <a:cxnSpLocks/>
            </p:cNvCxnSpPr>
            <p:nvPr/>
          </p:nvCxnSpPr>
          <p:spPr>
            <a:xfrm rot="20858847">
              <a:off x="2804124" y="2583232"/>
              <a:ext cx="129381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8" name="Connector 27">
              <a:extLst>
                <a:ext uri="{FF2B5EF4-FFF2-40B4-BE49-F238E27FC236}">
                  <a16:creationId xmlns:a16="http://schemas.microsoft.com/office/drawing/2014/main" id="{94D50972-F5C6-2367-8149-5E4DE844EF60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4081172" y="253088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9" name="Connector 28">
              <a:extLst>
                <a:ext uri="{FF2B5EF4-FFF2-40B4-BE49-F238E27FC236}">
                  <a16:creationId xmlns:a16="http://schemas.microsoft.com/office/drawing/2014/main" id="{62F5A992-8915-868C-06BD-FE849FCB2EDF}"/>
                </a:ext>
              </a:extLst>
            </p:cNvPr>
            <p:cNvCxnSpPr>
              <a:cxnSpLocks/>
            </p:cNvCxnSpPr>
            <p:nvPr/>
          </p:nvCxnSpPr>
          <p:spPr>
            <a:xfrm rot="20914409">
              <a:off x="5443932" y="2478512"/>
              <a:ext cx="1397309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0" name="Connector 29">
              <a:extLst>
                <a:ext uri="{FF2B5EF4-FFF2-40B4-BE49-F238E27FC236}">
                  <a16:creationId xmlns:a16="http://schemas.microsoft.com/office/drawing/2014/main" id="{FF849712-3097-5CFC-BF68-02081717656B}"/>
                </a:ext>
              </a:extLst>
            </p:cNvPr>
            <p:cNvCxnSpPr>
              <a:cxnSpLocks/>
            </p:cNvCxnSpPr>
            <p:nvPr/>
          </p:nvCxnSpPr>
          <p:spPr>
            <a:xfrm rot="459717">
              <a:off x="6821571" y="2452341"/>
              <a:ext cx="138636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1" name="Connector 30">
              <a:extLst>
                <a:ext uri="{FF2B5EF4-FFF2-40B4-BE49-F238E27FC236}">
                  <a16:creationId xmlns:a16="http://schemas.microsoft.com/office/drawing/2014/main" id="{C47902D7-42EA-60FF-C1F6-FA22CF0672D1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8197673" y="258324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2" name="Connector 31">
              <a:extLst>
                <a:ext uri="{FF2B5EF4-FFF2-40B4-BE49-F238E27FC236}">
                  <a16:creationId xmlns:a16="http://schemas.microsoft.com/office/drawing/2014/main" id="{CBCDFE6B-B06F-25C7-6925-601586EEB11E}"/>
                </a:ext>
              </a:extLst>
            </p:cNvPr>
            <p:cNvCxnSpPr>
              <a:cxnSpLocks/>
            </p:cNvCxnSpPr>
            <p:nvPr/>
          </p:nvCxnSpPr>
          <p:spPr>
            <a:xfrm rot="21335983">
              <a:off x="9571453" y="2598944"/>
              <a:ext cx="137527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3" name="Connector 18">
              <a:extLst>
                <a:ext uri="{FF2B5EF4-FFF2-40B4-BE49-F238E27FC236}">
                  <a16:creationId xmlns:a16="http://schemas.microsoft.com/office/drawing/2014/main" id="{D9CB3ADF-9856-2B15-6BC2-5C9F85B89DBA}"/>
                </a:ext>
              </a:extLst>
            </p:cNvPr>
            <p:cNvCxnSpPr>
              <a:cxnSpLocks/>
            </p:cNvCxnSpPr>
            <p:nvPr/>
          </p:nvCxnSpPr>
          <p:spPr>
            <a:xfrm rot="5365623">
              <a:off x="1991309" y="2893681"/>
              <a:ext cx="1047201" cy="13194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" name="AutoShape 44">
              <a:extLst>
                <a:ext uri="{FF2B5EF4-FFF2-40B4-BE49-F238E27FC236}">
                  <a16:creationId xmlns:a16="http://schemas.microsoft.com/office/drawing/2014/main" id="{A3786D60-3FC3-BA38-D6AC-ECDF2264783E}"/>
                </a:ext>
              </a:extLst>
            </p:cNvPr>
            <p:cNvSpPr/>
            <p:nvPr/>
          </p:nvSpPr>
          <p:spPr>
            <a:xfrm>
              <a:off x="2053123" y="232429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300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" name="AutoShape 45">
              <a:extLst>
                <a:ext uri="{FF2B5EF4-FFF2-40B4-BE49-F238E27FC236}">
                  <a16:creationId xmlns:a16="http://schemas.microsoft.com/office/drawing/2014/main" id="{E82BA697-8D1F-9554-E511-0794C7DF8F05}"/>
                </a:ext>
              </a:extLst>
            </p:cNvPr>
            <p:cNvSpPr/>
            <p:nvPr/>
          </p:nvSpPr>
          <p:spPr>
            <a:xfrm>
              <a:off x="2053123" y="2669868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200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" name="AutoShape 46">
              <a:extLst>
                <a:ext uri="{FF2B5EF4-FFF2-40B4-BE49-F238E27FC236}">
                  <a16:creationId xmlns:a16="http://schemas.microsoft.com/office/drawing/2014/main" id="{02C56400-A165-A12A-CFA7-221AE86D90F9}"/>
                </a:ext>
              </a:extLst>
            </p:cNvPr>
            <p:cNvSpPr/>
            <p:nvPr/>
          </p:nvSpPr>
          <p:spPr>
            <a:xfrm>
              <a:off x="2053123" y="3015444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100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" name="AutoShape 47">
              <a:extLst>
                <a:ext uri="{FF2B5EF4-FFF2-40B4-BE49-F238E27FC236}">
                  <a16:creationId xmlns:a16="http://schemas.microsoft.com/office/drawing/2014/main" id="{4B3AA4D3-C087-9C32-4CA8-CA0D406697E0}"/>
                </a:ext>
              </a:extLst>
            </p:cNvPr>
            <p:cNvSpPr/>
            <p:nvPr/>
          </p:nvSpPr>
          <p:spPr>
            <a:xfrm>
              <a:off x="2053123" y="336102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B7F8F7D-6C55-5E93-F497-4C1F68812DBA}"/>
              </a:ext>
            </a:extLst>
          </p:cNvPr>
          <p:cNvGraphicFramePr>
            <a:graphicFrameLocks noGrp="1"/>
          </p:cNvGraphicFramePr>
          <p:nvPr/>
        </p:nvGraphicFramePr>
        <p:xfrm>
          <a:off x="2546125" y="4552092"/>
          <a:ext cx="3721100" cy="36576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1447535226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7134882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1463587908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420613421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名称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t2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t96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729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电价预测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52111"/>
                  </a:ext>
                </a:extLst>
              </a:tr>
            </a:tbl>
          </a:graphicData>
        </a:graphic>
      </p:graphicFrame>
      <p:sp>
        <p:nvSpPr>
          <p:cNvPr id="6" name="AutoShape 5">
            <a:extLst>
              <a:ext uri="{FF2B5EF4-FFF2-40B4-BE49-F238E27FC236}">
                <a16:creationId xmlns:a16="http://schemas.microsoft.com/office/drawing/2014/main" id="{3671058F-79BD-3320-31A5-88368262DFE6}"/>
              </a:ext>
            </a:extLst>
          </p:cNvPr>
          <p:cNvSpPr/>
          <p:nvPr/>
        </p:nvSpPr>
        <p:spPr>
          <a:xfrm>
            <a:off x="2233571" y="80877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AutoShape 13">
            <a:extLst>
              <a:ext uri="{FF2B5EF4-FFF2-40B4-BE49-F238E27FC236}">
                <a16:creationId xmlns:a16="http://schemas.microsoft.com/office/drawing/2014/main" id="{276880DC-BBC1-83FD-CD08-B9C6869D4B4F}"/>
              </a:ext>
            </a:extLst>
          </p:cNvPr>
          <p:cNvSpPr/>
          <p:nvPr/>
        </p:nvSpPr>
        <p:spPr>
          <a:xfrm>
            <a:off x="2381404" y="88955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电价预测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409E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31" name="AutoShape 11">
            <a:extLst>
              <a:ext uri="{FF2B5EF4-FFF2-40B4-BE49-F238E27FC236}">
                <a16:creationId xmlns:a16="http://schemas.microsoft.com/office/drawing/2014/main" id="{F61FDB42-DF2A-562C-B141-AA081FCAA5B4}"/>
              </a:ext>
            </a:extLst>
          </p:cNvPr>
          <p:cNvSpPr/>
          <p:nvPr/>
        </p:nvSpPr>
        <p:spPr>
          <a:xfrm>
            <a:off x="3736084" y="88955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负荷预测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58" name="AutoShape 11">
            <a:extLst>
              <a:ext uri="{FF2B5EF4-FFF2-40B4-BE49-F238E27FC236}">
                <a16:creationId xmlns:a16="http://schemas.microsoft.com/office/drawing/2014/main" id="{934FBB6B-3368-56C8-D9A0-5A678E29F479}"/>
              </a:ext>
            </a:extLst>
          </p:cNvPr>
          <p:cNvSpPr/>
          <p:nvPr/>
        </p:nvSpPr>
        <p:spPr>
          <a:xfrm>
            <a:off x="4951577" y="88955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风电功率预测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59" name="AutoShape 11">
            <a:extLst>
              <a:ext uri="{FF2B5EF4-FFF2-40B4-BE49-F238E27FC236}">
                <a16:creationId xmlns:a16="http://schemas.microsoft.com/office/drawing/2014/main" id="{5E61AEF7-CCB1-CA7F-947B-538963C58FFC}"/>
              </a:ext>
            </a:extLst>
          </p:cNvPr>
          <p:cNvSpPr/>
          <p:nvPr/>
        </p:nvSpPr>
        <p:spPr>
          <a:xfrm>
            <a:off x="6754957" y="88955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光伏功率预测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pic>
        <p:nvPicPr>
          <p:cNvPr id="61" name="Picture 10">
            <a:extLst>
              <a:ext uri="{FF2B5EF4-FFF2-40B4-BE49-F238E27FC236}">
                <a16:creationId xmlns:a16="http://schemas.microsoft.com/office/drawing/2014/main" id="{BBEF99B6-1E85-E7C8-3540-FEC639182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144" y="2956748"/>
            <a:ext cx="203200" cy="203200"/>
          </a:xfrm>
          <a:prstGeom prst="rect">
            <a:avLst/>
          </a:prstGeom>
        </p:spPr>
      </p:pic>
      <p:sp>
        <p:nvSpPr>
          <p:cNvPr id="62" name="AutoShape 11">
            <a:extLst>
              <a:ext uri="{FF2B5EF4-FFF2-40B4-BE49-F238E27FC236}">
                <a16:creationId xmlns:a16="http://schemas.microsoft.com/office/drawing/2014/main" id="{16418F11-83DB-24E4-2612-96F454A8FE2E}"/>
              </a:ext>
            </a:extLst>
          </p:cNvPr>
          <p:cNvSpPr/>
          <p:nvPr/>
        </p:nvSpPr>
        <p:spPr>
          <a:xfrm>
            <a:off x="944944" y="290594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市场交易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3" name="Picture 8">
            <a:extLst>
              <a:ext uri="{FF2B5EF4-FFF2-40B4-BE49-F238E27FC236}">
                <a16:creationId xmlns:a16="http://schemas.microsoft.com/office/drawing/2014/main" id="{F82F5E99-7B3C-8021-C1D4-A6D08426FC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64" name="AutoShape 9">
            <a:extLst>
              <a:ext uri="{FF2B5EF4-FFF2-40B4-BE49-F238E27FC236}">
                <a16:creationId xmlns:a16="http://schemas.microsoft.com/office/drawing/2014/main" id="{2CA0EAD1-E8EA-51D8-360B-DC1689472F4C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5" name="Picture 12">
            <a:extLst>
              <a:ext uri="{FF2B5EF4-FFF2-40B4-BE49-F238E27FC236}">
                <a16:creationId xmlns:a16="http://schemas.microsoft.com/office/drawing/2014/main" id="{16630626-E017-573A-CAB7-7C7D380853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144" y="3485574"/>
            <a:ext cx="203200" cy="203200"/>
          </a:xfrm>
          <a:prstGeom prst="rect">
            <a:avLst/>
          </a:prstGeom>
        </p:spPr>
      </p:pic>
      <p:sp>
        <p:nvSpPr>
          <p:cNvPr id="66" name="AutoShape 13">
            <a:extLst>
              <a:ext uri="{FF2B5EF4-FFF2-40B4-BE49-F238E27FC236}">
                <a16:creationId xmlns:a16="http://schemas.microsoft.com/office/drawing/2014/main" id="{6B9C9BB2-90E1-74FC-9F57-CCEA40157DF8}"/>
              </a:ext>
            </a:extLst>
          </p:cNvPr>
          <p:cNvSpPr/>
          <p:nvPr/>
        </p:nvSpPr>
        <p:spPr>
          <a:xfrm>
            <a:off x="944944" y="343477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结算报告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7" name="AutoShape 5">
            <a:extLst>
              <a:ext uri="{FF2B5EF4-FFF2-40B4-BE49-F238E27FC236}">
                <a16:creationId xmlns:a16="http://schemas.microsoft.com/office/drawing/2014/main" id="{8F4182F1-23A7-C126-35C5-DB042A3C3F64}"/>
              </a:ext>
            </a:extLst>
          </p:cNvPr>
          <p:cNvSpPr/>
          <p:nvPr/>
        </p:nvSpPr>
        <p:spPr>
          <a:xfrm>
            <a:off x="508000" y="2312735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8" name="Picture 6">
            <a:extLst>
              <a:ext uri="{FF2B5EF4-FFF2-40B4-BE49-F238E27FC236}">
                <a16:creationId xmlns:a16="http://schemas.microsoft.com/office/drawing/2014/main" id="{123E377B-1925-EB02-AC85-049AEB8ED6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2439735"/>
            <a:ext cx="203200" cy="203200"/>
          </a:xfrm>
          <a:prstGeom prst="rect">
            <a:avLst/>
          </a:prstGeom>
        </p:spPr>
      </p:pic>
      <p:sp>
        <p:nvSpPr>
          <p:cNvPr id="69" name="AutoShape 7">
            <a:extLst>
              <a:ext uri="{FF2B5EF4-FFF2-40B4-BE49-F238E27FC236}">
                <a16:creationId xmlns:a16="http://schemas.microsoft.com/office/drawing/2014/main" id="{7CCC7F17-9371-D781-1E2E-933090164F31}"/>
              </a:ext>
            </a:extLst>
          </p:cNvPr>
          <p:cNvSpPr/>
          <p:nvPr/>
        </p:nvSpPr>
        <p:spPr>
          <a:xfrm>
            <a:off x="965200" y="2388935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信息披露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0" name="AutoShape 13">
            <a:extLst>
              <a:ext uri="{FF2B5EF4-FFF2-40B4-BE49-F238E27FC236}">
                <a16:creationId xmlns:a16="http://schemas.microsoft.com/office/drawing/2014/main" id="{99B80BB3-62C8-1C3E-0CF2-C10870333685}"/>
              </a:ext>
            </a:extLst>
          </p:cNvPr>
          <p:cNvSpPr/>
          <p:nvPr/>
        </p:nvSpPr>
        <p:spPr>
          <a:xfrm>
            <a:off x="965200" y="182600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成交历史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1" name="Picture 14">
            <a:extLst>
              <a:ext uri="{FF2B5EF4-FFF2-40B4-BE49-F238E27FC236}">
                <a16:creationId xmlns:a16="http://schemas.microsoft.com/office/drawing/2014/main" id="{497A1B12-7321-3484-FF6A-25E1B1AC90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876804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756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3ADF8-08F7-9D80-DF35-0F49A608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22527AE-011F-AC66-2BDE-785E6E41A8F3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1D117DFA-0A1B-839F-45C8-97B2CE9950CA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89BD1DCA-E822-DE98-7BDD-C49BB126FD46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A5738840-C0B2-BFF5-97B8-96F062B45F90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0410F97B-68FC-A8E4-BDD7-CDFA0B8E224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209EDCA7-CFA6-19DF-6AF1-FA4761A99E0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06B420ED-0948-38AA-F687-01A0EBCD984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7F5CA49B-A516-E54B-4AA0-9D63E6DDB09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0C467403-C69F-8AC7-DB72-400C1F0DE75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525B4A1A-C5D8-E41D-0EEB-369545E4028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9E8C82B7-416E-EB9B-D74F-C681E2CACE7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6E2BE7EC-0429-3BED-EDDF-BE11048ECA3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67A2214F-B2A5-2809-8A6B-D552050DD54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30618946-6776-4C13-DA8B-1897C19D732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18FAB8A3-FD37-427C-91EF-7F2DC514F43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0183A627-243D-18B1-89B1-EE3C5779F49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9B4FE5C3-50D3-1529-E685-002647BB12F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CA9F14E9-55BA-6E1C-D63A-A11C6795E03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6CB31047-0978-3310-854B-0DA6EB76FDF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333E6514-171E-F118-4B4D-C3BB6C95B9E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C66CAF-17A6-FC61-89FD-29B8635DC92E}"/>
              </a:ext>
            </a:extLst>
          </p:cNvPr>
          <p:cNvGrpSpPr/>
          <p:nvPr/>
        </p:nvGrpSpPr>
        <p:grpSpPr>
          <a:xfrm>
            <a:off x="2535433" y="1825502"/>
            <a:ext cx="7432420" cy="2292595"/>
            <a:chOff x="2039248" y="1447800"/>
            <a:chExt cx="9644751" cy="2292595"/>
          </a:xfrm>
        </p:grpSpPr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FCDE3C11-55D6-A962-B06C-8B3F9DE9E001}"/>
                </a:ext>
              </a:extLst>
            </p:cNvPr>
            <p:cNvSpPr/>
            <p:nvPr/>
          </p:nvSpPr>
          <p:spPr>
            <a:xfrm>
              <a:off x="2039248" y="1447800"/>
              <a:ext cx="9644751" cy="2292595"/>
            </a:xfrm>
            <a:prstGeom prst="roundRect">
              <a:avLst>
                <a:gd name="adj" fmla="val 4444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6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87223C74-3FD1-C8EB-23A7-F54D4FB4E96E}"/>
                </a:ext>
              </a:extLst>
            </p:cNvPr>
            <p:cNvSpPr/>
            <p:nvPr/>
          </p:nvSpPr>
          <p:spPr>
            <a:xfrm>
              <a:off x="2502484" y="1612022"/>
              <a:ext cx="2672096" cy="26757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负荷预测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AutoShape 16">
              <a:extLst>
                <a:ext uri="{FF2B5EF4-FFF2-40B4-BE49-F238E27FC236}">
                  <a16:creationId xmlns:a16="http://schemas.microsoft.com/office/drawing/2014/main" id="{71815070-64F2-8E73-1309-8AAE00D871B2}"/>
                </a:ext>
              </a:extLst>
            </p:cNvPr>
            <p:cNvSpPr/>
            <p:nvPr/>
          </p:nvSpPr>
          <p:spPr>
            <a:xfrm>
              <a:off x="2395698" y="2050909"/>
              <a:ext cx="1266718" cy="17681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负荷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(kW)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2" name="Connector 17">
              <a:extLst>
                <a:ext uri="{FF2B5EF4-FFF2-40B4-BE49-F238E27FC236}">
                  <a16:creationId xmlns:a16="http://schemas.microsoft.com/office/drawing/2014/main" id="{7F30576E-81B2-D028-81C7-22E431C825DD}"/>
                </a:ext>
              </a:extLst>
            </p:cNvPr>
            <p:cNvCxnSpPr>
              <a:cxnSpLocks/>
            </p:cNvCxnSpPr>
            <p:nvPr/>
          </p:nvCxnSpPr>
          <p:spPr>
            <a:xfrm>
              <a:off x="2501035" y="3426235"/>
              <a:ext cx="8971862" cy="41888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AutoShape 19">
              <a:extLst>
                <a:ext uri="{FF2B5EF4-FFF2-40B4-BE49-F238E27FC236}">
                  <a16:creationId xmlns:a16="http://schemas.microsoft.com/office/drawing/2014/main" id="{D1CE5C49-2FAC-AD3F-8D80-5CFC84BF4960}"/>
                </a:ext>
              </a:extLst>
            </p:cNvPr>
            <p:cNvSpPr/>
            <p:nvPr/>
          </p:nvSpPr>
          <p:spPr>
            <a:xfrm>
              <a:off x="2712138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Arial"/>
                  <a:sym typeface="Noto Sans SC"/>
                </a:rPr>
                <a:t>第一天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AutoShape 20">
              <a:extLst>
                <a:ext uri="{FF2B5EF4-FFF2-40B4-BE49-F238E27FC236}">
                  <a16:creationId xmlns:a16="http://schemas.microsoft.com/office/drawing/2014/main" id="{D601666C-ABBD-DCEC-2D0C-0738DC9BBFDB}"/>
                </a:ext>
              </a:extLst>
            </p:cNvPr>
            <p:cNvSpPr/>
            <p:nvPr/>
          </p:nvSpPr>
          <p:spPr>
            <a:xfrm>
              <a:off x="4084305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第二天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" name="AutoShape 21">
              <a:extLst>
                <a:ext uri="{FF2B5EF4-FFF2-40B4-BE49-F238E27FC236}">
                  <a16:creationId xmlns:a16="http://schemas.microsoft.com/office/drawing/2014/main" id="{42459C50-5722-58E0-5C8E-BC53AC1B5872}"/>
                </a:ext>
              </a:extLst>
            </p:cNvPr>
            <p:cNvSpPr/>
            <p:nvPr/>
          </p:nvSpPr>
          <p:spPr>
            <a:xfrm>
              <a:off x="5456472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第三天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AutoShape 22">
              <a:extLst>
                <a:ext uri="{FF2B5EF4-FFF2-40B4-BE49-F238E27FC236}">
                  <a16:creationId xmlns:a16="http://schemas.microsoft.com/office/drawing/2014/main" id="{168D473B-153A-2BB8-3B5B-8BC891B12D64}"/>
                </a:ext>
              </a:extLst>
            </p:cNvPr>
            <p:cNvSpPr/>
            <p:nvPr/>
          </p:nvSpPr>
          <p:spPr>
            <a:xfrm>
              <a:off x="6828639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第四天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" name="AutoShape 23">
              <a:extLst>
                <a:ext uri="{FF2B5EF4-FFF2-40B4-BE49-F238E27FC236}">
                  <a16:creationId xmlns:a16="http://schemas.microsoft.com/office/drawing/2014/main" id="{C66A5CEE-1D9F-F8E0-6E58-ACEC5AAE1D07}"/>
                </a:ext>
              </a:extLst>
            </p:cNvPr>
            <p:cNvSpPr/>
            <p:nvPr/>
          </p:nvSpPr>
          <p:spPr>
            <a:xfrm>
              <a:off x="8200806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第五天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" name="AutoShape 24">
              <a:extLst>
                <a:ext uri="{FF2B5EF4-FFF2-40B4-BE49-F238E27FC236}">
                  <a16:creationId xmlns:a16="http://schemas.microsoft.com/office/drawing/2014/main" id="{E512915D-68EA-6B26-2666-C11CD29DF02A}"/>
                </a:ext>
              </a:extLst>
            </p:cNvPr>
            <p:cNvSpPr/>
            <p:nvPr/>
          </p:nvSpPr>
          <p:spPr>
            <a:xfrm>
              <a:off x="9572974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第六天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" name="AutoShape 25">
              <a:extLst>
                <a:ext uri="{FF2B5EF4-FFF2-40B4-BE49-F238E27FC236}">
                  <a16:creationId xmlns:a16="http://schemas.microsoft.com/office/drawing/2014/main" id="{E6BCC1BA-359C-BF96-9FEC-BE64C28FFC89}"/>
                </a:ext>
              </a:extLst>
            </p:cNvPr>
            <p:cNvSpPr/>
            <p:nvPr/>
          </p:nvSpPr>
          <p:spPr>
            <a:xfrm>
              <a:off x="10945141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第七天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7" name="Connector 26">
              <a:extLst>
                <a:ext uri="{FF2B5EF4-FFF2-40B4-BE49-F238E27FC236}">
                  <a16:creationId xmlns:a16="http://schemas.microsoft.com/office/drawing/2014/main" id="{2434B658-018F-131C-A27F-B3BC6B432959}"/>
                </a:ext>
              </a:extLst>
            </p:cNvPr>
            <p:cNvCxnSpPr>
              <a:cxnSpLocks/>
            </p:cNvCxnSpPr>
            <p:nvPr/>
          </p:nvCxnSpPr>
          <p:spPr>
            <a:xfrm rot="20858847">
              <a:off x="2804124" y="2583232"/>
              <a:ext cx="129381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8" name="Connector 27">
              <a:extLst>
                <a:ext uri="{FF2B5EF4-FFF2-40B4-BE49-F238E27FC236}">
                  <a16:creationId xmlns:a16="http://schemas.microsoft.com/office/drawing/2014/main" id="{8664650D-2F85-9677-802A-1B25500ABD2C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4081172" y="253088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9" name="Connector 28">
              <a:extLst>
                <a:ext uri="{FF2B5EF4-FFF2-40B4-BE49-F238E27FC236}">
                  <a16:creationId xmlns:a16="http://schemas.microsoft.com/office/drawing/2014/main" id="{F52F74C6-76DD-7DC7-B27A-F6AB2354ED89}"/>
                </a:ext>
              </a:extLst>
            </p:cNvPr>
            <p:cNvCxnSpPr>
              <a:cxnSpLocks/>
            </p:cNvCxnSpPr>
            <p:nvPr/>
          </p:nvCxnSpPr>
          <p:spPr>
            <a:xfrm rot="20914409">
              <a:off x="5443932" y="2478512"/>
              <a:ext cx="1397309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0" name="Connector 29">
              <a:extLst>
                <a:ext uri="{FF2B5EF4-FFF2-40B4-BE49-F238E27FC236}">
                  <a16:creationId xmlns:a16="http://schemas.microsoft.com/office/drawing/2014/main" id="{C8AFB2D3-BB66-5FE3-50E1-AAA7AB9803CF}"/>
                </a:ext>
              </a:extLst>
            </p:cNvPr>
            <p:cNvCxnSpPr>
              <a:cxnSpLocks/>
            </p:cNvCxnSpPr>
            <p:nvPr/>
          </p:nvCxnSpPr>
          <p:spPr>
            <a:xfrm rot="459717">
              <a:off x="6821571" y="2452341"/>
              <a:ext cx="138636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1" name="Connector 30">
              <a:extLst>
                <a:ext uri="{FF2B5EF4-FFF2-40B4-BE49-F238E27FC236}">
                  <a16:creationId xmlns:a16="http://schemas.microsoft.com/office/drawing/2014/main" id="{75BA6401-82A9-00C3-37A2-DF470B5234EC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8197673" y="258324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2" name="Connector 31">
              <a:extLst>
                <a:ext uri="{FF2B5EF4-FFF2-40B4-BE49-F238E27FC236}">
                  <a16:creationId xmlns:a16="http://schemas.microsoft.com/office/drawing/2014/main" id="{911F4780-CED0-53E9-2503-5BC4FC5F9E23}"/>
                </a:ext>
              </a:extLst>
            </p:cNvPr>
            <p:cNvCxnSpPr>
              <a:cxnSpLocks/>
            </p:cNvCxnSpPr>
            <p:nvPr/>
          </p:nvCxnSpPr>
          <p:spPr>
            <a:xfrm rot="21335983">
              <a:off x="9571453" y="2598944"/>
              <a:ext cx="137527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3" name="Connector 18">
              <a:extLst>
                <a:ext uri="{FF2B5EF4-FFF2-40B4-BE49-F238E27FC236}">
                  <a16:creationId xmlns:a16="http://schemas.microsoft.com/office/drawing/2014/main" id="{C65D771A-8D87-A6BB-12B9-70CAFD94277D}"/>
                </a:ext>
              </a:extLst>
            </p:cNvPr>
            <p:cNvCxnSpPr>
              <a:cxnSpLocks/>
            </p:cNvCxnSpPr>
            <p:nvPr/>
          </p:nvCxnSpPr>
          <p:spPr>
            <a:xfrm rot="5365623">
              <a:off x="1991309" y="2893681"/>
              <a:ext cx="1047201" cy="13194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" name="AutoShape 44">
              <a:extLst>
                <a:ext uri="{FF2B5EF4-FFF2-40B4-BE49-F238E27FC236}">
                  <a16:creationId xmlns:a16="http://schemas.microsoft.com/office/drawing/2014/main" id="{E682891D-004F-8A34-E9B4-28DA976591B8}"/>
                </a:ext>
              </a:extLst>
            </p:cNvPr>
            <p:cNvSpPr/>
            <p:nvPr/>
          </p:nvSpPr>
          <p:spPr>
            <a:xfrm>
              <a:off x="2053123" y="232429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300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" name="AutoShape 45">
              <a:extLst>
                <a:ext uri="{FF2B5EF4-FFF2-40B4-BE49-F238E27FC236}">
                  <a16:creationId xmlns:a16="http://schemas.microsoft.com/office/drawing/2014/main" id="{4975EAD0-9D46-3A12-AB9B-E99864B80082}"/>
                </a:ext>
              </a:extLst>
            </p:cNvPr>
            <p:cNvSpPr/>
            <p:nvPr/>
          </p:nvSpPr>
          <p:spPr>
            <a:xfrm>
              <a:off x="2053123" y="2669868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200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" name="AutoShape 46">
              <a:extLst>
                <a:ext uri="{FF2B5EF4-FFF2-40B4-BE49-F238E27FC236}">
                  <a16:creationId xmlns:a16="http://schemas.microsoft.com/office/drawing/2014/main" id="{039BBEC1-D488-F6F2-EA26-FEC356D5505B}"/>
                </a:ext>
              </a:extLst>
            </p:cNvPr>
            <p:cNvSpPr/>
            <p:nvPr/>
          </p:nvSpPr>
          <p:spPr>
            <a:xfrm>
              <a:off x="2053123" y="3015444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100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" name="AutoShape 47">
              <a:extLst>
                <a:ext uri="{FF2B5EF4-FFF2-40B4-BE49-F238E27FC236}">
                  <a16:creationId xmlns:a16="http://schemas.microsoft.com/office/drawing/2014/main" id="{2B15A804-8B7A-89A5-2E5D-61537B0F3307}"/>
                </a:ext>
              </a:extLst>
            </p:cNvPr>
            <p:cNvSpPr/>
            <p:nvPr/>
          </p:nvSpPr>
          <p:spPr>
            <a:xfrm>
              <a:off x="2053123" y="336102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76007FD-6810-41F2-B28E-C1231E83DA0B}"/>
              </a:ext>
            </a:extLst>
          </p:cNvPr>
          <p:cNvGraphicFramePr>
            <a:graphicFrameLocks noGrp="1"/>
          </p:cNvGraphicFramePr>
          <p:nvPr/>
        </p:nvGraphicFramePr>
        <p:xfrm>
          <a:off x="2546125" y="4552092"/>
          <a:ext cx="3721100" cy="36576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1447535226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7134882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1463587908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420613421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名称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t2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t96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729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负荷预测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52111"/>
                  </a:ext>
                </a:extLst>
              </a:tr>
            </a:tbl>
          </a:graphicData>
        </a:graphic>
      </p:graphicFrame>
      <p:sp>
        <p:nvSpPr>
          <p:cNvPr id="6" name="AutoShape 5">
            <a:extLst>
              <a:ext uri="{FF2B5EF4-FFF2-40B4-BE49-F238E27FC236}">
                <a16:creationId xmlns:a16="http://schemas.microsoft.com/office/drawing/2014/main" id="{DDF1B50F-B7DF-1AE0-2C0A-9752F295C102}"/>
              </a:ext>
            </a:extLst>
          </p:cNvPr>
          <p:cNvSpPr/>
          <p:nvPr/>
        </p:nvSpPr>
        <p:spPr>
          <a:xfrm>
            <a:off x="3460673" y="833347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AutoShape 13">
            <a:extLst>
              <a:ext uri="{FF2B5EF4-FFF2-40B4-BE49-F238E27FC236}">
                <a16:creationId xmlns:a16="http://schemas.microsoft.com/office/drawing/2014/main" id="{E7690166-670D-A01C-CC75-E5E8A127DC42}"/>
              </a:ext>
            </a:extLst>
          </p:cNvPr>
          <p:cNvSpPr/>
          <p:nvPr/>
        </p:nvSpPr>
        <p:spPr>
          <a:xfrm>
            <a:off x="3608506" y="90954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负荷预测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409E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31" name="AutoShape 11">
            <a:extLst>
              <a:ext uri="{FF2B5EF4-FFF2-40B4-BE49-F238E27FC236}">
                <a16:creationId xmlns:a16="http://schemas.microsoft.com/office/drawing/2014/main" id="{4DDA524D-0343-2F26-2D88-7B5F0D6F8249}"/>
              </a:ext>
            </a:extLst>
          </p:cNvPr>
          <p:cNvSpPr/>
          <p:nvPr/>
        </p:nvSpPr>
        <p:spPr>
          <a:xfrm>
            <a:off x="2510417" y="90954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电价预测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58" name="AutoShape 11">
            <a:extLst>
              <a:ext uri="{FF2B5EF4-FFF2-40B4-BE49-F238E27FC236}">
                <a16:creationId xmlns:a16="http://schemas.microsoft.com/office/drawing/2014/main" id="{96A4B87E-24A2-3852-278F-EF266786A201}"/>
              </a:ext>
            </a:extLst>
          </p:cNvPr>
          <p:cNvSpPr/>
          <p:nvPr/>
        </p:nvSpPr>
        <p:spPr>
          <a:xfrm>
            <a:off x="4951577" y="90954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风电功率预测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59" name="AutoShape 11">
            <a:extLst>
              <a:ext uri="{FF2B5EF4-FFF2-40B4-BE49-F238E27FC236}">
                <a16:creationId xmlns:a16="http://schemas.microsoft.com/office/drawing/2014/main" id="{EC02B55B-C2A4-D2BB-2965-BC64CBCA2EC6}"/>
              </a:ext>
            </a:extLst>
          </p:cNvPr>
          <p:cNvSpPr/>
          <p:nvPr/>
        </p:nvSpPr>
        <p:spPr>
          <a:xfrm>
            <a:off x="6754957" y="90954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光伏功率预测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pic>
        <p:nvPicPr>
          <p:cNvPr id="61" name="Picture 10">
            <a:extLst>
              <a:ext uri="{FF2B5EF4-FFF2-40B4-BE49-F238E27FC236}">
                <a16:creationId xmlns:a16="http://schemas.microsoft.com/office/drawing/2014/main" id="{601C86EA-4C5F-6964-6CC8-EF0B11B268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144" y="2956748"/>
            <a:ext cx="203200" cy="203200"/>
          </a:xfrm>
          <a:prstGeom prst="rect">
            <a:avLst/>
          </a:prstGeom>
        </p:spPr>
      </p:pic>
      <p:sp>
        <p:nvSpPr>
          <p:cNvPr id="62" name="AutoShape 11">
            <a:extLst>
              <a:ext uri="{FF2B5EF4-FFF2-40B4-BE49-F238E27FC236}">
                <a16:creationId xmlns:a16="http://schemas.microsoft.com/office/drawing/2014/main" id="{A06972BA-2DDD-63EA-F024-0B4DBB5ADA7A}"/>
              </a:ext>
            </a:extLst>
          </p:cNvPr>
          <p:cNvSpPr/>
          <p:nvPr/>
        </p:nvSpPr>
        <p:spPr>
          <a:xfrm>
            <a:off x="944944" y="290594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市场交易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3" name="Picture 8">
            <a:extLst>
              <a:ext uri="{FF2B5EF4-FFF2-40B4-BE49-F238E27FC236}">
                <a16:creationId xmlns:a16="http://schemas.microsoft.com/office/drawing/2014/main" id="{48416456-289F-4274-EABF-52EC8969FD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64" name="AutoShape 9">
            <a:extLst>
              <a:ext uri="{FF2B5EF4-FFF2-40B4-BE49-F238E27FC236}">
                <a16:creationId xmlns:a16="http://schemas.microsoft.com/office/drawing/2014/main" id="{B88D0675-0E6B-0D58-D9A5-4C3267CD591C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5" name="Picture 12">
            <a:extLst>
              <a:ext uri="{FF2B5EF4-FFF2-40B4-BE49-F238E27FC236}">
                <a16:creationId xmlns:a16="http://schemas.microsoft.com/office/drawing/2014/main" id="{B20D0021-C0E5-7F4E-B5CB-39D826B973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144" y="3485574"/>
            <a:ext cx="203200" cy="203200"/>
          </a:xfrm>
          <a:prstGeom prst="rect">
            <a:avLst/>
          </a:prstGeom>
        </p:spPr>
      </p:pic>
      <p:sp>
        <p:nvSpPr>
          <p:cNvPr id="66" name="AutoShape 13">
            <a:extLst>
              <a:ext uri="{FF2B5EF4-FFF2-40B4-BE49-F238E27FC236}">
                <a16:creationId xmlns:a16="http://schemas.microsoft.com/office/drawing/2014/main" id="{B1A74AE5-F510-A7F1-6708-5C2A0C65C7CD}"/>
              </a:ext>
            </a:extLst>
          </p:cNvPr>
          <p:cNvSpPr/>
          <p:nvPr/>
        </p:nvSpPr>
        <p:spPr>
          <a:xfrm>
            <a:off x="944944" y="343477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结算报告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7" name="AutoShape 5">
            <a:extLst>
              <a:ext uri="{FF2B5EF4-FFF2-40B4-BE49-F238E27FC236}">
                <a16:creationId xmlns:a16="http://schemas.microsoft.com/office/drawing/2014/main" id="{4165BE01-981F-76B6-2928-7C700496FB7E}"/>
              </a:ext>
            </a:extLst>
          </p:cNvPr>
          <p:cNvSpPr/>
          <p:nvPr/>
        </p:nvSpPr>
        <p:spPr>
          <a:xfrm>
            <a:off x="508000" y="2312735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8" name="Picture 6">
            <a:extLst>
              <a:ext uri="{FF2B5EF4-FFF2-40B4-BE49-F238E27FC236}">
                <a16:creationId xmlns:a16="http://schemas.microsoft.com/office/drawing/2014/main" id="{C3806824-4E52-9487-F6AA-793215873E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2439735"/>
            <a:ext cx="203200" cy="203200"/>
          </a:xfrm>
          <a:prstGeom prst="rect">
            <a:avLst/>
          </a:prstGeom>
        </p:spPr>
      </p:pic>
      <p:sp>
        <p:nvSpPr>
          <p:cNvPr id="69" name="AutoShape 7">
            <a:extLst>
              <a:ext uri="{FF2B5EF4-FFF2-40B4-BE49-F238E27FC236}">
                <a16:creationId xmlns:a16="http://schemas.microsoft.com/office/drawing/2014/main" id="{A152ECD6-9382-B80A-48B7-E049E229F6C3}"/>
              </a:ext>
            </a:extLst>
          </p:cNvPr>
          <p:cNvSpPr/>
          <p:nvPr/>
        </p:nvSpPr>
        <p:spPr>
          <a:xfrm>
            <a:off x="965200" y="2388935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信息披露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0" name="AutoShape 13">
            <a:extLst>
              <a:ext uri="{FF2B5EF4-FFF2-40B4-BE49-F238E27FC236}">
                <a16:creationId xmlns:a16="http://schemas.microsoft.com/office/drawing/2014/main" id="{87E6CBE0-6542-D43B-8296-620F0F691F99}"/>
              </a:ext>
            </a:extLst>
          </p:cNvPr>
          <p:cNvSpPr/>
          <p:nvPr/>
        </p:nvSpPr>
        <p:spPr>
          <a:xfrm>
            <a:off x="965200" y="182600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成交历史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1" name="Picture 14">
            <a:extLst>
              <a:ext uri="{FF2B5EF4-FFF2-40B4-BE49-F238E27FC236}">
                <a16:creationId xmlns:a16="http://schemas.microsoft.com/office/drawing/2014/main" id="{5913D648-520E-9EB1-5824-B90D8F7A19D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876804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94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72F20-7066-BE0C-CA64-29663F68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54B9F4E-D193-AF39-9076-E2BF13BF29F8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AEBF44B8-5874-DF4E-9009-7DE1E5786AB6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51E07E20-53AE-1BFC-603A-96EFB8855ED3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F897A810-15F3-BB2B-A1AD-AEA0BA8E24F2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4BE9C3AF-671A-A3E8-9681-9A50333CE85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C924253F-D994-5F25-E0A4-05A3FF3E1BE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21F11DFA-D253-7E34-F3D9-7FF1969646D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F29BAA82-563B-0732-E8D5-BDD4721D6BE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94526113-B2BD-A6B7-B931-EFE4B7E9140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B647AEC8-B832-52AC-BAEC-BD09859BE52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B791414C-1F71-50BC-2E80-FB61F0D81E2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9294FF46-90A0-B53D-E6B3-9CA2EA0F774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0DCDB939-6A6F-D40C-AD3C-756614EA1D1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837ED70B-9E6D-4367-40E4-5C5E230F0B6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7224B29D-92DB-8BC5-B161-9AF26740390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90A5578E-088E-C030-5309-5291491C0BB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5B05E53E-87AE-3DB9-233F-EDEE212547C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FC0B71E5-1CAD-C1E4-C22A-72A5F0ACAF4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C868EAD6-8B40-244B-D6BC-B738B2048DC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F435DF82-0FBB-1E22-DD25-007234C2924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CC82509-DCB4-8D93-4B53-3D07CC3F68AD}"/>
              </a:ext>
            </a:extLst>
          </p:cNvPr>
          <p:cNvGrpSpPr/>
          <p:nvPr/>
        </p:nvGrpSpPr>
        <p:grpSpPr>
          <a:xfrm>
            <a:off x="2535433" y="1825502"/>
            <a:ext cx="7432420" cy="2292595"/>
            <a:chOff x="2039248" y="1447800"/>
            <a:chExt cx="9644751" cy="2292595"/>
          </a:xfrm>
        </p:grpSpPr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B2D36042-4345-299B-D511-FB90420A3B8D}"/>
                </a:ext>
              </a:extLst>
            </p:cNvPr>
            <p:cNvSpPr/>
            <p:nvPr/>
          </p:nvSpPr>
          <p:spPr>
            <a:xfrm>
              <a:off x="2039248" y="1447800"/>
              <a:ext cx="9644751" cy="2292595"/>
            </a:xfrm>
            <a:prstGeom prst="roundRect">
              <a:avLst>
                <a:gd name="adj" fmla="val 4444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6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0BE0B690-E7AE-C315-6EAB-59D704703F70}"/>
                </a:ext>
              </a:extLst>
            </p:cNvPr>
            <p:cNvSpPr/>
            <p:nvPr/>
          </p:nvSpPr>
          <p:spPr>
            <a:xfrm>
              <a:off x="2502484" y="1612022"/>
              <a:ext cx="2672096" cy="26757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风电功率预测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AutoShape 16">
              <a:extLst>
                <a:ext uri="{FF2B5EF4-FFF2-40B4-BE49-F238E27FC236}">
                  <a16:creationId xmlns:a16="http://schemas.microsoft.com/office/drawing/2014/main" id="{5A188D49-FF21-D049-729F-EF2643D411D8}"/>
                </a:ext>
              </a:extLst>
            </p:cNvPr>
            <p:cNvSpPr/>
            <p:nvPr/>
          </p:nvSpPr>
          <p:spPr>
            <a:xfrm>
              <a:off x="2395698" y="2050909"/>
              <a:ext cx="1266718" cy="17681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风电功率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(kW)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2" name="Connector 17">
              <a:extLst>
                <a:ext uri="{FF2B5EF4-FFF2-40B4-BE49-F238E27FC236}">
                  <a16:creationId xmlns:a16="http://schemas.microsoft.com/office/drawing/2014/main" id="{03A94059-560A-7B3E-C220-B10B2E1B7362}"/>
                </a:ext>
              </a:extLst>
            </p:cNvPr>
            <p:cNvCxnSpPr>
              <a:cxnSpLocks/>
            </p:cNvCxnSpPr>
            <p:nvPr/>
          </p:nvCxnSpPr>
          <p:spPr>
            <a:xfrm>
              <a:off x="2501035" y="3426235"/>
              <a:ext cx="8971862" cy="41888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AutoShape 19">
              <a:extLst>
                <a:ext uri="{FF2B5EF4-FFF2-40B4-BE49-F238E27FC236}">
                  <a16:creationId xmlns:a16="http://schemas.microsoft.com/office/drawing/2014/main" id="{589AE04A-15CD-0CB1-A873-4561E523140E}"/>
                </a:ext>
              </a:extLst>
            </p:cNvPr>
            <p:cNvSpPr/>
            <p:nvPr/>
          </p:nvSpPr>
          <p:spPr>
            <a:xfrm>
              <a:off x="2712138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Arial"/>
                  <a:sym typeface="Noto Sans SC"/>
                </a:rPr>
                <a:t>第一天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AutoShape 20">
              <a:extLst>
                <a:ext uri="{FF2B5EF4-FFF2-40B4-BE49-F238E27FC236}">
                  <a16:creationId xmlns:a16="http://schemas.microsoft.com/office/drawing/2014/main" id="{131FEBF5-2AD5-26B3-C5B5-64D965216102}"/>
                </a:ext>
              </a:extLst>
            </p:cNvPr>
            <p:cNvSpPr/>
            <p:nvPr/>
          </p:nvSpPr>
          <p:spPr>
            <a:xfrm>
              <a:off x="4084305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第二天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" name="AutoShape 21">
              <a:extLst>
                <a:ext uri="{FF2B5EF4-FFF2-40B4-BE49-F238E27FC236}">
                  <a16:creationId xmlns:a16="http://schemas.microsoft.com/office/drawing/2014/main" id="{38A09767-96BE-60E2-9270-3933CBB34B1C}"/>
                </a:ext>
              </a:extLst>
            </p:cNvPr>
            <p:cNvSpPr/>
            <p:nvPr/>
          </p:nvSpPr>
          <p:spPr>
            <a:xfrm>
              <a:off x="5456472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第三天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AutoShape 22">
              <a:extLst>
                <a:ext uri="{FF2B5EF4-FFF2-40B4-BE49-F238E27FC236}">
                  <a16:creationId xmlns:a16="http://schemas.microsoft.com/office/drawing/2014/main" id="{C52F0759-1A80-FE4F-CFFA-B2BA3B172778}"/>
                </a:ext>
              </a:extLst>
            </p:cNvPr>
            <p:cNvSpPr/>
            <p:nvPr/>
          </p:nvSpPr>
          <p:spPr>
            <a:xfrm>
              <a:off x="6828639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第四天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" name="AutoShape 23">
              <a:extLst>
                <a:ext uri="{FF2B5EF4-FFF2-40B4-BE49-F238E27FC236}">
                  <a16:creationId xmlns:a16="http://schemas.microsoft.com/office/drawing/2014/main" id="{698DA476-487E-CB07-02FB-68F44BD202E1}"/>
                </a:ext>
              </a:extLst>
            </p:cNvPr>
            <p:cNvSpPr/>
            <p:nvPr/>
          </p:nvSpPr>
          <p:spPr>
            <a:xfrm>
              <a:off x="8200806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第五天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" name="AutoShape 24">
              <a:extLst>
                <a:ext uri="{FF2B5EF4-FFF2-40B4-BE49-F238E27FC236}">
                  <a16:creationId xmlns:a16="http://schemas.microsoft.com/office/drawing/2014/main" id="{AF73224F-6E6E-6905-591C-ADE134C78197}"/>
                </a:ext>
              </a:extLst>
            </p:cNvPr>
            <p:cNvSpPr/>
            <p:nvPr/>
          </p:nvSpPr>
          <p:spPr>
            <a:xfrm>
              <a:off x="9572974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第六天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" name="AutoShape 25">
              <a:extLst>
                <a:ext uri="{FF2B5EF4-FFF2-40B4-BE49-F238E27FC236}">
                  <a16:creationId xmlns:a16="http://schemas.microsoft.com/office/drawing/2014/main" id="{A0BDFE3A-B2B5-BA98-C891-D1C38A1D7FC9}"/>
                </a:ext>
              </a:extLst>
            </p:cNvPr>
            <p:cNvSpPr/>
            <p:nvPr/>
          </p:nvSpPr>
          <p:spPr>
            <a:xfrm>
              <a:off x="10945141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第七天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7" name="Connector 26">
              <a:extLst>
                <a:ext uri="{FF2B5EF4-FFF2-40B4-BE49-F238E27FC236}">
                  <a16:creationId xmlns:a16="http://schemas.microsoft.com/office/drawing/2014/main" id="{C946C4C6-F066-D078-73F1-F1D1E7CC1154}"/>
                </a:ext>
              </a:extLst>
            </p:cNvPr>
            <p:cNvCxnSpPr>
              <a:cxnSpLocks/>
            </p:cNvCxnSpPr>
            <p:nvPr/>
          </p:nvCxnSpPr>
          <p:spPr>
            <a:xfrm rot="20858847">
              <a:off x="2804124" y="2583232"/>
              <a:ext cx="129381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8" name="Connector 27">
              <a:extLst>
                <a:ext uri="{FF2B5EF4-FFF2-40B4-BE49-F238E27FC236}">
                  <a16:creationId xmlns:a16="http://schemas.microsoft.com/office/drawing/2014/main" id="{4F7D96F9-C35F-A4FD-0990-805004D91666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4081172" y="253088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9" name="Connector 28">
              <a:extLst>
                <a:ext uri="{FF2B5EF4-FFF2-40B4-BE49-F238E27FC236}">
                  <a16:creationId xmlns:a16="http://schemas.microsoft.com/office/drawing/2014/main" id="{9DCBDF64-3085-280F-5F6B-00641C78165D}"/>
                </a:ext>
              </a:extLst>
            </p:cNvPr>
            <p:cNvCxnSpPr>
              <a:cxnSpLocks/>
            </p:cNvCxnSpPr>
            <p:nvPr/>
          </p:nvCxnSpPr>
          <p:spPr>
            <a:xfrm rot="20914409">
              <a:off x="5443932" y="2478512"/>
              <a:ext cx="1397309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0" name="Connector 29">
              <a:extLst>
                <a:ext uri="{FF2B5EF4-FFF2-40B4-BE49-F238E27FC236}">
                  <a16:creationId xmlns:a16="http://schemas.microsoft.com/office/drawing/2014/main" id="{38F88674-A442-6B68-C094-260725621147}"/>
                </a:ext>
              </a:extLst>
            </p:cNvPr>
            <p:cNvCxnSpPr>
              <a:cxnSpLocks/>
            </p:cNvCxnSpPr>
            <p:nvPr/>
          </p:nvCxnSpPr>
          <p:spPr>
            <a:xfrm rot="459717">
              <a:off x="6821571" y="2452341"/>
              <a:ext cx="138636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1" name="Connector 30">
              <a:extLst>
                <a:ext uri="{FF2B5EF4-FFF2-40B4-BE49-F238E27FC236}">
                  <a16:creationId xmlns:a16="http://schemas.microsoft.com/office/drawing/2014/main" id="{EB3F5CAF-C3BA-C249-FC5A-928C02CDA719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8197673" y="258324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2" name="Connector 31">
              <a:extLst>
                <a:ext uri="{FF2B5EF4-FFF2-40B4-BE49-F238E27FC236}">
                  <a16:creationId xmlns:a16="http://schemas.microsoft.com/office/drawing/2014/main" id="{E6F1CEFA-6A5F-0637-00DE-1B40418676B0}"/>
                </a:ext>
              </a:extLst>
            </p:cNvPr>
            <p:cNvCxnSpPr>
              <a:cxnSpLocks/>
            </p:cNvCxnSpPr>
            <p:nvPr/>
          </p:nvCxnSpPr>
          <p:spPr>
            <a:xfrm rot="21335983">
              <a:off x="9571453" y="2598944"/>
              <a:ext cx="137527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3" name="Connector 18">
              <a:extLst>
                <a:ext uri="{FF2B5EF4-FFF2-40B4-BE49-F238E27FC236}">
                  <a16:creationId xmlns:a16="http://schemas.microsoft.com/office/drawing/2014/main" id="{097824B6-CBF9-2121-0800-B1978C58A696}"/>
                </a:ext>
              </a:extLst>
            </p:cNvPr>
            <p:cNvCxnSpPr>
              <a:cxnSpLocks/>
            </p:cNvCxnSpPr>
            <p:nvPr/>
          </p:nvCxnSpPr>
          <p:spPr>
            <a:xfrm rot="5365623">
              <a:off x="1991309" y="2893681"/>
              <a:ext cx="1047201" cy="13194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" name="AutoShape 44">
              <a:extLst>
                <a:ext uri="{FF2B5EF4-FFF2-40B4-BE49-F238E27FC236}">
                  <a16:creationId xmlns:a16="http://schemas.microsoft.com/office/drawing/2014/main" id="{74160C2A-522C-AE5A-62E3-7D0077A80C01}"/>
                </a:ext>
              </a:extLst>
            </p:cNvPr>
            <p:cNvSpPr/>
            <p:nvPr/>
          </p:nvSpPr>
          <p:spPr>
            <a:xfrm>
              <a:off x="2053123" y="232429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300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" name="AutoShape 45">
              <a:extLst>
                <a:ext uri="{FF2B5EF4-FFF2-40B4-BE49-F238E27FC236}">
                  <a16:creationId xmlns:a16="http://schemas.microsoft.com/office/drawing/2014/main" id="{226EC4BA-29C2-101C-D950-F6EB0264A1F3}"/>
                </a:ext>
              </a:extLst>
            </p:cNvPr>
            <p:cNvSpPr/>
            <p:nvPr/>
          </p:nvSpPr>
          <p:spPr>
            <a:xfrm>
              <a:off x="2053123" y="2669868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200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" name="AutoShape 46">
              <a:extLst>
                <a:ext uri="{FF2B5EF4-FFF2-40B4-BE49-F238E27FC236}">
                  <a16:creationId xmlns:a16="http://schemas.microsoft.com/office/drawing/2014/main" id="{648606A9-F4D0-B48E-7551-8E2DF0B2DB0A}"/>
                </a:ext>
              </a:extLst>
            </p:cNvPr>
            <p:cNvSpPr/>
            <p:nvPr/>
          </p:nvSpPr>
          <p:spPr>
            <a:xfrm>
              <a:off x="2053123" y="3015444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100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" name="AutoShape 47">
              <a:extLst>
                <a:ext uri="{FF2B5EF4-FFF2-40B4-BE49-F238E27FC236}">
                  <a16:creationId xmlns:a16="http://schemas.microsoft.com/office/drawing/2014/main" id="{2AFFD997-05FB-909C-7A00-E61EFD284DC9}"/>
                </a:ext>
              </a:extLst>
            </p:cNvPr>
            <p:cNvSpPr/>
            <p:nvPr/>
          </p:nvSpPr>
          <p:spPr>
            <a:xfrm>
              <a:off x="2053123" y="336102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BFFFFBA5-7EA6-18CE-1D99-455D7D16B11A}"/>
              </a:ext>
            </a:extLst>
          </p:cNvPr>
          <p:cNvGraphicFramePr>
            <a:graphicFrameLocks noGrp="1"/>
          </p:cNvGraphicFramePr>
          <p:nvPr/>
        </p:nvGraphicFramePr>
        <p:xfrm>
          <a:off x="2546125" y="4552092"/>
          <a:ext cx="3721100" cy="36576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1447535226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7134882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1463587908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420613421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名称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t2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t96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729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风电功率预测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52111"/>
                  </a:ext>
                </a:extLst>
              </a:tr>
            </a:tbl>
          </a:graphicData>
        </a:graphic>
      </p:graphicFrame>
      <p:sp>
        <p:nvSpPr>
          <p:cNvPr id="6" name="AutoShape 5">
            <a:extLst>
              <a:ext uri="{FF2B5EF4-FFF2-40B4-BE49-F238E27FC236}">
                <a16:creationId xmlns:a16="http://schemas.microsoft.com/office/drawing/2014/main" id="{4EFF3C63-7B5F-4DDF-F605-59A919ECBA9A}"/>
              </a:ext>
            </a:extLst>
          </p:cNvPr>
          <p:cNvSpPr/>
          <p:nvPr/>
        </p:nvSpPr>
        <p:spPr>
          <a:xfrm>
            <a:off x="5155438" y="787337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AutoShape 13">
            <a:extLst>
              <a:ext uri="{FF2B5EF4-FFF2-40B4-BE49-F238E27FC236}">
                <a16:creationId xmlns:a16="http://schemas.microsoft.com/office/drawing/2014/main" id="{3C627F60-3708-2318-524A-7CCAC0F3AA6E}"/>
              </a:ext>
            </a:extLst>
          </p:cNvPr>
          <p:cNvSpPr/>
          <p:nvPr/>
        </p:nvSpPr>
        <p:spPr>
          <a:xfrm>
            <a:off x="5303271" y="86353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风电功率预测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409E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31" name="AutoShape 11">
            <a:extLst>
              <a:ext uri="{FF2B5EF4-FFF2-40B4-BE49-F238E27FC236}">
                <a16:creationId xmlns:a16="http://schemas.microsoft.com/office/drawing/2014/main" id="{99016286-0427-79B5-8491-4730B8662CA4}"/>
              </a:ext>
            </a:extLst>
          </p:cNvPr>
          <p:cNvSpPr/>
          <p:nvPr/>
        </p:nvSpPr>
        <p:spPr>
          <a:xfrm>
            <a:off x="3736084" y="86353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负荷预测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58" name="AutoShape 11">
            <a:extLst>
              <a:ext uri="{FF2B5EF4-FFF2-40B4-BE49-F238E27FC236}">
                <a16:creationId xmlns:a16="http://schemas.microsoft.com/office/drawing/2014/main" id="{973DC6A9-4BBF-F458-E00A-F8D6D3AD67B7}"/>
              </a:ext>
            </a:extLst>
          </p:cNvPr>
          <p:cNvSpPr/>
          <p:nvPr/>
        </p:nvSpPr>
        <p:spPr>
          <a:xfrm>
            <a:off x="2535433" y="86353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电价预测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59" name="AutoShape 11">
            <a:extLst>
              <a:ext uri="{FF2B5EF4-FFF2-40B4-BE49-F238E27FC236}">
                <a16:creationId xmlns:a16="http://schemas.microsoft.com/office/drawing/2014/main" id="{AF5D935A-311B-1D57-6A06-7182F35C64DF}"/>
              </a:ext>
            </a:extLst>
          </p:cNvPr>
          <p:cNvSpPr/>
          <p:nvPr/>
        </p:nvSpPr>
        <p:spPr>
          <a:xfrm>
            <a:off x="6754957" y="863537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光伏功率预测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pic>
        <p:nvPicPr>
          <p:cNvPr id="61" name="Picture 10">
            <a:extLst>
              <a:ext uri="{FF2B5EF4-FFF2-40B4-BE49-F238E27FC236}">
                <a16:creationId xmlns:a16="http://schemas.microsoft.com/office/drawing/2014/main" id="{886D2D34-FFFF-FB34-91B8-701457AD3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144" y="2956748"/>
            <a:ext cx="203200" cy="203200"/>
          </a:xfrm>
          <a:prstGeom prst="rect">
            <a:avLst/>
          </a:prstGeom>
        </p:spPr>
      </p:pic>
      <p:sp>
        <p:nvSpPr>
          <p:cNvPr id="62" name="AutoShape 11">
            <a:extLst>
              <a:ext uri="{FF2B5EF4-FFF2-40B4-BE49-F238E27FC236}">
                <a16:creationId xmlns:a16="http://schemas.microsoft.com/office/drawing/2014/main" id="{06F41FE3-D298-6470-102B-2A4746BBEC1B}"/>
              </a:ext>
            </a:extLst>
          </p:cNvPr>
          <p:cNvSpPr/>
          <p:nvPr/>
        </p:nvSpPr>
        <p:spPr>
          <a:xfrm>
            <a:off x="944944" y="290594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市场交易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3" name="Picture 8">
            <a:extLst>
              <a:ext uri="{FF2B5EF4-FFF2-40B4-BE49-F238E27FC236}">
                <a16:creationId xmlns:a16="http://schemas.microsoft.com/office/drawing/2014/main" id="{3853B66E-D41E-AF21-9D0C-F4829CA52B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64" name="AutoShape 9">
            <a:extLst>
              <a:ext uri="{FF2B5EF4-FFF2-40B4-BE49-F238E27FC236}">
                <a16:creationId xmlns:a16="http://schemas.microsoft.com/office/drawing/2014/main" id="{6BF4B753-61C5-47D8-C934-E4D9A932B871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5" name="Picture 12">
            <a:extLst>
              <a:ext uri="{FF2B5EF4-FFF2-40B4-BE49-F238E27FC236}">
                <a16:creationId xmlns:a16="http://schemas.microsoft.com/office/drawing/2014/main" id="{9A76D0DB-F0E3-474C-ED35-47B23735B3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144" y="3485574"/>
            <a:ext cx="203200" cy="203200"/>
          </a:xfrm>
          <a:prstGeom prst="rect">
            <a:avLst/>
          </a:prstGeom>
        </p:spPr>
      </p:pic>
      <p:sp>
        <p:nvSpPr>
          <p:cNvPr id="66" name="AutoShape 13">
            <a:extLst>
              <a:ext uri="{FF2B5EF4-FFF2-40B4-BE49-F238E27FC236}">
                <a16:creationId xmlns:a16="http://schemas.microsoft.com/office/drawing/2014/main" id="{3C258708-363E-593C-8EEA-675D23988BE9}"/>
              </a:ext>
            </a:extLst>
          </p:cNvPr>
          <p:cNvSpPr/>
          <p:nvPr/>
        </p:nvSpPr>
        <p:spPr>
          <a:xfrm>
            <a:off x="944944" y="343477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结算报告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7" name="AutoShape 5">
            <a:extLst>
              <a:ext uri="{FF2B5EF4-FFF2-40B4-BE49-F238E27FC236}">
                <a16:creationId xmlns:a16="http://schemas.microsoft.com/office/drawing/2014/main" id="{0EFB2114-64AE-920F-D050-11ACC3F333BE}"/>
              </a:ext>
            </a:extLst>
          </p:cNvPr>
          <p:cNvSpPr/>
          <p:nvPr/>
        </p:nvSpPr>
        <p:spPr>
          <a:xfrm>
            <a:off x="508000" y="2312735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8" name="Picture 6">
            <a:extLst>
              <a:ext uri="{FF2B5EF4-FFF2-40B4-BE49-F238E27FC236}">
                <a16:creationId xmlns:a16="http://schemas.microsoft.com/office/drawing/2014/main" id="{0C79B648-94DF-5536-3BDE-0376EA5103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2439735"/>
            <a:ext cx="203200" cy="203200"/>
          </a:xfrm>
          <a:prstGeom prst="rect">
            <a:avLst/>
          </a:prstGeom>
        </p:spPr>
      </p:pic>
      <p:sp>
        <p:nvSpPr>
          <p:cNvPr id="69" name="AutoShape 7">
            <a:extLst>
              <a:ext uri="{FF2B5EF4-FFF2-40B4-BE49-F238E27FC236}">
                <a16:creationId xmlns:a16="http://schemas.microsoft.com/office/drawing/2014/main" id="{5A034E3E-EEE1-2DE8-6405-3A06D80CCE9E}"/>
              </a:ext>
            </a:extLst>
          </p:cNvPr>
          <p:cNvSpPr/>
          <p:nvPr/>
        </p:nvSpPr>
        <p:spPr>
          <a:xfrm>
            <a:off x="965200" y="2388935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信息披露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0" name="AutoShape 13">
            <a:extLst>
              <a:ext uri="{FF2B5EF4-FFF2-40B4-BE49-F238E27FC236}">
                <a16:creationId xmlns:a16="http://schemas.microsoft.com/office/drawing/2014/main" id="{74C0AB29-3751-D9EC-47EE-6628F63DA22C}"/>
              </a:ext>
            </a:extLst>
          </p:cNvPr>
          <p:cNvSpPr/>
          <p:nvPr/>
        </p:nvSpPr>
        <p:spPr>
          <a:xfrm>
            <a:off x="965200" y="182600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成交历史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1" name="Picture 14">
            <a:extLst>
              <a:ext uri="{FF2B5EF4-FFF2-40B4-BE49-F238E27FC236}">
                <a16:creationId xmlns:a16="http://schemas.microsoft.com/office/drawing/2014/main" id="{FAB9A27C-4275-985F-48ED-47AD09E593E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876804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075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CB1CA-E44D-0680-A13A-9EB30C01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86C0C7D-4231-3E03-D6CD-8F38C0D11463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BE857E92-C740-69A1-F962-53B728C925E6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4DC8AEE2-36AB-0451-33B1-12DC88BA2EB3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E27473D1-3505-0F57-8BB0-F431BCE8344A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B569384C-D4FF-9DFB-A65E-5289F10FC02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8214D75E-F9DD-A469-6A04-392675ECFA2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4F3065B1-93FB-3EB7-323F-CFE248958C6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85CBA531-977E-E4A7-9D87-E644C229EB2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EF5770D4-2264-BC2E-B596-27E9816AF84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8272CDCD-C850-A34D-C6C5-8B662923AE3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D2A3F2A2-0E3A-5418-D0CF-69C91F8D263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23685760-9DCF-AFF0-9914-7DA6E4639B3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B95B854B-DA81-419C-FEEC-E139C2B4D50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60AB3E6F-6DB6-633C-CBDD-9B1E67450AD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5CEF6B56-D606-BFE6-AA14-98CA649ED76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213471B6-D7A8-F7D3-B66D-A36FB4EC07A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39FDEC39-90D7-C2B7-B72E-8F770DBDCF1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16CEE384-B875-7D36-C1CA-350551F861F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975D0ED1-6F88-B6BD-FB80-3520ED830AD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59047E93-7E1D-6D1A-FA17-DCA5AE4A6E9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A403535-CB23-A471-7482-62D543A80995}"/>
              </a:ext>
            </a:extLst>
          </p:cNvPr>
          <p:cNvGrpSpPr/>
          <p:nvPr/>
        </p:nvGrpSpPr>
        <p:grpSpPr>
          <a:xfrm>
            <a:off x="2535433" y="1825502"/>
            <a:ext cx="7432420" cy="2292595"/>
            <a:chOff x="2039248" y="1447800"/>
            <a:chExt cx="9644751" cy="2292595"/>
          </a:xfrm>
        </p:grpSpPr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3B17436C-EAFD-FEC4-8941-815F68C6AB84}"/>
                </a:ext>
              </a:extLst>
            </p:cNvPr>
            <p:cNvSpPr/>
            <p:nvPr/>
          </p:nvSpPr>
          <p:spPr>
            <a:xfrm>
              <a:off x="2039248" y="1447800"/>
              <a:ext cx="9644751" cy="2292595"/>
            </a:xfrm>
            <a:prstGeom prst="roundRect">
              <a:avLst>
                <a:gd name="adj" fmla="val 4444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6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EE93CD9C-51F9-C457-DD49-6A507DD7E3B7}"/>
                </a:ext>
              </a:extLst>
            </p:cNvPr>
            <p:cNvSpPr/>
            <p:nvPr/>
          </p:nvSpPr>
          <p:spPr>
            <a:xfrm>
              <a:off x="2502484" y="1612022"/>
              <a:ext cx="2672096" cy="26757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光伏功率预测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AutoShape 16">
              <a:extLst>
                <a:ext uri="{FF2B5EF4-FFF2-40B4-BE49-F238E27FC236}">
                  <a16:creationId xmlns:a16="http://schemas.microsoft.com/office/drawing/2014/main" id="{1B8CDD24-0BB8-CC34-E943-C9A8BF0F11B3}"/>
                </a:ext>
              </a:extLst>
            </p:cNvPr>
            <p:cNvSpPr/>
            <p:nvPr/>
          </p:nvSpPr>
          <p:spPr>
            <a:xfrm>
              <a:off x="2395698" y="2050909"/>
              <a:ext cx="1266718" cy="17681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光伏功率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(kW)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12" name="Connector 17">
              <a:extLst>
                <a:ext uri="{FF2B5EF4-FFF2-40B4-BE49-F238E27FC236}">
                  <a16:creationId xmlns:a16="http://schemas.microsoft.com/office/drawing/2014/main" id="{12B5C9FA-6F49-6838-AC3A-9801E34D3020}"/>
                </a:ext>
              </a:extLst>
            </p:cNvPr>
            <p:cNvCxnSpPr>
              <a:cxnSpLocks/>
            </p:cNvCxnSpPr>
            <p:nvPr/>
          </p:nvCxnSpPr>
          <p:spPr>
            <a:xfrm>
              <a:off x="2501035" y="3426235"/>
              <a:ext cx="8971862" cy="41888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AutoShape 19">
              <a:extLst>
                <a:ext uri="{FF2B5EF4-FFF2-40B4-BE49-F238E27FC236}">
                  <a16:creationId xmlns:a16="http://schemas.microsoft.com/office/drawing/2014/main" id="{07B5E79E-DA1E-7613-1416-5944928C8EC9}"/>
                </a:ext>
              </a:extLst>
            </p:cNvPr>
            <p:cNvSpPr/>
            <p:nvPr/>
          </p:nvSpPr>
          <p:spPr>
            <a:xfrm>
              <a:off x="2712138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Arial"/>
                  <a:sym typeface="Noto Sans SC"/>
                </a:rPr>
                <a:t>第一天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AutoShape 20">
              <a:extLst>
                <a:ext uri="{FF2B5EF4-FFF2-40B4-BE49-F238E27FC236}">
                  <a16:creationId xmlns:a16="http://schemas.microsoft.com/office/drawing/2014/main" id="{2F8B273C-2C7F-60BF-0D06-7355F05E07FC}"/>
                </a:ext>
              </a:extLst>
            </p:cNvPr>
            <p:cNvSpPr/>
            <p:nvPr/>
          </p:nvSpPr>
          <p:spPr>
            <a:xfrm>
              <a:off x="4084305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第二天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5" name="AutoShape 21">
              <a:extLst>
                <a:ext uri="{FF2B5EF4-FFF2-40B4-BE49-F238E27FC236}">
                  <a16:creationId xmlns:a16="http://schemas.microsoft.com/office/drawing/2014/main" id="{54C73A0C-A6A0-662E-0174-7A71804C42A8}"/>
                </a:ext>
              </a:extLst>
            </p:cNvPr>
            <p:cNvSpPr/>
            <p:nvPr/>
          </p:nvSpPr>
          <p:spPr>
            <a:xfrm>
              <a:off x="5456472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第三天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AutoShape 22">
              <a:extLst>
                <a:ext uri="{FF2B5EF4-FFF2-40B4-BE49-F238E27FC236}">
                  <a16:creationId xmlns:a16="http://schemas.microsoft.com/office/drawing/2014/main" id="{C77EF0FC-402D-0D54-E1C5-CDE6B27CC304}"/>
                </a:ext>
              </a:extLst>
            </p:cNvPr>
            <p:cNvSpPr/>
            <p:nvPr/>
          </p:nvSpPr>
          <p:spPr>
            <a:xfrm>
              <a:off x="6828639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第四天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9" name="AutoShape 23">
              <a:extLst>
                <a:ext uri="{FF2B5EF4-FFF2-40B4-BE49-F238E27FC236}">
                  <a16:creationId xmlns:a16="http://schemas.microsoft.com/office/drawing/2014/main" id="{3D285E16-A087-73DA-87FF-F2DB47BF1311}"/>
                </a:ext>
              </a:extLst>
            </p:cNvPr>
            <p:cNvSpPr/>
            <p:nvPr/>
          </p:nvSpPr>
          <p:spPr>
            <a:xfrm>
              <a:off x="8200806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第五天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2" name="AutoShape 24">
              <a:extLst>
                <a:ext uri="{FF2B5EF4-FFF2-40B4-BE49-F238E27FC236}">
                  <a16:creationId xmlns:a16="http://schemas.microsoft.com/office/drawing/2014/main" id="{EF63488B-9BA2-1CEF-C07C-25E5E701EB56}"/>
                </a:ext>
              </a:extLst>
            </p:cNvPr>
            <p:cNvSpPr/>
            <p:nvPr/>
          </p:nvSpPr>
          <p:spPr>
            <a:xfrm>
              <a:off x="9572974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第六天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5" name="AutoShape 25">
              <a:extLst>
                <a:ext uri="{FF2B5EF4-FFF2-40B4-BE49-F238E27FC236}">
                  <a16:creationId xmlns:a16="http://schemas.microsoft.com/office/drawing/2014/main" id="{17E3EEFD-5B73-4D61-2AD7-1B1D0AB00111}"/>
                </a:ext>
              </a:extLst>
            </p:cNvPr>
            <p:cNvSpPr/>
            <p:nvPr/>
          </p:nvSpPr>
          <p:spPr>
            <a:xfrm>
              <a:off x="10945141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第七天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47" name="Connector 26">
              <a:extLst>
                <a:ext uri="{FF2B5EF4-FFF2-40B4-BE49-F238E27FC236}">
                  <a16:creationId xmlns:a16="http://schemas.microsoft.com/office/drawing/2014/main" id="{4D2C9A0E-2162-DA4B-AB74-341A33AF8A29}"/>
                </a:ext>
              </a:extLst>
            </p:cNvPr>
            <p:cNvCxnSpPr>
              <a:cxnSpLocks/>
            </p:cNvCxnSpPr>
            <p:nvPr/>
          </p:nvCxnSpPr>
          <p:spPr>
            <a:xfrm rot="20858847">
              <a:off x="2804124" y="2583232"/>
              <a:ext cx="129381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8" name="Connector 27">
              <a:extLst>
                <a:ext uri="{FF2B5EF4-FFF2-40B4-BE49-F238E27FC236}">
                  <a16:creationId xmlns:a16="http://schemas.microsoft.com/office/drawing/2014/main" id="{A24A9E5D-EAFD-8C0E-F28B-32E6B102A713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4081172" y="253088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49" name="Connector 28">
              <a:extLst>
                <a:ext uri="{FF2B5EF4-FFF2-40B4-BE49-F238E27FC236}">
                  <a16:creationId xmlns:a16="http://schemas.microsoft.com/office/drawing/2014/main" id="{AA433814-4AF3-5B49-6494-1A5597EA5D3C}"/>
                </a:ext>
              </a:extLst>
            </p:cNvPr>
            <p:cNvCxnSpPr>
              <a:cxnSpLocks/>
            </p:cNvCxnSpPr>
            <p:nvPr/>
          </p:nvCxnSpPr>
          <p:spPr>
            <a:xfrm rot="20914409">
              <a:off x="5443932" y="2478512"/>
              <a:ext cx="1397309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0" name="Connector 29">
              <a:extLst>
                <a:ext uri="{FF2B5EF4-FFF2-40B4-BE49-F238E27FC236}">
                  <a16:creationId xmlns:a16="http://schemas.microsoft.com/office/drawing/2014/main" id="{53192DD7-B75D-F1A3-6F41-1596E7D520D3}"/>
                </a:ext>
              </a:extLst>
            </p:cNvPr>
            <p:cNvCxnSpPr>
              <a:cxnSpLocks/>
            </p:cNvCxnSpPr>
            <p:nvPr/>
          </p:nvCxnSpPr>
          <p:spPr>
            <a:xfrm rot="459717">
              <a:off x="6821571" y="2452341"/>
              <a:ext cx="138636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1" name="Connector 30">
              <a:extLst>
                <a:ext uri="{FF2B5EF4-FFF2-40B4-BE49-F238E27FC236}">
                  <a16:creationId xmlns:a16="http://schemas.microsoft.com/office/drawing/2014/main" id="{D4A3FD08-6191-D594-DB1E-0179E1AF906A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8197673" y="258324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2" name="Connector 31">
              <a:extLst>
                <a:ext uri="{FF2B5EF4-FFF2-40B4-BE49-F238E27FC236}">
                  <a16:creationId xmlns:a16="http://schemas.microsoft.com/office/drawing/2014/main" id="{97C597FF-B93F-2BBB-00A4-603B66821306}"/>
                </a:ext>
              </a:extLst>
            </p:cNvPr>
            <p:cNvCxnSpPr>
              <a:cxnSpLocks/>
            </p:cNvCxnSpPr>
            <p:nvPr/>
          </p:nvCxnSpPr>
          <p:spPr>
            <a:xfrm rot="21335983">
              <a:off x="9571453" y="2598944"/>
              <a:ext cx="137527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3" name="Connector 18">
              <a:extLst>
                <a:ext uri="{FF2B5EF4-FFF2-40B4-BE49-F238E27FC236}">
                  <a16:creationId xmlns:a16="http://schemas.microsoft.com/office/drawing/2014/main" id="{C7E70F58-5BA2-B56A-D4C7-F798CDBFC8DC}"/>
                </a:ext>
              </a:extLst>
            </p:cNvPr>
            <p:cNvCxnSpPr>
              <a:cxnSpLocks/>
            </p:cNvCxnSpPr>
            <p:nvPr/>
          </p:nvCxnSpPr>
          <p:spPr>
            <a:xfrm rot="5365623">
              <a:off x="1991309" y="2893681"/>
              <a:ext cx="1047201" cy="13194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" name="AutoShape 44">
              <a:extLst>
                <a:ext uri="{FF2B5EF4-FFF2-40B4-BE49-F238E27FC236}">
                  <a16:creationId xmlns:a16="http://schemas.microsoft.com/office/drawing/2014/main" id="{3174A756-D7E5-421F-A9B2-C8F2627B8855}"/>
                </a:ext>
              </a:extLst>
            </p:cNvPr>
            <p:cNvSpPr/>
            <p:nvPr/>
          </p:nvSpPr>
          <p:spPr>
            <a:xfrm>
              <a:off x="2053123" y="232429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300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5" name="AutoShape 45">
              <a:extLst>
                <a:ext uri="{FF2B5EF4-FFF2-40B4-BE49-F238E27FC236}">
                  <a16:creationId xmlns:a16="http://schemas.microsoft.com/office/drawing/2014/main" id="{749B0C6C-B8B2-E63C-3C24-8FEFFCDEBFF5}"/>
                </a:ext>
              </a:extLst>
            </p:cNvPr>
            <p:cNvSpPr/>
            <p:nvPr/>
          </p:nvSpPr>
          <p:spPr>
            <a:xfrm>
              <a:off x="2053123" y="2669868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200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6" name="AutoShape 46">
              <a:extLst>
                <a:ext uri="{FF2B5EF4-FFF2-40B4-BE49-F238E27FC236}">
                  <a16:creationId xmlns:a16="http://schemas.microsoft.com/office/drawing/2014/main" id="{DE7BACBA-D374-CE1B-E31B-E2E86BB94FD2}"/>
                </a:ext>
              </a:extLst>
            </p:cNvPr>
            <p:cNvSpPr/>
            <p:nvPr/>
          </p:nvSpPr>
          <p:spPr>
            <a:xfrm>
              <a:off x="2053123" y="3015444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100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7" name="AutoShape 47">
              <a:extLst>
                <a:ext uri="{FF2B5EF4-FFF2-40B4-BE49-F238E27FC236}">
                  <a16:creationId xmlns:a16="http://schemas.microsoft.com/office/drawing/2014/main" id="{89F601E9-3EB7-9F03-8271-B91EB238A03B}"/>
                </a:ext>
              </a:extLst>
            </p:cNvPr>
            <p:cNvSpPr/>
            <p:nvPr/>
          </p:nvSpPr>
          <p:spPr>
            <a:xfrm>
              <a:off x="2053123" y="336102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5476A432-7DE5-1476-DC81-1A9FF5B5F5A1}"/>
              </a:ext>
            </a:extLst>
          </p:cNvPr>
          <p:cNvGraphicFramePr>
            <a:graphicFrameLocks noGrp="1"/>
          </p:cNvGraphicFramePr>
          <p:nvPr/>
        </p:nvGraphicFramePr>
        <p:xfrm>
          <a:off x="2546125" y="4552092"/>
          <a:ext cx="3721100" cy="36576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1447535226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7134882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1463587908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420613421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名称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t2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t96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729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光伏功率预测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210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220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52111"/>
                  </a:ext>
                </a:extLst>
              </a:tr>
            </a:tbl>
          </a:graphicData>
        </a:graphic>
      </p:graphicFrame>
      <p:sp>
        <p:nvSpPr>
          <p:cNvPr id="6" name="AutoShape 5">
            <a:extLst>
              <a:ext uri="{FF2B5EF4-FFF2-40B4-BE49-F238E27FC236}">
                <a16:creationId xmlns:a16="http://schemas.microsoft.com/office/drawing/2014/main" id="{4D4FC0BC-E107-649C-2218-5404C7EC5F10}"/>
              </a:ext>
            </a:extLst>
          </p:cNvPr>
          <p:cNvSpPr/>
          <p:nvPr/>
        </p:nvSpPr>
        <p:spPr>
          <a:xfrm>
            <a:off x="6653507" y="81864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AutoShape 13">
            <a:extLst>
              <a:ext uri="{FF2B5EF4-FFF2-40B4-BE49-F238E27FC236}">
                <a16:creationId xmlns:a16="http://schemas.microsoft.com/office/drawing/2014/main" id="{B5721D2C-60DE-549A-4C4E-0EDE63CD3F32}"/>
              </a:ext>
            </a:extLst>
          </p:cNvPr>
          <p:cNvSpPr/>
          <p:nvPr/>
        </p:nvSpPr>
        <p:spPr>
          <a:xfrm>
            <a:off x="6801340" y="89484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光伏功率预测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409E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31" name="AutoShape 11">
            <a:extLst>
              <a:ext uri="{FF2B5EF4-FFF2-40B4-BE49-F238E27FC236}">
                <a16:creationId xmlns:a16="http://schemas.microsoft.com/office/drawing/2014/main" id="{C525EEF0-6AA7-71EE-947F-A07A71512034}"/>
              </a:ext>
            </a:extLst>
          </p:cNvPr>
          <p:cNvSpPr/>
          <p:nvPr/>
        </p:nvSpPr>
        <p:spPr>
          <a:xfrm>
            <a:off x="3838674" y="89484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负荷预测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58" name="AutoShape 11">
            <a:extLst>
              <a:ext uri="{FF2B5EF4-FFF2-40B4-BE49-F238E27FC236}">
                <a16:creationId xmlns:a16="http://schemas.microsoft.com/office/drawing/2014/main" id="{35591B88-141A-055A-567C-51559D57BA9E}"/>
              </a:ext>
            </a:extLst>
          </p:cNvPr>
          <p:cNvSpPr/>
          <p:nvPr/>
        </p:nvSpPr>
        <p:spPr>
          <a:xfrm>
            <a:off x="4951577" y="89484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风电功率预测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59" name="AutoShape 11">
            <a:extLst>
              <a:ext uri="{FF2B5EF4-FFF2-40B4-BE49-F238E27FC236}">
                <a16:creationId xmlns:a16="http://schemas.microsoft.com/office/drawing/2014/main" id="{366D4DA4-A9D2-104D-BDBC-70D33D8053EC}"/>
              </a:ext>
            </a:extLst>
          </p:cNvPr>
          <p:cNvSpPr/>
          <p:nvPr/>
        </p:nvSpPr>
        <p:spPr>
          <a:xfrm>
            <a:off x="2554337" y="89484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电价预测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pic>
        <p:nvPicPr>
          <p:cNvPr id="61" name="Picture 10">
            <a:extLst>
              <a:ext uri="{FF2B5EF4-FFF2-40B4-BE49-F238E27FC236}">
                <a16:creationId xmlns:a16="http://schemas.microsoft.com/office/drawing/2014/main" id="{147BB20F-9C9E-0A51-2B05-CE27C43F8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144" y="2956748"/>
            <a:ext cx="203200" cy="203200"/>
          </a:xfrm>
          <a:prstGeom prst="rect">
            <a:avLst/>
          </a:prstGeom>
        </p:spPr>
      </p:pic>
      <p:sp>
        <p:nvSpPr>
          <p:cNvPr id="62" name="AutoShape 11">
            <a:extLst>
              <a:ext uri="{FF2B5EF4-FFF2-40B4-BE49-F238E27FC236}">
                <a16:creationId xmlns:a16="http://schemas.microsoft.com/office/drawing/2014/main" id="{872E3889-B7FB-524C-6BE6-38A5B0573790}"/>
              </a:ext>
            </a:extLst>
          </p:cNvPr>
          <p:cNvSpPr/>
          <p:nvPr/>
        </p:nvSpPr>
        <p:spPr>
          <a:xfrm>
            <a:off x="944944" y="290594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市场交易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3" name="Picture 8">
            <a:extLst>
              <a:ext uri="{FF2B5EF4-FFF2-40B4-BE49-F238E27FC236}">
                <a16:creationId xmlns:a16="http://schemas.microsoft.com/office/drawing/2014/main" id="{4333C82F-570E-1640-DCFA-296FFEB4F5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64" name="AutoShape 9">
            <a:extLst>
              <a:ext uri="{FF2B5EF4-FFF2-40B4-BE49-F238E27FC236}">
                <a16:creationId xmlns:a16="http://schemas.microsoft.com/office/drawing/2014/main" id="{073C6036-4614-7A2A-AAA4-66B65A44FD5F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5" name="Picture 12">
            <a:extLst>
              <a:ext uri="{FF2B5EF4-FFF2-40B4-BE49-F238E27FC236}">
                <a16:creationId xmlns:a16="http://schemas.microsoft.com/office/drawing/2014/main" id="{F2F3AF79-9430-5512-614B-B1AC3A6F42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144" y="3485574"/>
            <a:ext cx="203200" cy="203200"/>
          </a:xfrm>
          <a:prstGeom prst="rect">
            <a:avLst/>
          </a:prstGeom>
        </p:spPr>
      </p:pic>
      <p:sp>
        <p:nvSpPr>
          <p:cNvPr id="66" name="AutoShape 13">
            <a:extLst>
              <a:ext uri="{FF2B5EF4-FFF2-40B4-BE49-F238E27FC236}">
                <a16:creationId xmlns:a16="http://schemas.microsoft.com/office/drawing/2014/main" id="{04B88DDB-6D0E-BEF9-4DAF-913E9570119C}"/>
              </a:ext>
            </a:extLst>
          </p:cNvPr>
          <p:cNvSpPr/>
          <p:nvPr/>
        </p:nvSpPr>
        <p:spPr>
          <a:xfrm>
            <a:off x="944944" y="343477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结算报告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7" name="AutoShape 5">
            <a:extLst>
              <a:ext uri="{FF2B5EF4-FFF2-40B4-BE49-F238E27FC236}">
                <a16:creationId xmlns:a16="http://schemas.microsoft.com/office/drawing/2014/main" id="{C1D90275-B324-70AA-7D41-912835BAA030}"/>
              </a:ext>
            </a:extLst>
          </p:cNvPr>
          <p:cNvSpPr/>
          <p:nvPr/>
        </p:nvSpPr>
        <p:spPr>
          <a:xfrm>
            <a:off x="508000" y="2312735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8" name="Picture 6">
            <a:extLst>
              <a:ext uri="{FF2B5EF4-FFF2-40B4-BE49-F238E27FC236}">
                <a16:creationId xmlns:a16="http://schemas.microsoft.com/office/drawing/2014/main" id="{100A38A0-0BDF-6C84-75FE-8E7548F95C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2439735"/>
            <a:ext cx="203200" cy="203200"/>
          </a:xfrm>
          <a:prstGeom prst="rect">
            <a:avLst/>
          </a:prstGeom>
        </p:spPr>
      </p:pic>
      <p:sp>
        <p:nvSpPr>
          <p:cNvPr id="69" name="AutoShape 7">
            <a:extLst>
              <a:ext uri="{FF2B5EF4-FFF2-40B4-BE49-F238E27FC236}">
                <a16:creationId xmlns:a16="http://schemas.microsoft.com/office/drawing/2014/main" id="{580AEC27-CA1B-46B5-E047-1612D684A3BA}"/>
              </a:ext>
            </a:extLst>
          </p:cNvPr>
          <p:cNvSpPr/>
          <p:nvPr/>
        </p:nvSpPr>
        <p:spPr>
          <a:xfrm>
            <a:off x="965200" y="2388935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信息披露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0" name="AutoShape 13">
            <a:extLst>
              <a:ext uri="{FF2B5EF4-FFF2-40B4-BE49-F238E27FC236}">
                <a16:creationId xmlns:a16="http://schemas.microsoft.com/office/drawing/2014/main" id="{92DE6DBE-0E98-3DA3-8E53-5BA8E487D115}"/>
              </a:ext>
            </a:extLst>
          </p:cNvPr>
          <p:cNvSpPr/>
          <p:nvPr/>
        </p:nvSpPr>
        <p:spPr>
          <a:xfrm>
            <a:off x="965200" y="182600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成交历史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1" name="Picture 14">
            <a:extLst>
              <a:ext uri="{FF2B5EF4-FFF2-40B4-BE49-F238E27FC236}">
                <a16:creationId xmlns:a16="http://schemas.microsoft.com/office/drawing/2014/main" id="{6E05EC7C-87CE-0000-A149-4EF7F205138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876804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5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AADD6-C354-DEA1-4581-70E3BC939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6FBD043-B57E-D75E-C61D-8E1BE0843B01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0321C05C-4144-97FF-4489-9F71CE1F2943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E2187070-4ABD-F82C-575E-E6EB1B3D99E4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C346BD9A-CE36-B7E6-2E64-8757DE11B0FD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C7728E5D-5244-4B7F-0638-346459DA1FE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1101CBEC-410E-ACB5-8D13-94E412705B7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8E869B4C-2A9D-1D72-69E4-337BB41F55E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2798F461-70C8-B064-B160-514424CBF35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3EF17C67-DF12-6CCD-E858-DFCE31ADF61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C354AEE5-0CA3-69EE-FFF6-34848287B9C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68DB9757-1F2A-A49F-0D82-ECE1375FC37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07883BC5-A1CF-5E2E-78C6-ABDE2DBC032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1894264C-DA5A-19F3-C285-7CA7DF82739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726AB09F-AA5E-48BF-1A46-554FFC6400E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E9A74382-E141-5929-F687-4B441BEA95D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41948C8E-A9BD-A146-344B-3119A0942A2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FB831E7F-EE1E-BB23-B012-33B406205FE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89A69A6D-FEB3-728C-2EA4-5A3A0535417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6965F9E4-A8E9-526D-E7FE-55DDDB8F9FD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E3785DAA-191A-7173-4AC7-D2C0010BDAB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101B93EA-A9D8-954A-A6BB-24D8ACEE5B5D}"/>
              </a:ext>
            </a:extLst>
          </p:cNvPr>
          <p:cNvSpPr/>
          <p:nvPr/>
        </p:nvSpPr>
        <p:spPr>
          <a:xfrm>
            <a:off x="2136833" y="927885"/>
            <a:ext cx="9473867" cy="5879314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AutoShape 5">
            <a:extLst>
              <a:ext uri="{FF2B5EF4-FFF2-40B4-BE49-F238E27FC236}">
                <a16:creationId xmlns:a16="http://schemas.microsoft.com/office/drawing/2014/main" id="{72D90929-5E4A-7213-540D-4A2064B13CB5}"/>
              </a:ext>
            </a:extLst>
          </p:cNvPr>
          <p:cNvSpPr/>
          <p:nvPr/>
        </p:nvSpPr>
        <p:spPr>
          <a:xfrm>
            <a:off x="2427372" y="1094930"/>
            <a:ext cx="6323259" cy="27599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机组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G1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409E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graphicFrame>
        <p:nvGraphicFramePr>
          <p:cNvPr id="31" name="Table 6">
            <a:extLst>
              <a:ext uri="{FF2B5EF4-FFF2-40B4-BE49-F238E27FC236}">
                <a16:creationId xmlns:a16="http://schemas.microsoft.com/office/drawing/2014/main" id="{E85D0B5F-491B-75D2-6F65-EB11AB331114}"/>
              </a:ext>
            </a:extLst>
          </p:cNvPr>
          <p:cNvGraphicFramePr>
            <a:graphicFrameLocks noGrp="1"/>
          </p:cNvGraphicFramePr>
          <p:nvPr/>
        </p:nvGraphicFramePr>
        <p:xfrm>
          <a:off x="2336558" y="2272490"/>
          <a:ext cx="5430054" cy="449850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534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3586700789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507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分段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起始出力（</a:t>
                      </a:r>
                      <a:r>
                        <a:rPr lang="en-US" altLang="zh-CN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MW</a:t>
                      </a:r>
                      <a:r>
                        <a:rPr lang="zh-CN" altLang="en-US" sz="1300" b="1" i="0" u="none" strike="noStrik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）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终止出力（</a:t>
                      </a:r>
                      <a:r>
                        <a:rPr lang="en-US" altLang="zh-CN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MW</a:t>
                      </a:r>
                      <a:r>
                        <a:rPr lang="zh-CN" altLang="en-US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）</a:t>
                      </a:r>
                      <a:endParaRPr lang="en-US" sz="1300" b="1" i="0" u="none" strike="noStrike" cap="none" dirty="0">
                        <a:solidFill>
                          <a:srgbClr val="666666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zh-CN" altLang="en-US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分段报价（元</a:t>
                      </a:r>
                      <a:r>
                        <a:rPr lang="en-US" altLang="zh-CN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/MWh</a:t>
                      </a:r>
                      <a:r>
                        <a:rPr lang="zh-CN" altLang="en-US" sz="1300" b="1" i="0" u="none" strike="noStrike" cap="none" dirty="0">
                          <a:solidFill>
                            <a:srgbClr val="666666"/>
                          </a:solidFill>
                          <a:latin typeface="Noto Sans SC"/>
                          <a:ea typeface="Noto Sans SC"/>
                          <a:sym typeface="Arial"/>
                        </a:rPr>
                        <a:t>）</a:t>
                      </a:r>
                      <a:endParaRPr lang="en-US" sz="1300" b="1" i="0" u="none" strike="noStrike" cap="none" dirty="0">
                        <a:solidFill>
                          <a:srgbClr val="666666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7F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</a:t>
                      </a:r>
                      <a:endParaRPr lang="en-US" altLang="zh-CN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</a:t>
                      </a:r>
                      <a:endParaRPr 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330</a:t>
                      </a:r>
                      <a:endParaRPr 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200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300" b="0" i="0" u="none" strike="noStrik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</a:t>
                      </a:r>
                      <a:endParaRPr lang="en-US" altLang="zh-CN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330</a:t>
                      </a:r>
                      <a:endParaRPr lang="en-US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360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210</a:t>
                      </a:r>
                      <a:endParaRPr lang="en-US" altLang="zh-CN" sz="1300" b="0" i="0" u="none" strike="noStrike" cap="none" dirty="0">
                        <a:solidFill>
                          <a:srgbClr val="6B7280"/>
                        </a:solidFill>
                        <a:latin typeface="Noto Sans SC"/>
                        <a:ea typeface="Noto Sans SC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100" dirty="0"/>
                        <a:t>3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360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390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220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70021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100" dirty="0"/>
                        <a:t>4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390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420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230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34031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100" dirty="0"/>
                        <a:t>5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420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450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240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38145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100" dirty="0"/>
                        <a:t>6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450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480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250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01702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100" dirty="0"/>
                        <a:t>7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480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510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260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56613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100" dirty="0"/>
                        <a:t>8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510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540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270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115625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100" dirty="0"/>
                        <a:t>9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540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570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280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19206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100" dirty="0"/>
                        <a:t>10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/>
                      </a:pPr>
                      <a:r>
                        <a:rPr lang="en-US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570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600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300" b="0" i="0" u="none" strike="noStrike" cap="none" dirty="0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sym typeface="Arial"/>
                        </a:rPr>
                        <a:t>290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839181"/>
                  </a:ext>
                </a:extLst>
              </a:tr>
            </a:tbl>
          </a:graphicData>
        </a:graphic>
      </p:graphicFrame>
      <p:grpSp>
        <p:nvGrpSpPr>
          <p:cNvPr id="88" name="组合 87">
            <a:extLst>
              <a:ext uri="{FF2B5EF4-FFF2-40B4-BE49-F238E27FC236}">
                <a16:creationId xmlns:a16="http://schemas.microsoft.com/office/drawing/2014/main" id="{8BF011B0-ED98-86F3-5D92-D956A258972A}"/>
              </a:ext>
            </a:extLst>
          </p:cNvPr>
          <p:cNvGrpSpPr/>
          <p:nvPr/>
        </p:nvGrpSpPr>
        <p:grpSpPr>
          <a:xfrm>
            <a:off x="7251780" y="1790363"/>
            <a:ext cx="4306826" cy="2292595"/>
            <a:chOff x="3493874" y="2893318"/>
            <a:chExt cx="5256758" cy="2292595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AAA8926F-6F57-8F90-9A0F-1A37339EF08B}"/>
                </a:ext>
              </a:extLst>
            </p:cNvPr>
            <p:cNvGrpSpPr/>
            <p:nvPr/>
          </p:nvGrpSpPr>
          <p:grpSpPr>
            <a:xfrm>
              <a:off x="3493874" y="2893318"/>
              <a:ext cx="5256758" cy="2292595"/>
              <a:chOff x="2039249" y="1447800"/>
              <a:chExt cx="7181496" cy="2292595"/>
            </a:xfrm>
          </p:grpSpPr>
          <p:sp>
            <p:nvSpPr>
              <p:cNvPr id="54" name="AutoShape 7">
                <a:extLst>
                  <a:ext uri="{FF2B5EF4-FFF2-40B4-BE49-F238E27FC236}">
                    <a16:creationId xmlns:a16="http://schemas.microsoft.com/office/drawing/2014/main" id="{4312D4C3-781A-A9DE-1116-559D1B95FA41}"/>
                  </a:ext>
                </a:extLst>
              </p:cNvPr>
              <p:cNvSpPr/>
              <p:nvPr/>
            </p:nvSpPr>
            <p:spPr>
              <a:xfrm>
                <a:off x="2039249" y="1447800"/>
                <a:ext cx="7181496" cy="2292595"/>
              </a:xfrm>
              <a:prstGeom prst="roundRect">
                <a:avLst>
                  <a:gd name="adj" fmla="val 4444"/>
                </a:avLst>
              </a:prstGeom>
              <a:solidFill>
                <a:srgbClr val="FFFFFF">
                  <a:alpha val="100000"/>
                </a:srgbClr>
              </a:solidFill>
              <a:ln w="12700" cap="flat" cmpd="sng">
                <a:solidFill>
                  <a:srgbClr val="E5E6EB">
                    <a:alpha val="100000"/>
                  </a:srgbClr>
                </a:solidFill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5" name="AutoShape 8">
                <a:extLst>
                  <a:ext uri="{FF2B5EF4-FFF2-40B4-BE49-F238E27FC236}">
                    <a16:creationId xmlns:a16="http://schemas.microsoft.com/office/drawing/2014/main" id="{8A874AD4-0DAB-D312-7A7F-B3203CA00D68}"/>
                  </a:ext>
                </a:extLst>
              </p:cNvPr>
              <p:cNvSpPr/>
              <p:nvPr/>
            </p:nvSpPr>
            <p:spPr>
              <a:xfrm>
                <a:off x="2502484" y="1612022"/>
                <a:ext cx="2672096" cy="267578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zh-CN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latin typeface="Noto Sans SC"/>
                    <a:ea typeface="Noto Sans SC"/>
                    <a:cs typeface="Noto Sans SC"/>
                    <a:sym typeface="Noto Sans SC"/>
                  </a:rPr>
                  <a:t>报价曲线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6" name="AutoShape 16">
                <a:extLst>
                  <a:ext uri="{FF2B5EF4-FFF2-40B4-BE49-F238E27FC236}">
                    <a16:creationId xmlns:a16="http://schemas.microsoft.com/office/drawing/2014/main" id="{1FF8278B-987A-1569-3749-17F6659D9AC1}"/>
                  </a:ext>
                </a:extLst>
              </p:cNvPr>
              <p:cNvSpPr/>
              <p:nvPr/>
            </p:nvSpPr>
            <p:spPr>
              <a:xfrm>
                <a:off x="2175375" y="2049643"/>
                <a:ext cx="1601664" cy="156966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marR="0" lvl="0" indent="0" algn="ctr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1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Noto Sans SC"/>
                    <a:ea typeface="Noto Sans SC"/>
                    <a:cs typeface="Noto Sans SC"/>
                    <a:sym typeface="Noto Sans SC"/>
                  </a:rPr>
                  <a:t>电价</a:t>
                </a:r>
                <a:r>
                  <a:rPr kumimoji="0" 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Noto Sans SC"/>
                    <a:ea typeface="Noto Sans SC"/>
                    <a:cs typeface="Noto Sans SC"/>
                    <a:sym typeface="Noto Sans SC"/>
                  </a:rPr>
                  <a:t>(元/kWh)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57" name="Connector 17">
                <a:extLst>
                  <a:ext uri="{FF2B5EF4-FFF2-40B4-BE49-F238E27FC236}">
                    <a16:creationId xmlns:a16="http://schemas.microsoft.com/office/drawing/2014/main" id="{D7FD62AA-C9B2-29BA-A88B-1D1AFCD4BA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01035" y="3426235"/>
                <a:ext cx="6497176" cy="41887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2700" cap="flat" cmpd="sng">
                <a:solidFill>
                  <a:srgbClr val="CCCC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8" name="AutoShape 19">
                <a:extLst>
                  <a:ext uri="{FF2B5EF4-FFF2-40B4-BE49-F238E27FC236}">
                    <a16:creationId xmlns:a16="http://schemas.microsoft.com/office/drawing/2014/main" id="{F65A6C94-9F07-96D1-7CA4-95FDE46AB9FB}"/>
                  </a:ext>
                </a:extLst>
              </p:cNvPr>
              <p:cNvSpPr/>
              <p:nvPr/>
            </p:nvSpPr>
            <p:spPr>
              <a:xfrm>
                <a:off x="2807758" y="3468123"/>
                <a:ext cx="527757" cy="16755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8C8C8C"/>
                    </a:solidFill>
                    <a:effectLst/>
                    <a:uLnTx/>
                    <a:uFillTx/>
                    <a:latin typeface="Noto Sans SC"/>
                    <a:ea typeface="Noto Sans SC"/>
                    <a:cs typeface="Arial"/>
                    <a:sym typeface="Noto Sans SC"/>
                  </a:rPr>
                  <a:t>0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9" name="AutoShape 20">
                <a:extLst>
                  <a:ext uri="{FF2B5EF4-FFF2-40B4-BE49-F238E27FC236}">
                    <a16:creationId xmlns:a16="http://schemas.microsoft.com/office/drawing/2014/main" id="{86916366-3F78-B963-AF12-B7EAC90A4953}"/>
                  </a:ext>
                </a:extLst>
              </p:cNvPr>
              <p:cNvSpPr/>
              <p:nvPr/>
            </p:nvSpPr>
            <p:spPr>
              <a:xfrm>
                <a:off x="3953297" y="3468123"/>
                <a:ext cx="527757" cy="16755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8C8C8C"/>
                    </a:solidFill>
                    <a:effectLst/>
                    <a:uLnTx/>
                    <a:uFillTx/>
                    <a:latin typeface="Noto Sans SC"/>
                    <a:ea typeface="Noto Sans SC"/>
                    <a:cs typeface="Noto Sans SC"/>
                    <a:sym typeface="Noto Sans SC"/>
                  </a:rPr>
                  <a:t>300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0" name="AutoShape 21">
                <a:extLst>
                  <a:ext uri="{FF2B5EF4-FFF2-40B4-BE49-F238E27FC236}">
                    <a16:creationId xmlns:a16="http://schemas.microsoft.com/office/drawing/2014/main" id="{AB108692-2203-694B-1C06-A54D9B5D158E}"/>
                  </a:ext>
                </a:extLst>
              </p:cNvPr>
              <p:cNvSpPr/>
              <p:nvPr/>
            </p:nvSpPr>
            <p:spPr>
              <a:xfrm>
                <a:off x="5233763" y="3468123"/>
                <a:ext cx="527757" cy="16755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8C8C8C"/>
                    </a:solidFill>
                    <a:effectLst/>
                    <a:uLnTx/>
                    <a:uFillTx/>
                    <a:latin typeface="Noto Sans SC"/>
                    <a:ea typeface="Noto Sans SC"/>
                    <a:cs typeface="Noto Sans SC"/>
                    <a:sym typeface="Noto Sans SC"/>
                  </a:rPr>
                  <a:t>400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1" name="AutoShape 22">
                <a:extLst>
                  <a:ext uri="{FF2B5EF4-FFF2-40B4-BE49-F238E27FC236}">
                    <a16:creationId xmlns:a16="http://schemas.microsoft.com/office/drawing/2014/main" id="{1BAD8F41-BC66-3A32-26F2-F27042DD1279}"/>
                  </a:ext>
                </a:extLst>
              </p:cNvPr>
              <p:cNvSpPr/>
              <p:nvPr/>
            </p:nvSpPr>
            <p:spPr>
              <a:xfrm>
                <a:off x="6656673" y="3468122"/>
                <a:ext cx="527757" cy="16755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8C8C8C"/>
                    </a:solidFill>
                    <a:effectLst/>
                    <a:uLnTx/>
                    <a:uFillTx/>
                    <a:latin typeface="Noto Sans SC"/>
                    <a:ea typeface="Noto Sans SC"/>
                    <a:cs typeface="Noto Sans SC"/>
                    <a:sym typeface="Noto Sans SC"/>
                  </a:rPr>
                  <a:t>500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" name="AutoShape 23">
                <a:extLst>
                  <a:ext uri="{FF2B5EF4-FFF2-40B4-BE49-F238E27FC236}">
                    <a16:creationId xmlns:a16="http://schemas.microsoft.com/office/drawing/2014/main" id="{BD6814DE-3D2F-13BD-515E-A396FFC0C98D}"/>
                  </a:ext>
                </a:extLst>
              </p:cNvPr>
              <p:cNvSpPr/>
              <p:nvPr/>
            </p:nvSpPr>
            <p:spPr>
              <a:xfrm>
                <a:off x="8196471" y="3468123"/>
                <a:ext cx="527757" cy="16755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8C8C8C"/>
                    </a:solidFill>
                    <a:effectLst/>
                    <a:uLnTx/>
                    <a:uFillTx/>
                    <a:latin typeface="Noto Sans SC"/>
                    <a:ea typeface="Noto Sans SC"/>
                    <a:cs typeface="Noto Sans SC"/>
                    <a:sym typeface="Noto Sans SC"/>
                  </a:rPr>
                  <a:t>600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cxnSp>
            <p:nvCxnSpPr>
              <p:cNvPr id="65" name="Connector 26">
                <a:extLst>
                  <a:ext uri="{FF2B5EF4-FFF2-40B4-BE49-F238E27FC236}">
                    <a16:creationId xmlns:a16="http://schemas.microsoft.com/office/drawing/2014/main" id="{E64B6036-B21E-DAE4-88C9-A5AB989F0C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7758" y="3099220"/>
                <a:ext cx="1223821" cy="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25400" cap="flat" cmpd="sng">
                <a:solidFill>
                  <a:srgbClr val="409EFF">
                    <a:alpha val="100000"/>
                  </a:srgbClr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66" name="Connector 27">
                <a:extLst>
                  <a:ext uri="{FF2B5EF4-FFF2-40B4-BE49-F238E27FC236}">
                    <a16:creationId xmlns:a16="http://schemas.microsoft.com/office/drawing/2014/main" id="{2E07EDB4-9AE6-2459-9437-B64FCFA00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1579" y="3015444"/>
                <a:ext cx="449474" cy="0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25400" cap="flat" cmpd="sng">
                <a:solidFill>
                  <a:srgbClr val="409EFF">
                    <a:alpha val="100000"/>
                  </a:srgbClr>
                </a:solidFill>
                <a:prstDash val="solid"/>
                <a:round/>
                <a:headEnd type="none" w="lg" len="lg"/>
                <a:tailEnd type="none" w="lg" len="lg"/>
              </a:ln>
            </p:spPr>
          </p:cxnSp>
          <p:cxnSp>
            <p:nvCxnSpPr>
              <p:cNvPr id="71" name="Connector 18">
                <a:extLst>
                  <a:ext uri="{FF2B5EF4-FFF2-40B4-BE49-F238E27FC236}">
                    <a16:creationId xmlns:a16="http://schemas.microsoft.com/office/drawing/2014/main" id="{5D304540-58A6-8F01-B752-EF8E3840D155}"/>
                  </a:ext>
                </a:extLst>
              </p:cNvPr>
              <p:cNvCxnSpPr>
                <a:cxnSpLocks/>
              </p:cNvCxnSpPr>
              <p:nvPr/>
            </p:nvCxnSpPr>
            <p:spPr>
              <a:xfrm rot="5365623">
                <a:off x="1991309" y="2893681"/>
                <a:ext cx="1047201" cy="13194"/>
              </a:xfrm>
              <a:prstGeom prst="straightConnector1">
                <a:avLst/>
              </a:prstGeom>
              <a:solidFill>
                <a:srgbClr val="DEE0E3">
                  <a:alpha val="100000"/>
                </a:srgbClr>
              </a:solidFill>
              <a:ln w="12700" cap="flat" cmpd="sng">
                <a:solidFill>
                  <a:srgbClr val="CCCCCC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" name="AutoShape 44">
                <a:extLst>
                  <a:ext uri="{FF2B5EF4-FFF2-40B4-BE49-F238E27FC236}">
                    <a16:creationId xmlns:a16="http://schemas.microsoft.com/office/drawing/2014/main" id="{048D8852-2F35-A6D4-66B2-1DB020D0DEF8}"/>
                  </a:ext>
                </a:extLst>
              </p:cNvPr>
              <p:cNvSpPr/>
              <p:nvPr/>
            </p:nvSpPr>
            <p:spPr>
              <a:xfrm>
                <a:off x="2053123" y="2324291"/>
                <a:ext cx="395817" cy="16755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marR="0" lvl="0" indent="0" algn="r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AAAAAA"/>
                    </a:solidFill>
                    <a:effectLst/>
                    <a:uLnTx/>
                    <a:uFillTx/>
                    <a:latin typeface="Noto Sans SC"/>
                    <a:ea typeface="Noto Sans SC"/>
                    <a:cs typeface="Noto Sans SC"/>
                    <a:sym typeface="Noto Sans SC"/>
                  </a:rPr>
                  <a:t>300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3" name="AutoShape 45">
                <a:extLst>
                  <a:ext uri="{FF2B5EF4-FFF2-40B4-BE49-F238E27FC236}">
                    <a16:creationId xmlns:a16="http://schemas.microsoft.com/office/drawing/2014/main" id="{FDEE370B-7091-BE3D-3AD4-AAEFAF9776FD}"/>
                  </a:ext>
                </a:extLst>
              </p:cNvPr>
              <p:cNvSpPr/>
              <p:nvPr/>
            </p:nvSpPr>
            <p:spPr>
              <a:xfrm>
                <a:off x="2053123" y="2669868"/>
                <a:ext cx="395817" cy="16755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marR="0" lvl="0" indent="0" algn="r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AAAAAA"/>
                    </a:solidFill>
                    <a:effectLst/>
                    <a:uLnTx/>
                    <a:uFillTx/>
                    <a:latin typeface="Noto Sans SC"/>
                    <a:ea typeface="Noto Sans SC"/>
                    <a:cs typeface="Noto Sans SC"/>
                    <a:sym typeface="Noto Sans SC"/>
                  </a:rPr>
                  <a:t>200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4" name="AutoShape 46">
                <a:extLst>
                  <a:ext uri="{FF2B5EF4-FFF2-40B4-BE49-F238E27FC236}">
                    <a16:creationId xmlns:a16="http://schemas.microsoft.com/office/drawing/2014/main" id="{9F0936A4-98E3-3982-EA7E-E0D80AB438E5}"/>
                  </a:ext>
                </a:extLst>
              </p:cNvPr>
              <p:cNvSpPr/>
              <p:nvPr/>
            </p:nvSpPr>
            <p:spPr>
              <a:xfrm>
                <a:off x="2053123" y="3015444"/>
                <a:ext cx="395817" cy="16755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marR="0" lvl="0" indent="0" algn="r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AAAAAA"/>
                    </a:solidFill>
                    <a:effectLst/>
                    <a:uLnTx/>
                    <a:uFillTx/>
                    <a:latin typeface="Noto Sans SC"/>
                    <a:ea typeface="Noto Sans SC"/>
                    <a:cs typeface="Noto Sans SC"/>
                    <a:sym typeface="Noto Sans SC"/>
                  </a:rPr>
                  <a:t>100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5" name="AutoShape 47">
                <a:extLst>
                  <a:ext uri="{FF2B5EF4-FFF2-40B4-BE49-F238E27FC236}">
                    <a16:creationId xmlns:a16="http://schemas.microsoft.com/office/drawing/2014/main" id="{36B1F6C0-F5C4-036E-6D50-54D34F89E4BB}"/>
                  </a:ext>
                </a:extLst>
              </p:cNvPr>
              <p:cNvSpPr/>
              <p:nvPr/>
            </p:nvSpPr>
            <p:spPr>
              <a:xfrm>
                <a:off x="2053123" y="3361021"/>
                <a:ext cx="395817" cy="167552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marR="0" lvl="0" indent="0" algn="r" defTabSz="914400" rtl="0" eaLnBrk="1" fontAlgn="auto" latinLnBrk="0" hangingPunct="1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AAAAAA"/>
                    </a:solidFill>
                    <a:effectLst/>
                    <a:uLnTx/>
                    <a:uFillTx/>
                    <a:latin typeface="Noto Sans SC"/>
                    <a:ea typeface="Noto Sans SC"/>
                    <a:cs typeface="Noto Sans SC"/>
                    <a:sym typeface="Noto Sans SC"/>
                  </a:rPr>
                  <a:t>0</a:t>
                </a:r>
                <a:endPara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9" name="Connector 27">
              <a:extLst>
                <a:ext uri="{FF2B5EF4-FFF2-40B4-BE49-F238E27FC236}">
                  <a16:creationId xmlns:a16="http://schemas.microsoft.com/office/drawing/2014/main" id="{FB05FDBF-BB57-D17E-FD3E-D23C56A8EE15}"/>
                </a:ext>
              </a:extLst>
            </p:cNvPr>
            <p:cNvCxnSpPr>
              <a:cxnSpLocks/>
            </p:cNvCxnSpPr>
            <p:nvPr/>
          </p:nvCxnSpPr>
          <p:spPr>
            <a:xfrm>
              <a:off x="5281242" y="4383896"/>
              <a:ext cx="346373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1" name="Connector 27">
              <a:extLst>
                <a:ext uri="{FF2B5EF4-FFF2-40B4-BE49-F238E27FC236}">
                  <a16:creationId xmlns:a16="http://schemas.microsoft.com/office/drawing/2014/main" id="{03B00C3B-D6EB-632C-95A4-67CB7D06555D}"/>
                </a:ext>
              </a:extLst>
            </p:cNvPr>
            <p:cNvCxnSpPr>
              <a:cxnSpLocks/>
            </p:cNvCxnSpPr>
            <p:nvPr/>
          </p:nvCxnSpPr>
          <p:spPr>
            <a:xfrm>
              <a:off x="5627615" y="4297262"/>
              <a:ext cx="346373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2" name="Connector 27">
              <a:extLst>
                <a:ext uri="{FF2B5EF4-FFF2-40B4-BE49-F238E27FC236}">
                  <a16:creationId xmlns:a16="http://schemas.microsoft.com/office/drawing/2014/main" id="{54909988-1E5A-47E7-1073-52D99E2B62FB}"/>
                </a:ext>
              </a:extLst>
            </p:cNvPr>
            <p:cNvCxnSpPr>
              <a:cxnSpLocks/>
            </p:cNvCxnSpPr>
            <p:nvPr/>
          </p:nvCxnSpPr>
          <p:spPr>
            <a:xfrm>
              <a:off x="5973988" y="4214351"/>
              <a:ext cx="346373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3" name="Connector 27">
              <a:extLst>
                <a:ext uri="{FF2B5EF4-FFF2-40B4-BE49-F238E27FC236}">
                  <a16:creationId xmlns:a16="http://schemas.microsoft.com/office/drawing/2014/main" id="{A7CD1933-0B94-8F98-375C-A748CF82C99C}"/>
                </a:ext>
              </a:extLst>
            </p:cNvPr>
            <p:cNvCxnSpPr>
              <a:cxnSpLocks/>
            </p:cNvCxnSpPr>
            <p:nvPr/>
          </p:nvCxnSpPr>
          <p:spPr>
            <a:xfrm>
              <a:off x="6320361" y="4117782"/>
              <a:ext cx="346373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4" name="Connector 27">
              <a:extLst>
                <a:ext uri="{FF2B5EF4-FFF2-40B4-BE49-F238E27FC236}">
                  <a16:creationId xmlns:a16="http://schemas.microsoft.com/office/drawing/2014/main" id="{07DE5BA9-DC20-CAFC-578E-5453BA2ED64D}"/>
                </a:ext>
              </a:extLst>
            </p:cNvPr>
            <p:cNvCxnSpPr>
              <a:cxnSpLocks/>
            </p:cNvCxnSpPr>
            <p:nvPr/>
          </p:nvCxnSpPr>
          <p:spPr>
            <a:xfrm>
              <a:off x="6666734" y="4020041"/>
              <a:ext cx="346373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5" name="Connector 27">
              <a:extLst>
                <a:ext uri="{FF2B5EF4-FFF2-40B4-BE49-F238E27FC236}">
                  <a16:creationId xmlns:a16="http://schemas.microsoft.com/office/drawing/2014/main" id="{58C12838-5613-B43A-31A6-ABF23138198A}"/>
                </a:ext>
              </a:extLst>
            </p:cNvPr>
            <p:cNvCxnSpPr>
              <a:cxnSpLocks/>
            </p:cNvCxnSpPr>
            <p:nvPr/>
          </p:nvCxnSpPr>
          <p:spPr>
            <a:xfrm>
              <a:off x="7013107" y="3935182"/>
              <a:ext cx="346373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6" name="Connector 27">
              <a:extLst>
                <a:ext uri="{FF2B5EF4-FFF2-40B4-BE49-F238E27FC236}">
                  <a16:creationId xmlns:a16="http://schemas.microsoft.com/office/drawing/2014/main" id="{2963D219-B640-E0E8-A0AB-89B8CD5E8543}"/>
                </a:ext>
              </a:extLst>
            </p:cNvPr>
            <p:cNvCxnSpPr>
              <a:cxnSpLocks/>
            </p:cNvCxnSpPr>
            <p:nvPr/>
          </p:nvCxnSpPr>
          <p:spPr>
            <a:xfrm>
              <a:off x="7359480" y="3857481"/>
              <a:ext cx="346373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7" name="Connector 27">
              <a:extLst>
                <a:ext uri="{FF2B5EF4-FFF2-40B4-BE49-F238E27FC236}">
                  <a16:creationId xmlns:a16="http://schemas.microsoft.com/office/drawing/2014/main" id="{CC1195D6-F5F3-5C7E-E800-65E96DFC8DD2}"/>
                </a:ext>
              </a:extLst>
            </p:cNvPr>
            <p:cNvCxnSpPr>
              <a:cxnSpLocks/>
            </p:cNvCxnSpPr>
            <p:nvPr/>
          </p:nvCxnSpPr>
          <p:spPr>
            <a:xfrm>
              <a:off x="7705853" y="3754425"/>
              <a:ext cx="346373" cy="0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19F8715-1763-714F-28C2-3CA2AA065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59" y="2401918"/>
            <a:ext cx="203200" cy="203200"/>
          </a:xfrm>
          <a:prstGeom prst="rect">
            <a:avLst/>
          </a:prstGeom>
        </p:spPr>
      </p:pic>
      <p:sp>
        <p:nvSpPr>
          <p:cNvPr id="8" name="AutoShape 7">
            <a:extLst>
              <a:ext uri="{FF2B5EF4-FFF2-40B4-BE49-F238E27FC236}">
                <a16:creationId xmlns:a16="http://schemas.microsoft.com/office/drawing/2014/main" id="{6499CCC2-4FA8-630F-AC0A-127DE2D9D207}"/>
              </a:ext>
            </a:extLst>
          </p:cNvPr>
          <p:cNvSpPr/>
          <p:nvPr/>
        </p:nvSpPr>
        <p:spPr>
          <a:xfrm>
            <a:off x="1002859" y="235111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信息披露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C6D785-652B-C879-A16D-76668A8B62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10" name="AutoShape 9">
            <a:extLst>
              <a:ext uri="{FF2B5EF4-FFF2-40B4-BE49-F238E27FC236}">
                <a16:creationId xmlns:a16="http://schemas.microsoft.com/office/drawing/2014/main" id="{75764D93-8050-E34C-8A63-857D5A9189AE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2">
            <a:extLst>
              <a:ext uri="{FF2B5EF4-FFF2-40B4-BE49-F238E27FC236}">
                <a16:creationId xmlns:a16="http://schemas.microsoft.com/office/drawing/2014/main" id="{1AACAC3F-134F-0E8F-F3CF-D380272BE6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59" y="3464144"/>
            <a:ext cx="203200" cy="203200"/>
          </a:xfrm>
          <a:prstGeom prst="rect">
            <a:avLst/>
          </a:prstGeom>
        </p:spPr>
      </p:pic>
      <p:sp>
        <p:nvSpPr>
          <p:cNvPr id="12" name="AutoShape 13">
            <a:extLst>
              <a:ext uri="{FF2B5EF4-FFF2-40B4-BE49-F238E27FC236}">
                <a16:creationId xmlns:a16="http://schemas.microsoft.com/office/drawing/2014/main" id="{3AC3EEEA-A23A-8FC1-C049-B14A28D2CEB6}"/>
              </a:ext>
            </a:extLst>
          </p:cNvPr>
          <p:cNvSpPr/>
          <p:nvPr/>
        </p:nvSpPr>
        <p:spPr>
          <a:xfrm>
            <a:off x="1002859" y="3413344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结算报告</a:t>
            </a:r>
            <a:endParaRPr kumimoji="0" lang="en-US" altLang="zh-CN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24BEDBDB-7D1C-B1C9-B830-10EA2A4BB4AB}"/>
              </a:ext>
            </a:extLst>
          </p:cNvPr>
          <p:cNvSpPr/>
          <p:nvPr/>
        </p:nvSpPr>
        <p:spPr>
          <a:xfrm>
            <a:off x="545660" y="2808318"/>
            <a:ext cx="1357039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5" name="Picture 10">
            <a:extLst>
              <a:ext uri="{FF2B5EF4-FFF2-40B4-BE49-F238E27FC236}">
                <a16:creationId xmlns:a16="http://schemas.microsoft.com/office/drawing/2014/main" id="{B60D10CD-6E7F-3CCE-313D-E47C32E9E3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059" y="2935318"/>
            <a:ext cx="203200" cy="203200"/>
          </a:xfrm>
          <a:prstGeom prst="rect">
            <a:avLst/>
          </a:prstGeom>
        </p:spPr>
      </p:pic>
      <p:sp>
        <p:nvSpPr>
          <p:cNvPr id="17" name="AutoShape 11">
            <a:extLst>
              <a:ext uri="{FF2B5EF4-FFF2-40B4-BE49-F238E27FC236}">
                <a16:creationId xmlns:a16="http://schemas.microsoft.com/office/drawing/2014/main" id="{147BD077-C69A-21BA-EDA1-1AADC504E2B0}"/>
              </a:ext>
            </a:extLst>
          </p:cNvPr>
          <p:cNvSpPr/>
          <p:nvPr/>
        </p:nvSpPr>
        <p:spPr>
          <a:xfrm>
            <a:off x="1002859" y="288451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市场交易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409E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29" name="AutoShape 13">
            <a:extLst>
              <a:ext uri="{FF2B5EF4-FFF2-40B4-BE49-F238E27FC236}">
                <a16:creationId xmlns:a16="http://schemas.microsoft.com/office/drawing/2014/main" id="{C859DFD8-BE26-6DBC-36AF-49776566A255}"/>
              </a:ext>
            </a:extLst>
          </p:cNvPr>
          <p:cNvSpPr/>
          <p:nvPr/>
        </p:nvSpPr>
        <p:spPr>
          <a:xfrm>
            <a:off x="965200" y="186569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成交历史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2" name="Picture 14">
            <a:extLst>
              <a:ext uri="{FF2B5EF4-FFF2-40B4-BE49-F238E27FC236}">
                <a16:creationId xmlns:a16="http://schemas.microsoft.com/office/drawing/2014/main" id="{A35A832A-2FBD-DB42-673E-B4F99BA13BC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916498"/>
            <a:ext cx="203200" cy="203200"/>
          </a:xfrm>
          <a:prstGeom prst="rect">
            <a:avLst/>
          </a:prstGeom>
        </p:spPr>
      </p:pic>
      <p:sp>
        <p:nvSpPr>
          <p:cNvPr id="18" name="AutoShape 34">
            <a:extLst>
              <a:ext uri="{FF2B5EF4-FFF2-40B4-BE49-F238E27FC236}">
                <a16:creationId xmlns:a16="http://schemas.microsoft.com/office/drawing/2014/main" id="{404C7F62-C6B1-0069-73BA-FB24465CA0D3}"/>
              </a:ext>
            </a:extLst>
          </p:cNvPr>
          <p:cNvSpPr/>
          <p:nvPr/>
        </p:nvSpPr>
        <p:spPr>
          <a:xfrm>
            <a:off x="9518523" y="1135625"/>
            <a:ext cx="846534" cy="355600"/>
          </a:xfrm>
          <a:prstGeom prst="roundRect">
            <a:avLst>
              <a:gd name="adj" fmla="val 14285"/>
            </a:avLst>
          </a:prstGeom>
          <a:solidFill>
            <a:srgbClr val="409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提交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19" name="AutoShape 34">
            <a:extLst>
              <a:ext uri="{FF2B5EF4-FFF2-40B4-BE49-F238E27FC236}">
                <a16:creationId xmlns:a16="http://schemas.microsoft.com/office/drawing/2014/main" id="{E2C3F924-4DA9-DA60-5F1B-7689CEDCE379}"/>
              </a:ext>
            </a:extLst>
          </p:cNvPr>
          <p:cNvSpPr/>
          <p:nvPr/>
        </p:nvSpPr>
        <p:spPr>
          <a:xfrm>
            <a:off x="10502186" y="1135625"/>
            <a:ext cx="846534" cy="355600"/>
          </a:xfrm>
          <a:prstGeom prst="roundRect">
            <a:avLst>
              <a:gd name="adj" fmla="val 14285"/>
            </a:avLst>
          </a:prstGeom>
          <a:solidFill>
            <a:schemeClr val="bg1"/>
          </a:solidFill>
          <a:ln w="25400" cap="flat" cmpd="sng">
            <a:solidFill>
              <a:srgbClr val="409EFF"/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3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取消</a:t>
            </a:r>
            <a:endParaRPr kumimoji="0" sz="1300" b="0" i="0" u="none" strike="noStrike" kern="0" cap="none" spc="0" normalizeH="0" baseline="0" noProof="0" dirty="0">
              <a:ln>
                <a:noFill/>
              </a:ln>
              <a:solidFill>
                <a:srgbClr val="6B7280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20" name="AutoShape 34">
            <a:extLst>
              <a:ext uri="{FF2B5EF4-FFF2-40B4-BE49-F238E27FC236}">
                <a16:creationId xmlns:a16="http://schemas.microsoft.com/office/drawing/2014/main" id="{164E1BAC-A0BF-CC88-BB63-FFB1BC597C7F}"/>
              </a:ext>
            </a:extLst>
          </p:cNvPr>
          <p:cNvSpPr/>
          <p:nvPr/>
        </p:nvSpPr>
        <p:spPr>
          <a:xfrm>
            <a:off x="2353645" y="1804877"/>
            <a:ext cx="1290738" cy="355600"/>
          </a:xfrm>
          <a:prstGeom prst="roundRect">
            <a:avLst>
              <a:gd name="adj" fmla="val 14285"/>
            </a:avLst>
          </a:prstGeom>
          <a:solidFill>
            <a:srgbClr val="409E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选择边际报价</a:t>
            </a:r>
            <a:endParaRPr kumimoji="0" sz="13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33" name="AutoShape 5">
            <a:extLst>
              <a:ext uri="{FF2B5EF4-FFF2-40B4-BE49-F238E27FC236}">
                <a16:creationId xmlns:a16="http://schemas.microsoft.com/office/drawing/2014/main" id="{BD8E736E-1A5A-2307-C977-E31A3F44549A}"/>
              </a:ext>
            </a:extLst>
          </p:cNvPr>
          <p:cNvSpPr/>
          <p:nvPr/>
        </p:nvSpPr>
        <p:spPr>
          <a:xfrm>
            <a:off x="2353645" y="1475403"/>
            <a:ext cx="6097430" cy="2759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电能量市场申报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AutoShape 5">
            <a:extLst>
              <a:ext uri="{FF2B5EF4-FFF2-40B4-BE49-F238E27FC236}">
                <a16:creationId xmlns:a16="http://schemas.microsoft.com/office/drawing/2014/main" id="{756E7CAC-91B9-BC92-786F-A2BFB6052F8A}"/>
              </a:ext>
            </a:extLst>
          </p:cNvPr>
          <p:cNvSpPr/>
          <p:nvPr/>
        </p:nvSpPr>
        <p:spPr>
          <a:xfrm>
            <a:off x="3364510" y="1094930"/>
            <a:ext cx="6323259" cy="27599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机组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G2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0110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D750C-A356-8CEB-CA93-C56BE2374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66D390B-17DC-CD12-422C-D1E55A791736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D6CE7075-1A7F-287C-AD73-81A427E0B30B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11E0B49E-C36D-BC45-35F7-5CA3AC38CD4B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62299B38-951E-70C1-FDA9-D2C3DC73A2C7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CD194FD7-8C82-2F45-53F1-8C611F59572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1EC4812F-5979-F660-CE7A-D2A2C3E61B7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1D3C840C-4B49-E4FC-F248-53C10D19E93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9D260288-6F35-3AA5-B75F-C19C7A7338A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18A8559B-74C9-8F7E-E9FB-E7129CF295C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AA468C95-1EF5-9FC1-5D54-9FA8928BC1F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8D7236AD-577E-3E44-AEE5-D69552F4B72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88ADAD29-CACD-3935-9B4C-1739B14D74F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61EC8110-A11F-E97F-8D56-C62F4E1A74F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351663F7-3285-5FE0-4D95-60B9E673239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C6D22157-1D46-25C6-C8F0-F0519208A8A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CE3E977A-6485-7319-892E-480C42CE18B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E2E6BAF1-1FD8-44BB-1EB4-3E3DF10B892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60925F0B-69AD-8D61-8853-56AF9972555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08F87FE6-934E-9860-1882-7F6E1BF30EC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72818F64-4049-8525-76C2-BBBC50A22AA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6FCE27E4-0DAF-38A7-BB73-F291CE1FD1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2429016"/>
            <a:ext cx="203200" cy="203200"/>
          </a:xfrm>
          <a:prstGeom prst="rect">
            <a:avLst/>
          </a:prstGeom>
        </p:spPr>
      </p:pic>
      <p:sp>
        <p:nvSpPr>
          <p:cNvPr id="18" name="AutoShape 7">
            <a:extLst>
              <a:ext uri="{FF2B5EF4-FFF2-40B4-BE49-F238E27FC236}">
                <a16:creationId xmlns:a16="http://schemas.microsoft.com/office/drawing/2014/main" id="{E3312817-125E-63B7-11F6-B7704BBD439B}"/>
              </a:ext>
            </a:extLst>
          </p:cNvPr>
          <p:cNvSpPr/>
          <p:nvPr/>
        </p:nvSpPr>
        <p:spPr>
          <a:xfrm>
            <a:off x="965200" y="23782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信息披露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pic>
        <p:nvPicPr>
          <p:cNvPr id="19" name="Picture 8">
            <a:extLst>
              <a:ext uri="{FF2B5EF4-FFF2-40B4-BE49-F238E27FC236}">
                <a16:creationId xmlns:a16="http://schemas.microsoft.com/office/drawing/2014/main" id="{F13568B7-71DD-BB0E-0389-49F5BFC2D3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20" name="AutoShape 9">
            <a:extLst>
              <a:ext uri="{FF2B5EF4-FFF2-40B4-BE49-F238E27FC236}">
                <a16:creationId xmlns:a16="http://schemas.microsoft.com/office/drawing/2014/main" id="{DC0B7204-0336-A11D-79FE-87A036662C9F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7A1CCCF9-544D-B138-F529-6C34E5E462C3}"/>
              </a:ext>
            </a:extLst>
          </p:cNvPr>
          <p:cNvSpPr/>
          <p:nvPr/>
        </p:nvSpPr>
        <p:spPr>
          <a:xfrm>
            <a:off x="508000" y="3343416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Picture 10">
            <a:extLst>
              <a:ext uri="{FF2B5EF4-FFF2-40B4-BE49-F238E27FC236}">
                <a16:creationId xmlns:a16="http://schemas.microsoft.com/office/drawing/2014/main" id="{571FB82E-D279-313F-798C-61E0D1B34A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2962416"/>
            <a:ext cx="203200" cy="203200"/>
          </a:xfrm>
          <a:prstGeom prst="rect">
            <a:avLst/>
          </a:prstGeom>
        </p:spPr>
      </p:pic>
      <p:sp>
        <p:nvSpPr>
          <p:cNvPr id="8" name="AutoShape 11">
            <a:extLst>
              <a:ext uri="{FF2B5EF4-FFF2-40B4-BE49-F238E27FC236}">
                <a16:creationId xmlns:a16="http://schemas.microsoft.com/office/drawing/2014/main" id="{588EEC83-233F-AE14-82EA-814F266B70E8}"/>
              </a:ext>
            </a:extLst>
          </p:cNvPr>
          <p:cNvSpPr/>
          <p:nvPr/>
        </p:nvSpPr>
        <p:spPr>
          <a:xfrm>
            <a:off x="965200" y="2911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市场交易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Picture 12">
            <a:extLst>
              <a:ext uri="{FF2B5EF4-FFF2-40B4-BE49-F238E27FC236}">
                <a16:creationId xmlns:a16="http://schemas.microsoft.com/office/drawing/2014/main" id="{CDE579B7-C188-977F-E584-1C3D6FE591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3470416"/>
            <a:ext cx="203200" cy="203200"/>
          </a:xfrm>
          <a:prstGeom prst="rect">
            <a:avLst/>
          </a:prstGeom>
        </p:spPr>
      </p:pic>
      <p:sp>
        <p:nvSpPr>
          <p:cNvPr id="10" name="AutoShape 13">
            <a:extLst>
              <a:ext uri="{FF2B5EF4-FFF2-40B4-BE49-F238E27FC236}">
                <a16:creationId xmlns:a16="http://schemas.microsoft.com/office/drawing/2014/main" id="{2D45BAEE-4F0E-E01C-51D9-AFFD948AF23F}"/>
              </a:ext>
            </a:extLst>
          </p:cNvPr>
          <p:cNvSpPr/>
          <p:nvPr/>
        </p:nvSpPr>
        <p:spPr>
          <a:xfrm>
            <a:off x="965200" y="3419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结算报告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409E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29F9B81A-EDC8-8719-2784-509EF7AA3484}"/>
              </a:ext>
            </a:extLst>
          </p:cNvPr>
          <p:cNvGraphicFramePr>
            <a:graphicFrameLocks noGrp="1"/>
          </p:cNvGraphicFramePr>
          <p:nvPr/>
        </p:nvGraphicFramePr>
        <p:xfrm>
          <a:off x="2233571" y="1611166"/>
          <a:ext cx="3699164" cy="5509984"/>
        </p:xfrm>
        <a:graphic>
          <a:graphicData uri="http://schemas.openxmlformats.org/drawingml/2006/table">
            <a:tbl>
              <a:tblPr/>
              <a:tblGrid>
                <a:gridCol w="1959097">
                  <a:extLst>
                    <a:ext uri="{9D8B030D-6E8A-4147-A177-3AD203B41FA5}">
                      <a16:colId xmlns:a16="http://schemas.microsoft.com/office/drawing/2014/main" val="1251359738"/>
                    </a:ext>
                  </a:extLst>
                </a:gridCol>
                <a:gridCol w="1740067">
                  <a:extLst>
                    <a:ext uri="{9D8B030D-6E8A-4147-A177-3AD203B41FA5}">
                      <a16:colId xmlns:a16="http://schemas.microsoft.com/office/drawing/2014/main" val="2528758443"/>
                    </a:ext>
                  </a:extLst>
                </a:gridCol>
              </a:tblGrid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总装机容量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140.5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810807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风电数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15882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风电装机容量</a:t>
                      </a: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62132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光伏数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62430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光伏装机容量</a:t>
                      </a: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15.5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116958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水电数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40967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水电装机容量</a:t>
                      </a: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0548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火电数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94293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火电装机容量</a:t>
                      </a:r>
                      <a:r>
                        <a:rPr lang="en-US" altLang="zh-CN" sz="11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104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69448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电化学储能数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357856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抽蓄电站数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3365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发电企业数目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892915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成交总出力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6703.654295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4931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成交均价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元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MWh)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253.5420329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101687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供需比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1.594824429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906111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总交易额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4249.145344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81176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阻塞情况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995196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阻塞盈余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564255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申报机组数目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602184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中标机组数目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37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55906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申报出力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10400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42629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申报均价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元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MWh)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247.4568058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9964485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最高节点电价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元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/MWh)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255.37148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74473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最低节点电价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元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/MWh)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243.2248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1047945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传输网损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7564056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总发电量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MWh)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1675.913574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254790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总用电量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MWh)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1675.913574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060576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新能源总弃电量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(MWh)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311749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最大新能源弃电比例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412332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总切负荷量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546797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最大失负荷容量比例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3578193"/>
                  </a:ext>
                </a:extLst>
              </a:tr>
              <a:tr h="13185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总增负荷量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(100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4547" marR="4547" marT="454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8284045"/>
                  </a:ext>
                </a:extLst>
              </a:tr>
            </a:tbl>
          </a:graphicData>
        </a:graphic>
      </p:graphicFrame>
      <p:sp>
        <p:nvSpPr>
          <p:cNvPr id="48" name="AutoShape 5">
            <a:extLst>
              <a:ext uri="{FF2B5EF4-FFF2-40B4-BE49-F238E27FC236}">
                <a16:creationId xmlns:a16="http://schemas.microsoft.com/office/drawing/2014/main" id="{744CAC17-DE84-0F4F-0C10-12D42627CB11}"/>
              </a:ext>
            </a:extLst>
          </p:cNvPr>
          <p:cNvSpPr/>
          <p:nvPr/>
        </p:nvSpPr>
        <p:spPr>
          <a:xfrm>
            <a:off x="2233571" y="80877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9" name="AutoShape 13">
            <a:extLst>
              <a:ext uri="{FF2B5EF4-FFF2-40B4-BE49-F238E27FC236}">
                <a16:creationId xmlns:a16="http://schemas.microsoft.com/office/drawing/2014/main" id="{D7920898-8F88-ED36-A20E-30CBB8C953A4}"/>
              </a:ext>
            </a:extLst>
          </p:cNvPr>
          <p:cNvSpPr/>
          <p:nvPr/>
        </p:nvSpPr>
        <p:spPr>
          <a:xfrm>
            <a:off x="2381404" y="89414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市场总览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409E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50" name="AutoShape 11">
            <a:extLst>
              <a:ext uri="{FF2B5EF4-FFF2-40B4-BE49-F238E27FC236}">
                <a16:creationId xmlns:a16="http://schemas.microsoft.com/office/drawing/2014/main" id="{EBD97178-0989-F14E-1E01-645B5521355E}"/>
              </a:ext>
            </a:extLst>
          </p:cNvPr>
          <p:cNvSpPr/>
          <p:nvPr/>
        </p:nvSpPr>
        <p:spPr>
          <a:xfrm>
            <a:off x="3736084" y="88497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详情分析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6" name="AutoShape 13">
            <a:extLst>
              <a:ext uri="{FF2B5EF4-FFF2-40B4-BE49-F238E27FC236}">
                <a16:creationId xmlns:a16="http://schemas.microsoft.com/office/drawing/2014/main" id="{7E829406-FA5B-9438-58C6-E5218BE182A3}"/>
              </a:ext>
            </a:extLst>
          </p:cNvPr>
          <p:cNvSpPr/>
          <p:nvPr/>
        </p:nvSpPr>
        <p:spPr>
          <a:xfrm>
            <a:off x="965200" y="1856091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成交历史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4">
            <a:extLst>
              <a:ext uri="{FF2B5EF4-FFF2-40B4-BE49-F238E27FC236}">
                <a16:creationId xmlns:a16="http://schemas.microsoft.com/office/drawing/2014/main" id="{BACDB54E-62AD-48A1-F7C0-94C15C184AA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906891"/>
            <a:ext cx="203200" cy="203200"/>
          </a:xfrm>
          <a:prstGeom prst="rect">
            <a:avLst/>
          </a:prstGeom>
        </p:spPr>
      </p:pic>
      <p:sp>
        <p:nvSpPr>
          <p:cNvPr id="12" name="AutoShape 5">
            <a:extLst>
              <a:ext uri="{FF2B5EF4-FFF2-40B4-BE49-F238E27FC236}">
                <a16:creationId xmlns:a16="http://schemas.microsoft.com/office/drawing/2014/main" id="{BD8E736E-1A5A-2307-C977-E31A3F44549A}"/>
              </a:ext>
            </a:extLst>
          </p:cNvPr>
          <p:cNvSpPr/>
          <p:nvPr/>
        </p:nvSpPr>
        <p:spPr>
          <a:xfrm>
            <a:off x="2198473" y="1298785"/>
            <a:ext cx="6097430" cy="2759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电能量市场结果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345B8AD8-D76D-15D0-0C0F-1D0A28F8E9D5}"/>
              </a:ext>
            </a:extLst>
          </p:cNvPr>
          <p:cNvSpPr/>
          <p:nvPr/>
        </p:nvSpPr>
        <p:spPr>
          <a:xfrm>
            <a:off x="9884008" y="1298785"/>
            <a:ext cx="1800000" cy="2759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评分：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80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1483EB0-97C5-8ACC-3632-E480052328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86123" y="2530616"/>
            <a:ext cx="5076825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878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75472-8306-FD11-E9E0-9CF121C5F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D56EFAC-0871-2294-29F2-B160F47D3E23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6C828E69-0D58-B091-5935-4811503F76E7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D934C3CE-67AC-7B5F-B839-57CFE9B7EEC0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788B4812-8E1C-B430-1D44-4B052348B956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CC055244-7ED9-87EC-318B-8823BAC497C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87DB3D91-7837-C2E3-E258-473404EF943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294A5602-4F07-1BF8-5463-6F4F4ABE72E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36EE5FA5-0EAA-9AE5-B170-710EA47125A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371E6E04-CC5C-4456-3306-3658E999288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DB3E834A-1603-FE77-4D2F-CB63D0E285A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2EB179C6-02C6-976E-ECA0-08B24796E07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94A3CDE7-3689-2A3F-EBD5-6E1FE8969F5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AB869115-871E-9D40-C431-FE3BE57F689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BC352226-F13A-FE4D-2480-D07F804A9B9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2092777B-7057-7487-9B86-B36DCAC1889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16DFB3E3-2CDF-46D7-B45F-4C004598218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C40CEB79-1AD8-33AE-1E2C-5EBF4AEDD47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643E7611-4E1D-397A-E118-804D1B7D3DA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CE721F1F-B176-680A-6883-BD34B6D0EA1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15E0799D-737B-40D2-493C-27A1A1B4190D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9F9BE1C-F7DD-C5AD-3F36-2140B7DFA1B8}"/>
              </a:ext>
            </a:extLst>
          </p:cNvPr>
          <p:cNvGrpSpPr/>
          <p:nvPr/>
        </p:nvGrpSpPr>
        <p:grpSpPr>
          <a:xfrm>
            <a:off x="2535433" y="1825502"/>
            <a:ext cx="7432420" cy="2292595"/>
            <a:chOff x="2039248" y="1447800"/>
            <a:chExt cx="9644751" cy="2292595"/>
          </a:xfrm>
        </p:grpSpPr>
        <p:sp>
          <p:nvSpPr>
            <p:cNvPr id="11" name="AutoShape 7">
              <a:extLst>
                <a:ext uri="{FF2B5EF4-FFF2-40B4-BE49-F238E27FC236}">
                  <a16:creationId xmlns:a16="http://schemas.microsoft.com/office/drawing/2014/main" id="{F76E2E93-65EE-A1EE-A689-D96BE0FA7D78}"/>
                </a:ext>
              </a:extLst>
            </p:cNvPr>
            <p:cNvSpPr/>
            <p:nvPr/>
          </p:nvSpPr>
          <p:spPr>
            <a:xfrm>
              <a:off x="2039248" y="1447800"/>
              <a:ext cx="9644751" cy="2292595"/>
            </a:xfrm>
            <a:prstGeom prst="roundRect">
              <a:avLst>
                <a:gd name="adj" fmla="val 4444"/>
              </a:avLst>
            </a:prstGeom>
            <a:solidFill>
              <a:srgbClr val="FFFFFF">
                <a:alpha val="100000"/>
              </a:srgbClr>
            </a:solidFill>
            <a:ln w="12700" cap="flat" cmpd="sng">
              <a:solidFill>
                <a:srgbClr val="E5E6EB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2" name="AutoShape 8">
              <a:extLst>
                <a:ext uri="{FF2B5EF4-FFF2-40B4-BE49-F238E27FC236}">
                  <a16:creationId xmlns:a16="http://schemas.microsoft.com/office/drawing/2014/main" id="{23CFC783-057F-EB6B-4BD9-B724E73A7CD4}"/>
                </a:ext>
              </a:extLst>
            </p:cNvPr>
            <p:cNvSpPr/>
            <p:nvPr/>
          </p:nvSpPr>
          <p:spPr>
            <a:xfrm>
              <a:off x="2502484" y="1612022"/>
              <a:ext cx="2672096" cy="26757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电能量市场出清电价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0" name="AutoShape 16">
              <a:extLst>
                <a:ext uri="{FF2B5EF4-FFF2-40B4-BE49-F238E27FC236}">
                  <a16:creationId xmlns:a16="http://schemas.microsoft.com/office/drawing/2014/main" id="{1ED6FA32-82A3-99B0-8654-89AF2D82ADE5}"/>
                </a:ext>
              </a:extLst>
            </p:cNvPr>
            <p:cNvSpPr/>
            <p:nvPr/>
          </p:nvSpPr>
          <p:spPr>
            <a:xfrm>
              <a:off x="2395698" y="2050909"/>
              <a:ext cx="1266718" cy="176818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ct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1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电价</a:t>
              </a:r>
              <a:r>
                <a:rPr kumimoji="0" 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(元/kWh)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31" name="Connector 17">
              <a:extLst>
                <a:ext uri="{FF2B5EF4-FFF2-40B4-BE49-F238E27FC236}">
                  <a16:creationId xmlns:a16="http://schemas.microsoft.com/office/drawing/2014/main" id="{B92FFF35-1F9F-9B78-5DE0-600D1CB7D48F}"/>
                </a:ext>
              </a:extLst>
            </p:cNvPr>
            <p:cNvCxnSpPr>
              <a:cxnSpLocks/>
            </p:cNvCxnSpPr>
            <p:nvPr/>
          </p:nvCxnSpPr>
          <p:spPr>
            <a:xfrm>
              <a:off x="2501035" y="3426235"/>
              <a:ext cx="8971862" cy="41888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" name="AutoShape 19">
              <a:extLst>
                <a:ext uri="{FF2B5EF4-FFF2-40B4-BE49-F238E27FC236}">
                  <a16:creationId xmlns:a16="http://schemas.microsoft.com/office/drawing/2014/main" id="{803C63C8-20A2-8C2F-FCE1-ACDBF60A569F}"/>
                </a:ext>
              </a:extLst>
            </p:cNvPr>
            <p:cNvSpPr/>
            <p:nvPr/>
          </p:nvSpPr>
          <p:spPr>
            <a:xfrm>
              <a:off x="2712138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Arial"/>
                  <a:sym typeface="Noto Sans SC"/>
                </a:rPr>
                <a:t>第一天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36" name="AutoShape 20">
              <a:extLst>
                <a:ext uri="{FF2B5EF4-FFF2-40B4-BE49-F238E27FC236}">
                  <a16:creationId xmlns:a16="http://schemas.microsoft.com/office/drawing/2014/main" id="{EE0A581F-D281-1568-E11A-E9622AD13377}"/>
                </a:ext>
              </a:extLst>
            </p:cNvPr>
            <p:cNvSpPr/>
            <p:nvPr/>
          </p:nvSpPr>
          <p:spPr>
            <a:xfrm>
              <a:off x="4084305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第二天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8" name="AutoShape 21">
              <a:extLst>
                <a:ext uri="{FF2B5EF4-FFF2-40B4-BE49-F238E27FC236}">
                  <a16:creationId xmlns:a16="http://schemas.microsoft.com/office/drawing/2014/main" id="{50FDDBA0-840A-0C5C-A3C8-9A59D5500586}"/>
                </a:ext>
              </a:extLst>
            </p:cNvPr>
            <p:cNvSpPr/>
            <p:nvPr/>
          </p:nvSpPr>
          <p:spPr>
            <a:xfrm>
              <a:off x="5456472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第三天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49" name="AutoShape 22">
              <a:extLst>
                <a:ext uri="{FF2B5EF4-FFF2-40B4-BE49-F238E27FC236}">
                  <a16:creationId xmlns:a16="http://schemas.microsoft.com/office/drawing/2014/main" id="{22790140-A9CE-81E0-0C8C-502EFB1B5D33}"/>
                </a:ext>
              </a:extLst>
            </p:cNvPr>
            <p:cNvSpPr/>
            <p:nvPr/>
          </p:nvSpPr>
          <p:spPr>
            <a:xfrm>
              <a:off x="6828639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第四天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0" name="AutoShape 23">
              <a:extLst>
                <a:ext uri="{FF2B5EF4-FFF2-40B4-BE49-F238E27FC236}">
                  <a16:creationId xmlns:a16="http://schemas.microsoft.com/office/drawing/2014/main" id="{C775804A-EC2A-856D-4A2B-06BB1758674C}"/>
                </a:ext>
              </a:extLst>
            </p:cNvPr>
            <p:cNvSpPr/>
            <p:nvPr/>
          </p:nvSpPr>
          <p:spPr>
            <a:xfrm>
              <a:off x="8200806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第五天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1" name="AutoShape 24">
              <a:extLst>
                <a:ext uri="{FF2B5EF4-FFF2-40B4-BE49-F238E27FC236}">
                  <a16:creationId xmlns:a16="http://schemas.microsoft.com/office/drawing/2014/main" id="{CF4A350E-5B8D-5E81-60EF-7ACB4CAE563F}"/>
                </a:ext>
              </a:extLst>
            </p:cNvPr>
            <p:cNvSpPr/>
            <p:nvPr/>
          </p:nvSpPr>
          <p:spPr>
            <a:xfrm>
              <a:off x="9572974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第六天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2" name="AutoShape 25">
              <a:extLst>
                <a:ext uri="{FF2B5EF4-FFF2-40B4-BE49-F238E27FC236}">
                  <a16:creationId xmlns:a16="http://schemas.microsoft.com/office/drawing/2014/main" id="{B04BBA50-CE80-8B58-AB87-FCD95DF9E7AE}"/>
                </a:ext>
              </a:extLst>
            </p:cNvPr>
            <p:cNvSpPr/>
            <p:nvPr/>
          </p:nvSpPr>
          <p:spPr>
            <a:xfrm>
              <a:off x="10945141" y="3468123"/>
              <a:ext cx="52775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l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8C8C8C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第七天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53" name="Connector 26">
              <a:extLst>
                <a:ext uri="{FF2B5EF4-FFF2-40B4-BE49-F238E27FC236}">
                  <a16:creationId xmlns:a16="http://schemas.microsoft.com/office/drawing/2014/main" id="{C366CBF6-B5E5-A098-D760-CE574910E324}"/>
                </a:ext>
              </a:extLst>
            </p:cNvPr>
            <p:cNvCxnSpPr>
              <a:cxnSpLocks/>
            </p:cNvCxnSpPr>
            <p:nvPr/>
          </p:nvCxnSpPr>
          <p:spPr>
            <a:xfrm rot="20858847">
              <a:off x="2804124" y="2583232"/>
              <a:ext cx="129381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4" name="Connector 27">
              <a:extLst>
                <a:ext uri="{FF2B5EF4-FFF2-40B4-BE49-F238E27FC236}">
                  <a16:creationId xmlns:a16="http://schemas.microsoft.com/office/drawing/2014/main" id="{3AFEC72D-B1DA-0A34-3440-FC8A7385A17C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4081172" y="253088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5" name="Connector 28">
              <a:extLst>
                <a:ext uri="{FF2B5EF4-FFF2-40B4-BE49-F238E27FC236}">
                  <a16:creationId xmlns:a16="http://schemas.microsoft.com/office/drawing/2014/main" id="{93CF4AEF-23A3-E699-3206-0AEC1F56FBF1}"/>
                </a:ext>
              </a:extLst>
            </p:cNvPr>
            <p:cNvCxnSpPr>
              <a:cxnSpLocks/>
            </p:cNvCxnSpPr>
            <p:nvPr/>
          </p:nvCxnSpPr>
          <p:spPr>
            <a:xfrm rot="20914409">
              <a:off x="5443932" y="2478512"/>
              <a:ext cx="1397309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6" name="Connector 29">
              <a:extLst>
                <a:ext uri="{FF2B5EF4-FFF2-40B4-BE49-F238E27FC236}">
                  <a16:creationId xmlns:a16="http://schemas.microsoft.com/office/drawing/2014/main" id="{FC4C7C8A-79CC-076C-FE44-4EA8AA824C24}"/>
                </a:ext>
              </a:extLst>
            </p:cNvPr>
            <p:cNvCxnSpPr>
              <a:cxnSpLocks/>
            </p:cNvCxnSpPr>
            <p:nvPr/>
          </p:nvCxnSpPr>
          <p:spPr>
            <a:xfrm rot="459717">
              <a:off x="6821571" y="2452341"/>
              <a:ext cx="138636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7" name="Connector 30">
              <a:extLst>
                <a:ext uri="{FF2B5EF4-FFF2-40B4-BE49-F238E27FC236}">
                  <a16:creationId xmlns:a16="http://schemas.microsoft.com/office/drawing/2014/main" id="{B4532390-35D2-307F-9DDA-0F55E02153B8}"/>
                </a:ext>
              </a:extLst>
            </p:cNvPr>
            <p:cNvCxnSpPr>
              <a:cxnSpLocks/>
            </p:cNvCxnSpPr>
            <p:nvPr/>
          </p:nvCxnSpPr>
          <p:spPr>
            <a:xfrm rot="296636">
              <a:off x="8197673" y="2583240"/>
              <a:ext cx="1378496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58" name="Connector 31">
              <a:extLst>
                <a:ext uri="{FF2B5EF4-FFF2-40B4-BE49-F238E27FC236}">
                  <a16:creationId xmlns:a16="http://schemas.microsoft.com/office/drawing/2014/main" id="{A0BB8860-DB5D-6B8A-4B9F-F61DC687C6EA}"/>
                </a:ext>
              </a:extLst>
            </p:cNvPr>
            <p:cNvCxnSpPr>
              <a:cxnSpLocks/>
            </p:cNvCxnSpPr>
            <p:nvPr/>
          </p:nvCxnSpPr>
          <p:spPr>
            <a:xfrm rot="21335983">
              <a:off x="9571453" y="2598944"/>
              <a:ext cx="1375271" cy="10472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25400" cap="flat" cmpd="sng">
              <a:solidFill>
                <a:srgbClr val="409EFF">
                  <a:alpha val="100000"/>
                </a:srgbClr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69" name="Connector 18">
              <a:extLst>
                <a:ext uri="{FF2B5EF4-FFF2-40B4-BE49-F238E27FC236}">
                  <a16:creationId xmlns:a16="http://schemas.microsoft.com/office/drawing/2014/main" id="{934B91DC-C1FE-8200-435E-7DE9AE343F1E}"/>
                </a:ext>
              </a:extLst>
            </p:cNvPr>
            <p:cNvCxnSpPr>
              <a:cxnSpLocks/>
            </p:cNvCxnSpPr>
            <p:nvPr/>
          </p:nvCxnSpPr>
          <p:spPr>
            <a:xfrm rot="5365623">
              <a:off x="1991309" y="2893681"/>
              <a:ext cx="1047201" cy="13194"/>
            </a:xfrm>
            <a:prstGeom prst="straightConnector1">
              <a:avLst/>
            </a:prstGeom>
            <a:solidFill>
              <a:srgbClr val="DEE0E3">
                <a:alpha val="100000"/>
              </a:srgbClr>
            </a:solidFill>
            <a:ln w="12700" cap="flat" cmpd="sng">
              <a:solidFill>
                <a:srgbClr val="CCCC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0" name="AutoShape 44">
              <a:extLst>
                <a:ext uri="{FF2B5EF4-FFF2-40B4-BE49-F238E27FC236}">
                  <a16:creationId xmlns:a16="http://schemas.microsoft.com/office/drawing/2014/main" id="{5FDC92D9-EC9B-1ED5-F573-3DD481188E4B}"/>
                </a:ext>
              </a:extLst>
            </p:cNvPr>
            <p:cNvSpPr/>
            <p:nvPr/>
          </p:nvSpPr>
          <p:spPr>
            <a:xfrm>
              <a:off x="2053123" y="232429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300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1" name="AutoShape 45">
              <a:extLst>
                <a:ext uri="{FF2B5EF4-FFF2-40B4-BE49-F238E27FC236}">
                  <a16:creationId xmlns:a16="http://schemas.microsoft.com/office/drawing/2014/main" id="{4BE33622-C5C6-B3C5-3260-3B8766108C51}"/>
                </a:ext>
              </a:extLst>
            </p:cNvPr>
            <p:cNvSpPr/>
            <p:nvPr/>
          </p:nvSpPr>
          <p:spPr>
            <a:xfrm>
              <a:off x="2053123" y="2669868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200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2" name="AutoShape 46">
              <a:extLst>
                <a:ext uri="{FF2B5EF4-FFF2-40B4-BE49-F238E27FC236}">
                  <a16:creationId xmlns:a16="http://schemas.microsoft.com/office/drawing/2014/main" id="{BA4F542E-D520-A0C0-A9D4-B3A632719216}"/>
                </a:ext>
              </a:extLst>
            </p:cNvPr>
            <p:cNvSpPr/>
            <p:nvPr/>
          </p:nvSpPr>
          <p:spPr>
            <a:xfrm>
              <a:off x="2053123" y="3015444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100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3" name="AutoShape 47">
              <a:extLst>
                <a:ext uri="{FF2B5EF4-FFF2-40B4-BE49-F238E27FC236}">
                  <a16:creationId xmlns:a16="http://schemas.microsoft.com/office/drawing/2014/main" id="{4257A982-6EF7-915A-FB86-F095B838156E}"/>
                </a:ext>
              </a:extLst>
            </p:cNvPr>
            <p:cNvSpPr/>
            <p:nvPr/>
          </p:nvSpPr>
          <p:spPr>
            <a:xfrm>
              <a:off x="2053123" y="3361021"/>
              <a:ext cx="395817" cy="167552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marR="0" lvl="0" indent="0" algn="r" defTabSz="914400" rtl="0" eaLnBrk="1" fontAlgn="auto" latinLnBrk="0" hangingPunct="1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AAAAAA"/>
                  </a:solidFill>
                  <a:effectLst/>
                  <a:uLnTx/>
                  <a:uFillTx/>
                  <a:latin typeface="Noto Sans SC"/>
                  <a:ea typeface="Noto Sans SC"/>
                  <a:cs typeface="Noto Sans SC"/>
                  <a:sym typeface="Noto Sans SC"/>
                </a:rPr>
                <a:t>0</a:t>
              </a:r>
              <a:endPara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83" name="AutoShape 5">
            <a:extLst>
              <a:ext uri="{FF2B5EF4-FFF2-40B4-BE49-F238E27FC236}">
                <a16:creationId xmlns:a16="http://schemas.microsoft.com/office/drawing/2014/main" id="{8B523FD1-6F16-4C09-ED69-15D71048DF8C}"/>
              </a:ext>
            </a:extLst>
          </p:cNvPr>
          <p:cNvSpPr/>
          <p:nvPr/>
        </p:nvSpPr>
        <p:spPr>
          <a:xfrm>
            <a:off x="2233571" y="80877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4" name="AutoShape 13">
            <a:extLst>
              <a:ext uri="{FF2B5EF4-FFF2-40B4-BE49-F238E27FC236}">
                <a16:creationId xmlns:a16="http://schemas.microsoft.com/office/drawing/2014/main" id="{AB4FD927-A294-E7EC-AE7E-9A38A13FC7BB}"/>
              </a:ext>
            </a:extLst>
          </p:cNvPr>
          <p:cNvSpPr/>
          <p:nvPr/>
        </p:nvSpPr>
        <p:spPr>
          <a:xfrm>
            <a:off x="2381404" y="89414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市场总览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409E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85" name="AutoShape 11">
            <a:extLst>
              <a:ext uri="{FF2B5EF4-FFF2-40B4-BE49-F238E27FC236}">
                <a16:creationId xmlns:a16="http://schemas.microsoft.com/office/drawing/2014/main" id="{1B96EA87-5448-D9B5-C26D-02D6F061EAF1}"/>
              </a:ext>
            </a:extLst>
          </p:cNvPr>
          <p:cNvSpPr/>
          <p:nvPr/>
        </p:nvSpPr>
        <p:spPr>
          <a:xfrm>
            <a:off x="3736084" y="88497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详情分析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45F47FF4-C0A6-956C-79A1-AC697CA0A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2429016"/>
            <a:ext cx="203200" cy="203200"/>
          </a:xfrm>
          <a:prstGeom prst="rect">
            <a:avLst/>
          </a:prstGeom>
        </p:spPr>
      </p:pic>
      <p:sp>
        <p:nvSpPr>
          <p:cNvPr id="15" name="AutoShape 7">
            <a:extLst>
              <a:ext uri="{FF2B5EF4-FFF2-40B4-BE49-F238E27FC236}">
                <a16:creationId xmlns:a16="http://schemas.microsoft.com/office/drawing/2014/main" id="{5D8E23B9-28B4-0411-ACC5-F27B63760945}"/>
              </a:ext>
            </a:extLst>
          </p:cNvPr>
          <p:cNvSpPr/>
          <p:nvPr/>
        </p:nvSpPr>
        <p:spPr>
          <a:xfrm>
            <a:off x="965200" y="23782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信息披露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pic>
        <p:nvPicPr>
          <p:cNvPr id="17" name="Picture 8">
            <a:extLst>
              <a:ext uri="{FF2B5EF4-FFF2-40B4-BE49-F238E27FC236}">
                <a16:creationId xmlns:a16="http://schemas.microsoft.com/office/drawing/2014/main" id="{71DC5BC7-1AA7-E6C6-1CFE-3F23E8EB71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29" name="AutoShape 9">
            <a:extLst>
              <a:ext uri="{FF2B5EF4-FFF2-40B4-BE49-F238E27FC236}">
                <a16:creationId xmlns:a16="http://schemas.microsoft.com/office/drawing/2014/main" id="{F09366CF-537A-73C0-C97C-2A0C8DF749BE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AutoShape 5">
            <a:extLst>
              <a:ext uri="{FF2B5EF4-FFF2-40B4-BE49-F238E27FC236}">
                <a16:creationId xmlns:a16="http://schemas.microsoft.com/office/drawing/2014/main" id="{20C8802D-A9A3-6A96-0A9D-F601BCD82820}"/>
              </a:ext>
            </a:extLst>
          </p:cNvPr>
          <p:cNvSpPr/>
          <p:nvPr/>
        </p:nvSpPr>
        <p:spPr>
          <a:xfrm>
            <a:off x="508000" y="3343416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7" name="Picture 10">
            <a:extLst>
              <a:ext uri="{FF2B5EF4-FFF2-40B4-BE49-F238E27FC236}">
                <a16:creationId xmlns:a16="http://schemas.microsoft.com/office/drawing/2014/main" id="{665CD799-A410-434F-8808-64C81FB533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2962416"/>
            <a:ext cx="203200" cy="203200"/>
          </a:xfrm>
          <a:prstGeom prst="rect">
            <a:avLst/>
          </a:prstGeom>
        </p:spPr>
      </p:pic>
      <p:sp>
        <p:nvSpPr>
          <p:cNvPr id="59" name="AutoShape 11">
            <a:extLst>
              <a:ext uri="{FF2B5EF4-FFF2-40B4-BE49-F238E27FC236}">
                <a16:creationId xmlns:a16="http://schemas.microsoft.com/office/drawing/2014/main" id="{4576BFA6-5DE3-2705-B9CD-51A67BFC59DF}"/>
              </a:ext>
            </a:extLst>
          </p:cNvPr>
          <p:cNvSpPr/>
          <p:nvPr/>
        </p:nvSpPr>
        <p:spPr>
          <a:xfrm>
            <a:off x="965200" y="2911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市场交易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0" name="Picture 12">
            <a:extLst>
              <a:ext uri="{FF2B5EF4-FFF2-40B4-BE49-F238E27FC236}">
                <a16:creationId xmlns:a16="http://schemas.microsoft.com/office/drawing/2014/main" id="{2ACBFE1F-499F-842A-19C3-54F17BD576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3470416"/>
            <a:ext cx="203200" cy="203200"/>
          </a:xfrm>
          <a:prstGeom prst="rect">
            <a:avLst/>
          </a:prstGeom>
        </p:spPr>
      </p:pic>
      <p:sp>
        <p:nvSpPr>
          <p:cNvPr id="61" name="AutoShape 13">
            <a:extLst>
              <a:ext uri="{FF2B5EF4-FFF2-40B4-BE49-F238E27FC236}">
                <a16:creationId xmlns:a16="http://schemas.microsoft.com/office/drawing/2014/main" id="{C11C4238-02EC-1FA6-5CCD-739522574805}"/>
              </a:ext>
            </a:extLst>
          </p:cNvPr>
          <p:cNvSpPr/>
          <p:nvPr/>
        </p:nvSpPr>
        <p:spPr>
          <a:xfrm>
            <a:off x="965200" y="3419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结算报告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409E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66" name="AutoShape 13">
            <a:extLst>
              <a:ext uri="{FF2B5EF4-FFF2-40B4-BE49-F238E27FC236}">
                <a16:creationId xmlns:a16="http://schemas.microsoft.com/office/drawing/2014/main" id="{580187A8-26B7-2B4B-0E82-132F22F43165}"/>
              </a:ext>
            </a:extLst>
          </p:cNvPr>
          <p:cNvSpPr/>
          <p:nvPr/>
        </p:nvSpPr>
        <p:spPr>
          <a:xfrm>
            <a:off x="965200" y="1856091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成交历史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7" name="Picture 14">
            <a:extLst>
              <a:ext uri="{FF2B5EF4-FFF2-40B4-BE49-F238E27FC236}">
                <a16:creationId xmlns:a16="http://schemas.microsoft.com/office/drawing/2014/main" id="{FF65D7E3-7597-2752-A3C1-31B18E7FEBD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906891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16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7802F-A941-4D2A-8FED-5FD3EA81D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57A385B-005F-6BAE-DAC5-FFBB0C3E599D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2F1FD7F5-17EA-0523-F39B-94E5DF8E4EF8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AE1F53A7-2331-EC6F-6BFD-2587F54ACE80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6F96E81A-5A12-28F3-7BE0-E702D0FE624E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6199FA4F-FAEE-E1CA-1519-9A27D27714E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A9D3B171-24B1-4B89-CDA2-3D84A048A5E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A63BB4F7-12D2-DC72-BA67-93ADE105068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63E39C38-5D6C-4E06-8561-97CCDED052C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FFD0BE54-1C1A-F8C5-F029-0A275C79819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3A407797-F8E6-6FE0-8632-F0AFF85A5E0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11A4ACA0-A654-53AD-C562-13FDBC4E1B0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C5DC57E7-4791-518D-AEFC-965812D88A6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4D1E005A-4530-4AE6-491C-3B2ACB89F57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76386A0B-7578-9CD2-3F92-F557CB0BF86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6899DC6F-3BA3-A527-6958-0F9676AF88A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A3FB371F-AE43-BF16-78E0-5FF8AB05223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621BCB84-47BF-C30D-D778-0F57997EFDC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1BB2D869-07EA-7D42-814B-C8FB565BE83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E11B2019-DFF6-05D4-77CE-70015CAC7C5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3CF8B76B-712F-8FCF-23C7-7B35017048D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00000000-0008-0000-3A00-000002000000}"/>
              </a:ext>
            </a:extLst>
          </p:cNvPr>
          <p:cNvGraphicFramePr>
            <a:graphicFrameLocks/>
          </p:cNvGraphicFramePr>
          <p:nvPr/>
        </p:nvGraphicFramePr>
        <p:xfrm>
          <a:off x="2433833" y="1219200"/>
          <a:ext cx="7383780" cy="51987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AutoShape 5">
            <a:extLst>
              <a:ext uri="{FF2B5EF4-FFF2-40B4-BE49-F238E27FC236}">
                <a16:creationId xmlns:a16="http://schemas.microsoft.com/office/drawing/2014/main" id="{9CA01605-1853-88B4-D6AC-DDA4BF285276}"/>
              </a:ext>
            </a:extLst>
          </p:cNvPr>
          <p:cNvSpPr/>
          <p:nvPr/>
        </p:nvSpPr>
        <p:spPr>
          <a:xfrm>
            <a:off x="2233571" y="80877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AutoShape 13">
            <a:extLst>
              <a:ext uri="{FF2B5EF4-FFF2-40B4-BE49-F238E27FC236}">
                <a16:creationId xmlns:a16="http://schemas.microsoft.com/office/drawing/2014/main" id="{41C51BB2-CBDD-29CE-3F69-8D01DF55A987}"/>
              </a:ext>
            </a:extLst>
          </p:cNvPr>
          <p:cNvSpPr/>
          <p:nvPr/>
        </p:nvSpPr>
        <p:spPr>
          <a:xfrm>
            <a:off x="2381404" y="89414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市场总览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409E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29" name="AutoShape 11">
            <a:extLst>
              <a:ext uri="{FF2B5EF4-FFF2-40B4-BE49-F238E27FC236}">
                <a16:creationId xmlns:a16="http://schemas.microsoft.com/office/drawing/2014/main" id="{6CE7B01D-A9FD-891D-C4B3-3B80AC65A8F4}"/>
              </a:ext>
            </a:extLst>
          </p:cNvPr>
          <p:cNvSpPr/>
          <p:nvPr/>
        </p:nvSpPr>
        <p:spPr>
          <a:xfrm>
            <a:off x="3736084" y="88497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详情分析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91D63161-32FA-8139-3048-0B5575ED8C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" y="2429016"/>
            <a:ext cx="203200" cy="203200"/>
          </a:xfrm>
          <a:prstGeom prst="rect">
            <a:avLst/>
          </a:prstGeom>
        </p:spPr>
      </p:pic>
      <p:sp>
        <p:nvSpPr>
          <p:cNvPr id="11" name="AutoShape 7">
            <a:extLst>
              <a:ext uri="{FF2B5EF4-FFF2-40B4-BE49-F238E27FC236}">
                <a16:creationId xmlns:a16="http://schemas.microsoft.com/office/drawing/2014/main" id="{5E6F2653-0BA9-76BC-4E76-198092B803B5}"/>
              </a:ext>
            </a:extLst>
          </p:cNvPr>
          <p:cNvSpPr/>
          <p:nvPr/>
        </p:nvSpPr>
        <p:spPr>
          <a:xfrm>
            <a:off x="965200" y="23782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信息披露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D5B819B2-77FD-C6CA-FC92-BFAFA6FDB4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30" name="AutoShape 9">
            <a:extLst>
              <a:ext uri="{FF2B5EF4-FFF2-40B4-BE49-F238E27FC236}">
                <a16:creationId xmlns:a16="http://schemas.microsoft.com/office/drawing/2014/main" id="{82ECB4C2-1A15-14E4-CF02-8C9B0E4AC897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" name="AutoShape 5">
            <a:extLst>
              <a:ext uri="{FF2B5EF4-FFF2-40B4-BE49-F238E27FC236}">
                <a16:creationId xmlns:a16="http://schemas.microsoft.com/office/drawing/2014/main" id="{F0D50B64-09BA-7A4C-9512-A441D39976D9}"/>
              </a:ext>
            </a:extLst>
          </p:cNvPr>
          <p:cNvSpPr/>
          <p:nvPr/>
        </p:nvSpPr>
        <p:spPr>
          <a:xfrm>
            <a:off x="508000" y="3343416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2" name="Picture 10">
            <a:extLst>
              <a:ext uri="{FF2B5EF4-FFF2-40B4-BE49-F238E27FC236}">
                <a16:creationId xmlns:a16="http://schemas.microsoft.com/office/drawing/2014/main" id="{B4342577-EA40-1478-512D-91AC9F2C27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" y="2962416"/>
            <a:ext cx="203200" cy="203200"/>
          </a:xfrm>
          <a:prstGeom prst="rect">
            <a:avLst/>
          </a:prstGeom>
        </p:spPr>
      </p:pic>
      <p:sp>
        <p:nvSpPr>
          <p:cNvPr id="33" name="AutoShape 11">
            <a:extLst>
              <a:ext uri="{FF2B5EF4-FFF2-40B4-BE49-F238E27FC236}">
                <a16:creationId xmlns:a16="http://schemas.microsoft.com/office/drawing/2014/main" id="{32D3F4B7-4801-CE06-6A9C-36A7B4203943}"/>
              </a:ext>
            </a:extLst>
          </p:cNvPr>
          <p:cNvSpPr/>
          <p:nvPr/>
        </p:nvSpPr>
        <p:spPr>
          <a:xfrm>
            <a:off x="965200" y="2911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市场交易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6" name="Picture 12">
            <a:extLst>
              <a:ext uri="{FF2B5EF4-FFF2-40B4-BE49-F238E27FC236}">
                <a16:creationId xmlns:a16="http://schemas.microsoft.com/office/drawing/2014/main" id="{DA75DC24-29D0-1FB4-AD8E-EBA864AC55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" y="3470416"/>
            <a:ext cx="203200" cy="203200"/>
          </a:xfrm>
          <a:prstGeom prst="rect">
            <a:avLst/>
          </a:prstGeom>
        </p:spPr>
      </p:pic>
      <p:sp>
        <p:nvSpPr>
          <p:cNvPr id="47" name="AutoShape 13">
            <a:extLst>
              <a:ext uri="{FF2B5EF4-FFF2-40B4-BE49-F238E27FC236}">
                <a16:creationId xmlns:a16="http://schemas.microsoft.com/office/drawing/2014/main" id="{3847CBF6-7E47-66D0-62D0-BA2CAB999D05}"/>
              </a:ext>
            </a:extLst>
          </p:cNvPr>
          <p:cNvSpPr/>
          <p:nvPr/>
        </p:nvSpPr>
        <p:spPr>
          <a:xfrm>
            <a:off x="965200" y="3419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结算报告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409E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52" name="AutoShape 13">
            <a:extLst>
              <a:ext uri="{FF2B5EF4-FFF2-40B4-BE49-F238E27FC236}">
                <a16:creationId xmlns:a16="http://schemas.microsoft.com/office/drawing/2014/main" id="{A4F2CE57-40D0-DB8E-19E0-EA4A1357C743}"/>
              </a:ext>
            </a:extLst>
          </p:cNvPr>
          <p:cNvSpPr/>
          <p:nvPr/>
        </p:nvSpPr>
        <p:spPr>
          <a:xfrm>
            <a:off x="965200" y="1856091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成交历史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3" name="Picture 14">
            <a:extLst>
              <a:ext uri="{FF2B5EF4-FFF2-40B4-BE49-F238E27FC236}">
                <a16:creationId xmlns:a16="http://schemas.microsoft.com/office/drawing/2014/main" id="{F449F823-571A-FE9D-B709-659F1F0881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" y="1906891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77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5B7C1-94CA-A6F7-FD6A-EAFBF50AF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752ABB2-E1B6-677F-0B09-7211DBC66D48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5F9069CF-4815-6D41-7759-710AB3F6741D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7E9121EF-D056-925F-FB65-E1E4A48C66B9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3DD22F37-D518-65E7-93A1-11681AD41C0B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79863D34-B810-BB49-4150-0EADB5817EE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926C8AE6-7289-A546-14A7-F2BF21CF7864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D562D920-85DB-2F07-1C29-A99D1C61339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F4AE261F-EAFE-D1F0-DC68-27CD4E6AA27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AE5EA08F-86EA-4CC3-39CA-86B51757EE61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24358B7D-6D71-B55E-2F95-09D8EB61360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358BCBF3-1D71-D23A-0F44-A9E13F329E3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64D662C2-5921-985E-8FC7-886942DB301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59AE5BA0-71E6-3E09-5887-F02DD60CD6B2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20977F94-917C-5A90-8C71-72C47A640BC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FEF85A91-8A5D-9276-F8BE-D0768FC5998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896C41A4-B811-D096-0A70-5A513C09867A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1F7A7B17-D681-29BA-976C-CF9B14D4FDB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A7296027-E7EB-4382-F291-E97B700B6D5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2806A46F-5A3A-6C8B-DCCB-637C20850D7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90119564-1C1A-A411-6219-D3F388A24F0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A62EB561-D6DF-55D0-93CC-82F7A662FD32}"/>
              </a:ext>
            </a:extLst>
          </p:cNvPr>
          <p:cNvSpPr/>
          <p:nvPr/>
        </p:nvSpPr>
        <p:spPr>
          <a:xfrm>
            <a:off x="3899811" y="81280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7224E1BF-7889-45E2-EBD9-2D54E5CBE3D8}"/>
              </a:ext>
            </a:extLst>
          </p:cNvPr>
          <p:cNvSpPr/>
          <p:nvPr/>
        </p:nvSpPr>
        <p:spPr>
          <a:xfrm>
            <a:off x="4047644" y="8981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详情分析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409E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CE92FC2A-0F5F-F552-C6C8-D7A6F823C323}"/>
              </a:ext>
            </a:extLst>
          </p:cNvPr>
          <p:cNvSpPr/>
          <p:nvPr/>
        </p:nvSpPr>
        <p:spPr>
          <a:xfrm>
            <a:off x="2407093" y="91242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市场总览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2D8914DF-72B0-E43F-0FC5-FBEBC6BD9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655805"/>
              </p:ext>
            </p:extLst>
          </p:nvPr>
        </p:nvGraphicFramePr>
        <p:xfrm>
          <a:off x="2011167" y="1703807"/>
          <a:ext cx="10515599" cy="363038"/>
        </p:xfrm>
        <a:graphic>
          <a:graphicData uri="http://schemas.openxmlformats.org/drawingml/2006/table">
            <a:tbl>
              <a:tblPr/>
              <a:tblGrid>
                <a:gridCol w="1084943">
                  <a:extLst>
                    <a:ext uri="{9D8B030D-6E8A-4147-A177-3AD203B41FA5}">
                      <a16:colId xmlns:a16="http://schemas.microsoft.com/office/drawing/2014/main" val="889876694"/>
                    </a:ext>
                  </a:extLst>
                </a:gridCol>
                <a:gridCol w="845004">
                  <a:extLst>
                    <a:ext uri="{9D8B030D-6E8A-4147-A177-3AD203B41FA5}">
                      <a16:colId xmlns:a16="http://schemas.microsoft.com/office/drawing/2014/main" val="926768362"/>
                    </a:ext>
                  </a:extLst>
                </a:gridCol>
                <a:gridCol w="1105807">
                  <a:extLst>
                    <a:ext uri="{9D8B030D-6E8A-4147-A177-3AD203B41FA5}">
                      <a16:colId xmlns:a16="http://schemas.microsoft.com/office/drawing/2014/main" val="2153301486"/>
                    </a:ext>
                  </a:extLst>
                </a:gridCol>
                <a:gridCol w="1105807">
                  <a:extLst>
                    <a:ext uri="{9D8B030D-6E8A-4147-A177-3AD203B41FA5}">
                      <a16:colId xmlns:a16="http://schemas.microsoft.com/office/drawing/2014/main" val="3278601056"/>
                    </a:ext>
                  </a:extLst>
                </a:gridCol>
                <a:gridCol w="1105807">
                  <a:extLst>
                    <a:ext uri="{9D8B030D-6E8A-4147-A177-3AD203B41FA5}">
                      <a16:colId xmlns:a16="http://schemas.microsoft.com/office/drawing/2014/main" val="3946107428"/>
                    </a:ext>
                  </a:extLst>
                </a:gridCol>
                <a:gridCol w="1241425">
                  <a:extLst>
                    <a:ext uri="{9D8B030D-6E8A-4147-A177-3AD203B41FA5}">
                      <a16:colId xmlns:a16="http://schemas.microsoft.com/office/drawing/2014/main" val="445930221"/>
                    </a:ext>
                  </a:extLst>
                </a:gridCol>
                <a:gridCol w="1721304">
                  <a:extLst>
                    <a:ext uri="{9D8B030D-6E8A-4147-A177-3AD203B41FA5}">
                      <a16:colId xmlns:a16="http://schemas.microsoft.com/office/drawing/2014/main" val="620954174"/>
                    </a:ext>
                  </a:extLst>
                </a:gridCol>
                <a:gridCol w="1272720">
                  <a:extLst>
                    <a:ext uri="{9D8B030D-6E8A-4147-A177-3AD203B41FA5}">
                      <a16:colId xmlns:a16="http://schemas.microsoft.com/office/drawing/2014/main" val="3023003241"/>
                    </a:ext>
                  </a:extLst>
                </a:gridCol>
                <a:gridCol w="1032782">
                  <a:extLst>
                    <a:ext uri="{9D8B030D-6E8A-4147-A177-3AD203B41FA5}">
                      <a16:colId xmlns:a16="http://schemas.microsoft.com/office/drawing/2014/main" val="869092610"/>
                    </a:ext>
                  </a:extLst>
                </a:gridCol>
              </a:tblGrid>
              <a:tr h="1815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火电厂编号</a:t>
                      </a:r>
                    </a:p>
                  </a:txBody>
                  <a:tcPr marL="6259" marR="6259" marT="62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火电厂名称</a:t>
                      </a:r>
                    </a:p>
                  </a:txBody>
                  <a:tcPr marL="6259" marR="6259" marT="62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运行成本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6259" marR="6259" marT="62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开机成本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6259" marR="6259" marT="62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关机成本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6259" marR="6259" marT="62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总中标出力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MW)</a:t>
                      </a:r>
                    </a:p>
                  </a:txBody>
                  <a:tcPr marL="6259" marR="6259" marT="62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中标电量均价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元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/MWh)</a:t>
                      </a:r>
                    </a:p>
                  </a:txBody>
                  <a:tcPr marL="6259" marR="6259" marT="62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总中标收益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6259" marR="6259" marT="62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净收益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万元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6259" marR="6259" marT="625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322731"/>
                  </a:ext>
                </a:extLst>
              </a:tr>
              <a:tr h="1815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ThermalPlant_1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G13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433.7622865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106560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224.8459088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663.1399429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149.3776564</a:t>
                      </a:r>
                    </a:p>
                  </a:txBody>
                  <a:tcPr marL="6259" marR="6259" marT="6259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020743"/>
                  </a:ext>
                </a:extLst>
              </a:tr>
            </a:tbl>
          </a:graphicData>
        </a:graphic>
      </p:graphicFrame>
      <p:pic>
        <p:nvPicPr>
          <p:cNvPr id="6" name="Picture 6">
            <a:extLst>
              <a:ext uri="{FF2B5EF4-FFF2-40B4-BE49-F238E27FC236}">
                <a16:creationId xmlns:a16="http://schemas.microsoft.com/office/drawing/2014/main" id="{04155D3C-A94E-0A7C-C40C-C12607D7E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2429016"/>
            <a:ext cx="203200" cy="203200"/>
          </a:xfrm>
          <a:prstGeom prst="rect">
            <a:avLst/>
          </a:prstGeom>
        </p:spPr>
      </p:pic>
      <p:sp>
        <p:nvSpPr>
          <p:cNvPr id="15" name="AutoShape 7">
            <a:extLst>
              <a:ext uri="{FF2B5EF4-FFF2-40B4-BE49-F238E27FC236}">
                <a16:creationId xmlns:a16="http://schemas.microsoft.com/office/drawing/2014/main" id="{A2C07EFA-B0B2-96B1-00D5-E0A9C74A35A9}"/>
              </a:ext>
            </a:extLst>
          </p:cNvPr>
          <p:cNvSpPr/>
          <p:nvPr/>
        </p:nvSpPr>
        <p:spPr>
          <a:xfrm>
            <a:off x="965200" y="23782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信息披露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pic>
        <p:nvPicPr>
          <p:cNvPr id="17" name="Picture 8">
            <a:extLst>
              <a:ext uri="{FF2B5EF4-FFF2-40B4-BE49-F238E27FC236}">
                <a16:creationId xmlns:a16="http://schemas.microsoft.com/office/drawing/2014/main" id="{70DC1D66-AC84-1AF2-C765-BF8F79A154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30" name="AutoShape 9">
            <a:extLst>
              <a:ext uri="{FF2B5EF4-FFF2-40B4-BE49-F238E27FC236}">
                <a16:creationId xmlns:a16="http://schemas.microsoft.com/office/drawing/2014/main" id="{4141FD2F-B93C-FD11-424C-3B426AA3D2AF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AutoShape 5">
            <a:extLst>
              <a:ext uri="{FF2B5EF4-FFF2-40B4-BE49-F238E27FC236}">
                <a16:creationId xmlns:a16="http://schemas.microsoft.com/office/drawing/2014/main" id="{528D1091-920E-3C7C-81D6-A1DF9A4E5A95}"/>
              </a:ext>
            </a:extLst>
          </p:cNvPr>
          <p:cNvSpPr/>
          <p:nvPr/>
        </p:nvSpPr>
        <p:spPr>
          <a:xfrm>
            <a:off x="508000" y="3343416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3" name="Picture 10">
            <a:extLst>
              <a:ext uri="{FF2B5EF4-FFF2-40B4-BE49-F238E27FC236}">
                <a16:creationId xmlns:a16="http://schemas.microsoft.com/office/drawing/2014/main" id="{38E7292B-3624-47D7-6302-97E5962853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2962416"/>
            <a:ext cx="203200" cy="203200"/>
          </a:xfrm>
          <a:prstGeom prst="rect">
            <a:avLst/>
          </a:prstGeom>
        </p:spPr>
      </p:pic>
      <p:sp>
        <p:nvSpPr>
          <p:cNvPr id="36" name="AutoShape 11">
            <a:extLst>
              <a:ext uri="{FF2B5EF4-FFF2-40B4-BE49-F238E27FC236}">
                <a16:creationId xmlns:a16="http://schemas.microsoft.com/office/drawing/2014/main" id="{0E475915-E45F-39EA-A4F0-1918F2758CD8}"/>
              </a:ext>
            </a:extLst>
          </p:cNvPr>
          <p:cNvSpPr/>
          <p:nvPr/>
        </p:nvSpPr>
        <p:spPr>
          <a:xfrm>
            <a:off x="965200" y="2911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市场交易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7" name="Picture 12">
            <a:extLst>
              <a:ext uri="{FF2B5EF4-FFF2-40B4-BE49-F238E27FC236}">
                <a16:creationId xmlns:a16="http://schemas.microsoft.com/office/drawing/2014/main" id="{98F5E01A-EAE3-2A22-FAFF-42AB96957B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3470416"/>
            <a:ext cx="203200" cy="203200"/>
          </a:xfrm>
          <a:prstGeom prst="rect">
            <a:avLst/>
          </a:prstGeom>
        </p:spPr>
      </p:pic>
      <p:sp>
        <p:nvSpPr>
          <p:cNvPr id="48" name="AutoShape 13">
            <a:extLst>
              <a:ext uri="{FF2B5EF4-FFF2-40B4-BE49-F238E27FC236}">
                <a16:creationId xmlns:a16="http://schemas.microsoft.com/office/drawing/2014/main" id="{FA318A30-F8FA-83AE-874F-0DF40CB31658}"/>
              </a:ext>
            </a:extLst>
          </p:cNvPr>
          <p:cNvSpPr/>
          <p:nvPr/>
        </p:nvSpPr>
        <p:spPr>
          <a:xfrm>
            <a:off x="965200" y="3419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结算报告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409E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53" name="AutoShape 13">
            <a:extLst>
              <a:ext uri="{FF2B5EF4-FFF2-40B4-BE49-F238E27FC236}">
                <a16:creationId xmlns:a16="http://schemas.microsoft.com/office/drawing/2014/main" id="{5FD9DD51-0189-EEEA-FE2A-7A67A8849DB2}"/>
              </a:ext>
            </a:extLst>
          </p:cNvPr>
          <p:cNvSpPr/>
          <p:nvPr/>
        </p:nvSpPr>
        <p:spPr>
          <a:xfrm>
            <a:off x="965200" y="1856091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成交历史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4" name="Picture 14">
            <a:extLst>
              <a:ext uri="{FF2B5EF4-FFF2-40B4-BE49-F238E27FC236}">
                <a16:creationId xmlns:a16="http://schemas.microsoft.com/office/drawing/2014/main" id="{4A1E012E-F7ED-167D-8A72-12073208882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906891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79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FC477-3AFE-34EC-06B4-A9329F6B7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87A3BA4-158D-E3E1-61C2-EAA42507C715}"/>
              </a:ext>
            </a:extLst>
          </p:cNvPr>
          <p:cNvSpPr/>
          <p:nvPr/>
        </p:nvSpPr>
        <p:spPr>
          <a:xfrm>
            <a:off x="508000" y="2032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电力市场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平台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3" name="Connector 3">
            <a:extLst>
              <a:ext uri="{FF2B5EF4-FFF2-40B4-BE49-F238E27FC236}">
                <a16:creationId xmlns:a16="http://schemas.microsoft.com/office/drawing/2014/main" id="{D610C4A2-E5A5-BEED-3F84-29E5F8DDAB38}"/>
              </a:ext>
            </a:extLst>
          </p:cNvPr>
          <p:cNvCxnSpPr/>
          <p:nvPr/>
        </p:nvCxnSpPr>
        <p:spPr>
          <a:xfrm rot="-3906">
            <a:off x="508004" y="7048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AutoShape 4">
            <a:extLst>
              <a:ext uri="{FF2B5EF4-FFF2-40B4-BE49-F238E27FC236}">
                <a16:creationId xmlns:a16="http://schemas.microsoft.com/office/drawing/2014/main" id="{F9C14781-F420-22DB-898A-C89C2F457259}"/>
              </a:ext>
            </a:extLst>
          </p:cNvPr>
          <p:cNvSpPr/>
          <p:nvPr/>
        </p:nvSpPr>
        <p:spPr>
          <a:xfrm>
            <a:off x="508000" y="914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16" name="Connector 16">
            <a:extLst>
              <a:ext uri="{FF2B5EF4-FFF2-40B4-BE49-F238E27FC236}">
                <a16:creationId xmlns:a16="http://schemas.microsoft.com/office/drawing/2014/main" id="{3C5E85C2-EE74-D22E-6E23-3FE2D8B69423}"/>
              </a:ext>
            </a:extLst>
          </p:cNvPr>
          <p:cNvCxnSpPr>
            <a:cxnSpLocks/>
          </p:cNvCxnSpPr>
          <p:nvPr/>
        </p:nvCxnSpPr>
        <p:spPr>
          <a:xfrm>
            <a:off x="1990706" y="942109"/>
            <a:ext cx="20461" cy="796287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6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>
              <a:ext uri="{FF2B5EF4-FFF2-40B4-BE49-F238E27FC236}">
                <a16:creationId xmlns:a16="http://schemas.microsoft.com/office/drawing/2014/main" id="{7A1797CE-4DB2-E1AF-8A1E-1B75BE67559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BE4EC166-E2EB-C281-B4FB-B1E7035B34D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>
            <a:extLst>
              <a:ext uri="{FF2B5EF4-FFF2-40B4-BE49-F238E27FC236}">
                <a16:creationId xmlns:a16="http://schemas.microsoft.com/office/drawing/2014/main" id="{79C58E4C-338B-F254-632B-E5976A540DB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3831F4F7-39ED-B620-13CD-0BB2BD6B130B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C459A566-0044-9AA9-7A01-7004B8317086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6A332937-4AE1-BDE6-0DBB-7E864F9AFDD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F3323264-B3A1-5C1F-E6B4-5377DE1FE71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93C122AD-3112-FDCC-BCF5-AA41D83C9B39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44603B1D-75F7-0399-D358-DE5EF8C109E3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B93CAD3C-3DA4-6AD8-1EAE-6C20BC0A1A0C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62FFEED1-1DE2-CA68-DC48-3795D4B087C8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4715CC61-E74F-E044-31E2-2493E3D3257F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73BD0A48-F24B-73E3-E1B8-78D645CB73B5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" name="AutoShape 42">
            <a:extLst>
              <a:ext uri="{FF2B5EF4-FFF2-40B4-BE49-F238E27FC236}">
                <a16:creationId xmlns:a16="http://schemas.microsoft.com/office/drawing/2014/main" id="{C95C5F80-F9EA-E999-6CE4-140F343530F7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0D1DC8CF-31A8-2EE8-9694-A86E7AEC11BE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C7AA9BCD-4023-229B-8EC8-1E07E6F486D0}"/>
              </a:ext>
            </a:extLst>
          </p:cNvPr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0"/>
            </a:avLst>
          </a:prstGeom>
          <a:solidFill>
            <a:srgbClr val="DEE0E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AED68CF5-B3FC-3267-670E-610525C20B9B}"/>
              </a:ext>
            </a:extLst>
          </p:cNvPr>
          <p:cNvSpPr/>
          <p:nvPr/>
        </p:nvSpPr>
        <p:spPr>
          <a:xfrm>
            <a:off x="3899811" y="812800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3072EFD4-DB08-4EEF-1798-A05E72A7F071}"/>
              </a:ext>
            </a:extLst>
          </p:cNvPr>
          <p:cNvSpPr/>
          <p:nvPr/>
        </p:nvSpPr>
        <p:spPr>
          <a:xfrm>
            <a:off x="4047644" y="8981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详情分析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409E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EA617FA3-1C14-D587-D8CC-7EAB19A06A30}"/>
              </a:ext>
            </a:extLst>
          </p:cNvPr>
          <p:cNvSpPr/>
          <p:nvPr/>
        </p:nvSpPr>
        <p:spPr>
          <a:xfrm>
            <a:off x="2407093" y="91242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Arial"/>
              </a:rPr>
              <a:t>市场总览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28648DC-AAF6-5D24-8973-C83E83F3A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315434"/>
              </p:ext>
            </p:extLst>
          </p:nvPr>
        </p:nvGraphicFramePr>
        <p:xfrm>
          <a:off x="3036673" y="2279650"/>
          <a:ext cx="3721100" cy="876300"/>
        </p:xfrm>
        <a:graphic>
          <a:graphicData uri="http://schemas.openxmlformats.org/drawingml/2006/table">
            <a:tbl>
              <a:tblPr/>
              <a:tblGrid>
                <a:gridCol w="930275">
                  <a:extLst>
                    <a:ext uri="{9D8B030D-6E8A-4147-A177-3AD203B41FA5}">
                      <a16:colId xmlns:a16="http://schemas.microsoft.com/office/drawing/2014/main" val="1447535226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713488200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1463587908"/>
                    </a:ext>
                  </a:extLst>
                </a:gridCol>
                <a:gridCol w="930275">
                  <a:extLst>
                    <a:ext uri="{9D8B030D-6E8A-4147-A177-3AD203B41FA5}">
                      <a16:colId xmlns:a16="http://schemas.microsoft.com/office/drawing/2014/main" val="420613421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机组编号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日前市场中标出力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(MW)/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中标均价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/MWh)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时段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时段</a:t>
                      </a:r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729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Thermal_1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中标出力</a:t>
                      </a: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1521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Thermal_1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中标均价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MW)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555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09508"/>
                  </a:ext>
                </a:extLst>
              </a:tr>
            </a:tbl>
          </a:graphicData>
        </a:graphic>
      </p:graphicFrame>
      <p:pic>
        <p:nvPicPr>
          <p:cNvPr id="17" name="Picture 6">
            <a:extLst>
              <a:ext uri="{FF2B5EF4-FFF2-40B4-BE49-F238E27FC236}">
                <a16:creationId xmlns:a16="http://schemas.microsoft.com/office/drawing/2014/main" id="{70137787-1546-889A-7F6E-340BDBEC5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2429016"/>
            <a:ext cx="203200" cy="203200"/>
          </a:xfrm>
          <a:prstGeom prst="rect">
            <a:avLst/>
          </a:prstGeom>
        </p:spPr>
      </p:pic>
      <p:sp>
        <p:nvSpPr>
          <p:cNvPr id="29" name="AutoShape 7">
            <a:extLst>
              <a:ext uri="{FF2B5EF4-FFF2-40B4-BE49-F238E27FC236}">
                <a16:creationId xmlns:a16="http://schemas.microsoft.com/office/drawing/2014/main" id="{7AEAC4B8-6BFE-4824-2381-94561C2C4A7D}"/>
              </a:ext>
            </a:extLst>
          </p:cNvPr>
          <p:cNvSpPr/>
          <p:nvPr/>
        </p:nvSpPr>
        <p:spPr>
          <a:xfrm>
            <a:off x="965200" y="23782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信息披露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pic>
        <p:nvPicPr>
          <p:cNvPr id="30" name="Picture 8">
            <a:extLst>
              <a:ext uri="{FF2B5EF4-FFF2-40B4-BE49-F238E27FC236}">
                <a16:creationId xmlns:a16="http://schemas.microsoft.com/office/drawing/2014/main" id="{9AC1A829-D283-7441-9B60-87E75782B9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1440873"/>
            <a:ext cx="203200" cy="203200"/>
          </a:xfrm>
          <a:prstGeom prst="rect">
            <a:avLst/>
          </a:prstGeom>
        </p:spPr>
      </p:pic>
      <p:sp>
        <p:nvSpPr>
          <p:cNvPr id="31" name="AutoShape 9">
            <a:extLst>
              <a:ext uri="{FF2B5EF4-FFF2-40B4-BE49-F238E27FC236}">
                <a16:creationId xmlns:a16="http://schemas.microsoft.com/office/drawing/2014/main" id="{C89DB12B-D9C3-8697-4B1F-755D9F3E6067}"/>
              </a:ext>
            </a:extLst>
          </p:cNvPr>
          <p:cNvSpPr/>
          <p:nvPr/>
        </p:nvSpPr>
        <p:spPr>
          <a:xfrm>
            <a:off x="965200" y="1390073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企业信息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AutoShape 5">
            <a:extLst>
              <a:ext uri="{FF2B5EF4-FFF2-40B4-BE49-F238E27FC236}">
                <a16:creationId xmlns:a16="http://schemas.microsoft.com/office/drawing/2014/main" id="{0BFA5E1B-9135-73E6-0BDB-C9A54FEFBFFF}"/>
              </a:ext>
            </a:extLst>
          </p:cNvPr>
          <p:cNvSpPr/>
          <p:nvPr/>
        </p:nvSpPr>
        <p:spPr>
          <a:xfrm>
            <a:off x="508000" y="3343416"/>
            <a:ext cx="1429648" cy="457200"/>
          </a:xfrm>
          <a:prstGeom prst="roundRect">
            <a:avLst>
              <a:gd name="adj" fmla="val 11111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409E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3" name="Picture 10">
            <a:extLst>
              <a:ext uri="{FF2B5EF4-FFF2-40B4-BE49-F238E27FC236}">
                <a16:creationId xmlns:a16="http://schemas.microsoft.com/office/drawing/2014/main" id="{9D23ED49-1FBF-0888-0D19-B8E5D17507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2962416"/>
            <a:ext cx="203200" cy="203200"/>
          </a:xfrm>
          <a:prstGeom prst="rect">
            <a:avLst/>
          </a:prstGeom>
        </p:spPr>
      </p:pic>
      <p:sp>
        <p:nvSpPr>
          <p:cNvPr id="36" name="AutoShape 11">
            <a:extLst>
              <a:ext uri="{FF2B5EF4-FFF2-40B4-BE49-F238E27FC236}">
                <a16:creationId xmlns:a16="http://schemas.microsoft.com/office/drawing/2014/main" id="{0F8DF478-5E5B-B505-8E19-F606A1A5D028}"/>
              </a:ext>
            </a:extLst>
          </p:cNvPr>
          <p:cNvSpPr/>
          <p:nvPr/>
        </p:nvSpPr>
        <p:spPr>
          <a:xfrm>
            <a:off x="965200" y="2911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市场交易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7" name="Picture 12">
            <a:extLst>
              <a:ext uri="{FF2B5EF4-FFF2-40B4-BE49-F238E27FC236}">
                <a16:creationId xmlns:a16="http://schemas.microsoft.com/office/drawing/2014/main" id="{8F6D0AEF-BEEF-FD87-9E9E-31A2EE0C0E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3470416"/>
            <a:ext cx="203200" cy="203200"/>
          </a:xfrm>
          <a:prstGeom prst="rect">
            <a:avLst/>
          </a:prstGeom>
        </p:spPr>
      </p:pic>
      <p:sp>
        <p:nvSpPr>
          <p:cNvPr id="48" name="AutoShape 13">
            <a:extLst>
              <a:ext uri="{FF2B5EF4-FFF2-40B4-BE49-F238E27FC236}">
                <a16:creationId xmlns:a16="http://schemas.microsoft.com/office/drawing/2014/main" id="{4F76CF14-6BDE-6B33-D593-479BCC9349CA}"/>
              </a:ext>
            </a:extLst>
          </p:cNvPr>
          <p:cNvSpPr/>
          <p:nvPr/>
        </p:nvSpPr>
        <p:spPr>
          <a:xfrm>
            <a:off x="965200" y="3419616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409EFF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结算报告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409EFF"/>
              </a:solidFill>
              <a:effectLst/>
              <a:uLnTx/>
              <a:uFillTx/>
              <a:latin typeface="Noto Sans SC"/>
              <a:ea typeface="Noto Sans SC"/>
              <a:cs typeface="Arial"/>
              <a:sym typeface="Arial"/>
            </a:endParaRPr>
          </a:p>
        </p:txBody>
      </p:sp>
      <p:sp>
        <p:nvSpPr>
          <p:cNvPr id="53" name="AutoShape 13">
            <a:extLst>
              <a:ext uri="{FF2B5EF4-FFF2-40B4-BE49-F238E27FC236}">
                <a16:creationId xmlns:a16="http://schemas.microsoft.com/office/drawing/2014/main" id="{63A71F91-F84E-3074-4E52-CF357731FC2B}"/>
              </a:ext>
            </a:extLst>
          </p:cNvPr>
          <p:cNvSpPr/>
          <p:nvPr/>
        </p:nvSpPr>
        <p:spPr>
          <a:xfrm>
            <a:off x="965200" y="1856091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Arial"/>
                <a:sym typeface="Noto Sans SC"/>
              </a:rPr>
              <a:t>成交历史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4" name="Picture 14">
            <a:extLst>
              <a:ext uri="{FF2B5EF4-FFF2-40B4-BE49-F238E27FC236}">
                <a16:creationId xmlns:a16="http://schemas.microsoft.com/office/drawing/2014/main" id="{07BD4647-0007-EDFD-F555-96CDBA6BA4E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1906891"/>
            <a:ext cx="203200" cy="203200"/>
          </a:xfrm>
          <a:prstGeom prst="rect">
            <a:avLst/>
          </a:prstGeom>
        </p:spPr>
      </p:pic>
      <p:sp>
        <p:nvSpPr>
          <p:cNvPr id="5" name="AutoShape 5">
            <a:extLst>
              <a:ext uri="{FF2B5EF4-FFF2-40B4-BE49-F238E27FC236}">
                <a16:creationId xmlns:a16="http://schemas.microsoft.com/office/drawing/2014/main" id="{38DC6450-6751-7D1A-434B-A8CF05638FED}"/>
              </a:ext>
            </a:extLst>
          </p:cNvPr>
          <p:cNvSpPr/>
          <p:nvPr/>
        </p:nvSpPr>
        <p:spPr>
          <a:xfrm>
            <a:off x="2496000" y="1367120"/>
            <a:ext cx="720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电能量市场中标结果</a:t>
            </a:r>
          </a:p>
        </p:txBody>
      </p:sp>
    </p:spTree>
    <p:extLst>
      <p:ext uri="{BB962C8B-B14F-4D97-AF65-F5344CB8AC3E}">
        <p14:creationId xmlns:p14="http://schemas.microsoft.com/office/powerpoint/2010/main" val="1162212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6E36EF5-290A-8C6D-35A2-A9CD15E38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382"/>
            <a:ext cx="12192000" cy="323349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F9785AF-E526-587E-3D64-E8237E457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94077"/>
            <a:ext cx="12192000" cy="317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35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1468</Words>
  <Application>Microsoft Office PowerPoint</Application>
  <PresentationFormat>宽屏</PresentationFormat>
  <Paragraphs>482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Noto Sans SC</vt:lpstr>
      <vt:lpstr>等线</vt:lpstr>
      <vt:lpstr>等线 Light</vt:lpstr>
      <vt:lpstr>宋体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宇阳 何</dc:creator>
  <cp:lastModifiedBy>宇阳 何</cp:lastModifiedBy>
  <cp:revision>14</cp:revision>
  <dcterms:created xsi:type="dcterms:W3CDTF">2026-02-27T08:01:38Z</dcterms:created>
  <dcterms:modified xsi:type="dcterms:W3CDTF">2026-03-03T13:17:58Z</dcterms:modified>
</cp:coreProperties>
</file>